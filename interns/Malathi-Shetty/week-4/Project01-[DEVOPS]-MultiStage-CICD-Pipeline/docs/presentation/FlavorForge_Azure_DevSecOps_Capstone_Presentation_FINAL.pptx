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IN" sz="4400" spc="-1" strike="noStrike">
                <a:solidFill>
                  <a:srgbClr val="000000"/>
                </a:solidFill>
                <a:latin typeface="Arial"/>
              </a:rPr>
              <a:t>Click to move the slide</a:t>
            </a:r>
            <a:endParaRPr b="0" lang="en-IN" sz="4400" spc="-1" strike="noStrike">
              <a:solidFill>
                <a:srgbClr val="000000"/>
              </a:solidFill>
              <a:latin typeface="Arial"/>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518992C1-1B18-49C9-A4A8-553751E150CA}"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Img"/>
          </p:nvPr>
        </p:nvSpPr>
        <p:spPr>
          <a:xfrm>
            <a:off x="1143000" y="685800"/>
            <a:ext cx="4571280" cy="3428280"/>
          </a:xfrm>
          <a:prstGeom prst="rect">
            <a:avLst/>
          </a:prstGeom>
          <a:ln w="0">
            <a:noFill/>
          </a:ln>
        </p:spPr>
      </p:sp>
      <p:sp>
        <p:nvSpPr>
          <p:cNvPr id="67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Good morning everyone. Today I am presenting my FlavorForge Azure DevSecOps capstone project. I will explain the project as an implementation journey: what I created, why I created it, how I configured each technology, and how I verified that it worked. I will cover GitHub, Docker, Azure, Kubernetes, Azure DevOps, SonarCloud, Trivy, Argo CD and monitoring.</a:t>
            </a:r>
            <a:endParaRPr b="0" lang="en-IN" sz="2000" spc="-1" strike="noStrike">
              <a:solidFill>
                <a:srgbClr val="000000"/>
              </a:solidFill>
              <a:latin typeface="Arial"/>
            </a:endParaRPr>
          </a:p>
        </p:txBody>
      </p:sp>
      <p:sp>
        <p:nvSpPr>
          <p:cNvPr id="671" name="PlaceHolder 3"/>
          <p:cNvSpPr>
            <a:spLocks noGrp="1"/>
          </p:cNvSpPr>
          <p:nvPr>
            <p:ph type="sldNum" idx="3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ED5E7D1-F1D7-47F2-9665-B4C965C32CC9}"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1143000" y="685800"/>
            <a:ext cx="4571280" cy="3428280"/>
          </a:xfrm>
          <a:prstGeom prst="rect">
            <a:avLst/>
          </a:prstGeom>
          <a:ln w="0">
            <a:noFill/>
          </a:ln>
        </p:spPr>
      </p:sp>
      <p:sp>
        <p:nvSpPr>
          <p:cNvPr id="67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FlavorForge is a full-stack recipe management application. The frontend is React and the backend is Node.js. My objective was not just to build the application. I wanted to demonstrate how the same application can move through a cloud-native DevSecOps lifecycle. That is why the repository contains application code, Docker files, Kubernetes manifests, CI/CD pipelines, security configuration, GitOps configuration and extensive verification documentation.</a:t>
            </a:r>
            <a:endParaRPr b="0" lang="en-IN" sz="2000" spc="-1" strike="noStrike">
              <a:solidFill>
                <a:srgbClr val="000000"/>
              </a:solidFill>
              <a:latin typeface="Arial"/>
            </a:endParaRPr>
          </a:p>
        </p:txBody>
      </p:sp>
      <p:sp>
        <p:nvSpPr>
          <p:cNvPr id="674" name="PlaceHolder 3"/>
          <p:cNvSpPr>
            <a:spLocks noGrp="1"/>
          </p:cNvSpPr>
          <p:nvPr>
            <p:ph type="sldNum" idx="3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BDD9895-792F-4673-8E32-6D6B85A97901}"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1143000" y="685800"/>
            <a:ext cx="4571280" cy="3428280"/>
          </a:xfrm>
          <a:prstGeom prst="rect">
            <a:avLst/>
          </a:prstGeom>
          <a:ln w="0">
            <a:noFill/>
          </a:ln>
        </p:spPr>
      </p:sp>
      <p:sp>
        <p:nvSpPr>
          <p:cNvPr id="67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The main problem was the gap between application development and reliable deployment. My objective was to automate and standardize that path. I wanted the project to demonstrate more than a successful application: I wanted repeatability, security checks, containerization, Kubernetes deployment and GitOps. This objective drove the technology choices that I will explain in the next slides.</a:t>
            </a:r>
            <a:endParaRPr b="0" lang="en-IN" sz="2000" spc="-1" strike="noStrike">
              <a:solidFill>
                <a:srgbClr val="000000"/>
              </a:solidFill>
              <a:latin typeface="Arial"/>
            </a:endParaRPr>
          </a:p>
        </p:txBody>
      </p:sp>
      <p:sp>
        <p:nvSpPr>
          <p:cNvPr id="677" name="PlaceHolder 3"/>
          <p:cNvSpPr>
            <a:spLocks noGrp="1"/>
          </p:cNvSpPr>
          <p:nvPr>
            <p:ph type="sldNum" idx="3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C6DB74A-6653-4F3E-AADA-B336D20D41C6}"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1143000" y="685800"/>
            <a:ext cx="4571280" cy="3428280"/>
          </a:xfrm>
          <a:prstGeom prst="rect">
            <a:avLst/>
          </a:prstGeom>
          <a:ln w="0">
            <a:noFill/>
          </a:ln>
        </p:spPr>
      </p:sp>
      <p:sp>
        <p:nvSpPr>
          <p:cNvPr id="67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This is the complete architecture and the story I will follow. GitHub is the source-code and version-control layer. Azure DevOps automates build, test, security, containerization and publishing. SonarCloud checks source-code quality and Trivy scans for known vulnerabilities. Docker creates portable images and ACR stores them. AKS runs the Kubernetes workloads. Argo CD provides GitOps-based continuous delivery, and monitoring gives operational visibility. I will now walk through how I implemented each block.</a:t>
            </a:r>
            <a:endParaRPr b="0" lang="en-IN" sz="2000" spc="-1" strike="noStrike">
              <a:solidFill>
                <a:srgbClr val="000000"/>
              </a:solidFill>
              <a:latin typeface="Arial"/>
            </a:endParaRPr>
          </a:p>
        </p:txBody>
      </p:sp>
      <p:sp>
        <p:nvSpPr>
          <p:cNvPr id="680" name="PlaceHolder 3"/>
          <p:cNvSpPr>
            <a:spLocks noGrp="1"/>
          </p:cNvSpPr>
          <p:nvPr>
            <p:ph type="sldNum" idx="4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7B6BA15-8D06-4CF2-B7CA-E3E0534CE37E}"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1143000" y="685800"/>
            <a:ext cx="4571280" cy="3428280"/>
          </a:xfrm>
          <a:prstGeom prst="rect">
            <a:avLst/>
          </a:prstGeom>
          <a:ln w="0">
            <a:noFill/>
          </a:ln>
        </p:spPr>
      </p:sp>
      <p:sp>
        <p:nvSpPr>
          <p:cNvPr id="68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These are the technologies I used and how I grouped them. I am intentionally not presenting them as isolated tools. Each one has a specific role in the delivery lifecycle. I will explain the implementation in the same order that a change moves through the system.</a:t>
            </a:r>
            <a:endParaRPr b="0" lang="en-IN" sz="2000" spc="-1" strike="noStrike">
              <a:solidFill>
                <a:srgbClr val="000000"/>
              </a:solidFill>
              <a:latin typeface="Arial"/>
            </a:endParaRPr>
          </a:p>
        </p:txBody>
      </p:sp>
      <p:sp>
        <p:nvSpPr>
          <p:cNvPr id="683" name="PlaceHolder 3"/>
          <p:cNvSpPr>
            <a:spLocks noGrp="1"/>
          </p:cNvSpPr>
          <p:nvPr>
            <p:ph type="sldNum" idx="4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EEC1ED9-DA1D-4E09-A9C9-4355693A2926}"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1143000" y="685800"/>
            <a:ext cx="4571280" cy="3428280"/>
          </a:xfrm>
          <a:prstGeom prst="rect">
            <a:avLst/>
          </a:prstGeom>
          <a:ln w="0">
            <a:noFill/>
          </a:ln>
        </p:spPr>
      </p:sp>
      <p:sp>
        <p:nvSpPr>
          <p:cNvPr id="68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First I built the application itself. On the frontend I used React with reusable components, pages and a service layer for API communication. On the backend I used a layered Node.js structure with routes, controllers, services and tests. I also created a health endpoint. This is important later because Kubernetes and operational monitoring need a reliable way to check whether the backend is responding. In the live presentation I will show the frontend structure, backend structure and the health endpoint rather than walking through every source file.</a:t>
            </a:r>
            <a:endParaRPr b="0" lang="en-IN" sz="2000" spc="-1" strike="noStrike">
              <a:solidFill>
                <a:srgbClr val="000000"/>
              </a:solidFill>
              <a:latin typeface="Arial"/>
            </a:endParaRPr>
          </a:p>
        </p:txBody>
      </p:sp>
      <p:sp>
        <p:nvSpPr>
          <p:cNvPr id="686" name="PlaceHolder 3"/>
          <p:cNvSpPr>
            <a:spLocks noGrp="1"/>
          </p:cNvSpPr>
          <p:nvPr>
            <p:ph type="sldNum" idx="4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9B3AE0B-3CD5-4566-9C2B-EFC774B86E95}"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1143000" y="685800"/>
            <a:ext cx="4571280" cy="3428280"/>
          </a:xfrm>
          <a:prstGeom prst="rect">
            <a:avLst/>
          </a:prstGeom>
          <a:ln w="0">
            <a:noFill/>
          </a:ln>
        </p:spPr>
      </p:sp>
      <p:sp>
        <p:nvSpPr>
          <p:cNvPr id="68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I started by creating the GitHub repository and connecting my local project to it. Git is the version-control layer. I used commits to record changes and push to the remote repository. The important commands to remember are git status, git remote -v and git log --oneline. I also configured Azure DevOps as another remote, which is why the project can be synchronized between GitHub and Azure DevOps. I am demonstrating source-control implementation here, not just explaining what GitHub is.</a:t>
            </a:r>
            <a:endParaRPr b="0" lang="en-IN" sz="2000" spc="-1" strike="noStrike">
              <a:solidFill>
                <a:srgbClr val="000000"/>
              </a:solidFill>
              <a:latin typeface="Arial"/>
            </a:endParaRPr>
          </a:p>
        </p:txBody>
      </p:sp>
      <p:sp>
        <p:nvSpPr>
          <p:cNvPr id="689" name="PlaceHolder 3"/>
          <p:cNvSpPr>
            <a:spLocks noGrp="1"/>
          </p:cNvSpPr>
          <p:nvPr>
            <p:ph type="sldNum" idx="4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38F0BEC-5A7C-44B1-A1A9-DD7F87D13756}"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1143000" y="685800"/>
            <a:ext cx="4571280" cy="3428280"/>
          </a:xfrm>
          <a:prstGeom prst="rect">
            <a:avLst/>
          </a:prstGeom>
          <a:ln w="0">
            <a:noFill/>
          </a:ln>
        </p:spPr>
      </p:sp>
      <p:sp>
        <p:nvSpPr>
          <p:cNvPr id="69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Docker was the next step because I wanted the application to be portable and reproducible. I created separate Dockerfiles for the frontend and backend and also used Docker Compose for local integration. The implementation flow was source code to Dockerfile to image to running container. To verify it, I used docker images and docker ps and checked the running application and API. The key point is that the same image concept can later be pushed to ACR and used by Kubernetes.</a:t>
            </a:r>
            <a:endParaRPr b="0" lang="en-IN" sz="2000" spc="-1" strike="noStrike">
              <a:solidFill>
                <a:srgbClr val="000000"/>
              </a:solidFill>
              <a:latin typeface="Arial"/>
            </a:endParaRPr>
          </a:p>
        </p:txBody>
      </p:sp>
      <p:sp>
        <p:nvSpPr>
          <p:cNvPr id="692" name="PlaceHolder 3"/>
          <p:cNvSpPr>
            <a:spLocks noGrp="1"/>
          </p:cNvSpPr>
          <p:nvPr>
            <p:ph type="sldNum" idx="4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44397F9-C803-40C6-B589-42F1F6B1F17A}"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1143000" y="685800"/>
            <a:ext cx="4571280" cy="3428280"/>
          </a:xfrm>
          <a:prstGeom prst="rect">
            <a:avLst/>
          </a:prstGeom>
          <a:ln w="0">
            <a:noFill/>
          </a:ln>
        </p:spPr>
      </p:sp>
      <p:sp>
        <p:nvSpPr>
          <p:cNvPr id="69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For the Week 4 Azure environment I created the resource group flavorforge-rg. I then created the Azure Container Registry flavorforgeacr2026ms in East US using the Basic SKU. ACR is the image repository. The important distinction is that the resource group organizes Azure resources, while ACR specifically stores container images. I will show the resource group, the registry creation evidence and the images available in ACR. I am intentionally not mixing in the separate Week 3 VM lab here.</a:t>
            </a:r>
            <a:endParaRPr b="0" lang="en-IN" sz="2000" spc="-1" strike="noStrike">
              <a:solidFill>
                <a:srgbClr val="000000"/>
              </a:solidFill>
              <a:latin typeface="Arial"/>
            </a:endParaRPr>
          </a:p>
        </p:txBody>
      </p:sp>
      <p:sp>
        <p:nvSpPr>
          <p:cNvPr id="695" name="PlaceHolder 3"/>
          <p:cNvSpPr>
            <a:spLocks noGrp="1"/>
          </p:cNvSpPr>
          <p:nvPr>
            <p:ph type="sldNum" idx="4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2D926D9-80A9-45B5-B0B7-EE1E22A64E70}"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1143000" y="685800"/>
            <a:ext cx="4571280" cy="3428280"/>
          </a:xfrm>
          <a:prstGeom prst="rect">
            <a:avLst/>
          </a:prstGeom>
          <a:ln w="0">
            <a:noFill/>
          </a:ln>
        </p:spPr>
      </p:sp>
      <p:sp>
        <p:nvSpPr>
          <p:cNvPr id="69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AKS is Microsoft's managed Kubernetes service, so I did not have to manage the Kubernetes control plane myself. My cluster is flavorforge-aks in East US with two nodes using Standard_D2as_v7. Inside the cluster I created a namespace, backend and frontend Deployments, Pods, Services, Ingress configuration and HPA. I use kubectl to inspect the state. In beginner terms: Deployments describe what should run, Pods are the actual running instances, Services provide stable networking, and HPA can change replica counts based on resource usage.</a:t>
            </a:r>
            <a:endParaRPr b="0" lang="en-IN" sz="2000" spc="-1" strike="noStrike">
              <a:solidFill>
                <a:srgbClr val="000000"/>
              </a:solidFill>
              <a:latin typeface="Arial"/>
            </a:endParaRPr>
          </a:p>
        </p:txBody>
      </p:sp>
      <p:sp>
        <p:nvSpPr>
          <p:cNvPr id="698" name="PlaceHolder 3"/>
          <p:cNvSpPr>
            <a:spLocks noGrp="1"/>
          </p:cNvSpPr>
          <p:nvPr>
            <p:ph type="sldNum" idx="4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A60B864-865F-4156-A009-A1019DEF8DEF}"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1143000" y="685800"/>
            <a:ext cx="4571280" cy="3428280"/>
          </a:xfrm>
          <a:prstGeom prst="rect">
            <a:avLst/>
          </a:prstGeom>
          <a:ln w="0">
            <a:noFill/>
          </a:ln>
        </p:spPr>
      </p:sp>
      <p:sp>
        <p:nvSpPr>
          <p:cNvPr id="700"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Kustomize solves an environment-management problem. Instead of copying the entire Kubernetes configuration three times, I created a reusable base and overlays for dev, QA and prod. The overlays change environment-specific values such as replica counts while keeping the common configuration reusable. I validated the rendered configuration using kubectl kustomize. In the presentation I will show the repository structure and one render command. I will describe these as configuration overlays, not as three separate production AKS clusters.</a:t>
            </a:r>
            <a:endParaRPr b="0" lang="en-IN" sz="2000" spc="-1" strike="noStrike">
              <a:solidFill>
                <a:srgbClr val="000000"/>
              </a:solidFill>
              <a:latin typeface="Arial"/>
            </a:endParaRPr>
          </a:p>
        </p:txBody>
      </p:sp>
      <p:sp>
        <p:nvSpPr>
          <p:cNvPr id="701" name="PlaceHolder 3"/>
          <p:cNvSpPr>
            <a:spLocks noGrp="1"/>
          </p:cNvSpPr>
          <p:nvPr>
            <p:ph type="sldNum" idx="47"/>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2D76336-60E9-4C5D-875D-B6170611FD6E}"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1143000" y="685800"/>
            <a:ext cx="4571280" cy="3428280"/>
          </a:xfrm>
          <a:prstGeom prst="rect">
            <a:avLst/>
          </a:prstGeom>
          <a:ln w="0">
            <a:noFill/>
          </a:ln>
        </p:spPr>
      </p:sp>
      <p:sp>
        <p:nvSpPr>
          <p:cNvPr id="703"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Azure DevOps is the automation engine. I defined the workflow in azure-pipelines.yml. The stages have clear responsibilities: Build, Test, Security, CodeQuality, DockerBuild, TrivyScan, Push and Deploy. I also configured service connections for Azure resources. In the presentation I will show the pipeline definition and a successful pipeline run. The important implementation point is that the pipeline encodes the process so it can be repeated consistently.</a:t>
            </a:r>
            <a:endParaRPr b="0" lang="en-IN" sz="2000" spc="-1" strike="noStrike">
              <a:solidFill>
                <a:srgbClr val="000000"/>
              </a:solidFill>
              <a:latin typeface="Arial"/>
            </a:endParaRPr>
          </a:p>
        </p:txBody>
      </p:sp>
      <p:sp>
        <p:nvSpPr>
          <p:cNvPr id="704" name="PlaceHolder 3"/>
          <p:cNvSpPr>
            <a:spLocks noGrp="1"/>
          </p:cNvSpPr>
          <p:nvPr>
            <p:ph type="sldNum" idx="48"/>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A0B4F83-070A-4F69-AB5D-08EB41FD08A0}"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1143000" y="685800"/>
            <a:ext cx="4571280" cy="3428280"/>
          </a:xfrm>
          <a:prstGeom prst="rect">
            <a:avLst/>
          </a:prstGeom>
          <a:ln w="0">
            <a:noFill/>
          </a:ln>
        </p:spPr>
      </p:sp>
      <p:sp>
        <p:nvSpPr>
          <p:cNvPr id="706"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SonarCloud is the code-quality control in my pipeline. I created the FlavorForge project, configured the Azure DevOps service connection and integrated analysis. The purpose is not to replace testing. It provides a separate quality view of the source code, such as bugs, vulnerabilities, code smells and maintainability concerns. I will show the project dashboard and the service connection evidence. I should explain what I configured rather than claiming SonarCloud is simply a generic testing tool.</a:t>
            </a:r>
            <a:endParaRPr b="0" lang="en-IN" sz="2000" spc="-1" strike="noStrike">
              <a:solidFill>
                <a:srgbClr val="000000"/>
              </a:solidFill>
              <a:latin typeface="Arial"/>
            </a:endParaRPr>
          </a:p>
        </p:txBody>
      </p:sp>
      <p:sp>
        <p:nvSpPr>
          <p:cNvPr id="707" name="PlaceHolder 3"/>
          <p:cNvSpPr>
            <a:spLocks noGrp="1"/>
          </p:cNvSpPr>
          <p:nvPr>
            <p:ph type="sldNum" idx="49"/>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F50D0C9-CB5C-429E-A61D-0EB0EDACE627}"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1143000" y="685800"/>
            <a:ext cx="4571280" cy="3428280"/>
          </a:xfrm>
          <a:prstGeom prst="rect">
            <a:avLst/>
          </a:prstGeom>
          <a:ln w="0">
            <a:noFill/>
          </a:ln>
        </p:spPr>
      </p:sp>
      <p:sp>
        <p:nvSpPr>
          <p:cNvPr id="709"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Trivy adds security scanning to the delivery process. I used it to scan the filesystem and the frontend and backend container images. The project stores the resulting reports under reports/trivy. A simple way to remember the difference is: SonarCloud focuses on source-code quality, while Trivy checks the filesystem and container images against known vulnerability information. In the presentation I will show one backend report and one frontend report.</a:t>
            </a:r>
            <a:endParaRPr b="0" lang="en-IN" sz="2000" spc="-1" strike="noStrike">
              <a:solidFill>
                <a:srgbClr val="000000"/>
              </a:solidFill>
              <a:latin typeface="Arial"/>
            </a:endParaRPr>
          </a:p>
        </p:txBody>
      </p:sp>
      <p:sp>
        <p:nvSpPr>
          <p:cNvPr id="710" name="PlaceHolder 3"/>
          <p:cNvSpPr>
            <a:spLocks noGrp="1"/>
          </p:cNvSpPr>
          <p:nvPr>
            <p:ph type="sldNum" idx="50"/>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59681E7-DC90-479E-B38D-C246BA33F582}"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1143000" y="685800"/>
            <a:ext cx="4571280" cy="3428280"/>
          </a:xfrm>
          <a:prstGeom prst="rect">
            <a:avLst/>
          </a:prstGeom>
          <a:ln w="0">
            <a:noFill/>
          </a:ln>
        </p:spPr>
      </p:sp>
      <p:sp>
        <p:nvSpPr>
          <p:cNvPr id="712"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Argo CD is where I introduced GitOps. The Kubernetes configuration in Git represents the desired state. Argo CD continuously compares that desired state with the live cluster and reconciles the application. This is different from simply running kubectl manually every time. In my verification I used kubectl get applications and checked the FlavorForge Application status. One important accuracy point for the presentation: my latest Git commit is 12d34d1, while the verification output I captured earlier showed Argo CD synced to 4f53097. I should only say it is synchronized to 12d34d1 if I refresh/synchronize and verify that tomorrow.</a:t>
            </a:r>
            <a:endParaRPr b="0" lang="en-IN" sz="2000" spc="-1" strike="noStrike">
              <a:solidFill>
                <a:srgbClr val="000000"/>
              </a:solidFill>
              <a:latin typeface="Arial"/>
            </a:endParaRPr>
          </a:p>
        </p:txBody>
      </p:sp>
      <p:sp>
        <p:nvSpPr>
          <p:cNvPr id="713" name="PlaceHolder 3"/>
          <p:cNvSpPr>
            <a:spLocks noGrp="1"/>
          </p:cNvSpPr>
          <p:nvPr>
            <p:ph type="sldNum" idx="51"/>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8C626A8-3CE2-4CAE-8D4B-7E877CD7F230}"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1143000" y="685800"/>
            <a:ext cx="4571280" cy="3428280"/>
          </a:xfrm>
          <a:prstGeom prst="rect">
            <a:avLst/>
          </a:prstGeom>
          <a:ln w="0">
            <a:noFill/>
          </a:ln>
        </p:spPr>
      </p:sp>
      <p:sp>
        <p:nvSpPr>
          <p:cNvPr id="71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Monitoring closes the DevSecOps loop. After deployment I need to know whether the system remains healthy. My evidence includes application health, live backend logs, Kubernetes events and the running AKS cluster. Azure Monitor and the Kubernetes operational data provide visibility into what is happening. I will focus on the practical question: if the application fails, where would I look first? Health, Pods, Services, logs and events are the first places.</a:t>
            </a:r>
            <a:endParaRPr b="0" lang="en-IN" sz="2000" spc="-1" strike="noStrike">
              <a:solidFill>
                <a:srgbClr val="000000"/>
              </a:solidFill>
              <a:latin typeface="Arial"/>
            </a:endParaRPr>
          </a:p>
        </p:txBody>
      </p:sp>
      <p:sp>
        <p:nvSpPr>
          <p:cNvPr id="716" name="PlaceHolder 3"/>
          <p:cNvSpPr>
            <a:spLocks noGrp="1"/>
          </p:cNvSpPr>
          <p:nvPr>
            <p:ph type="sldNum" idx="52"/>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A49F8A8-AF26-4BC2-9CCF-B6A5759262EA}"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1143000" y="685800"/>
            <a:ext cx="4571280" cy="3428280"/>
          </a:xfrm>
          <a:prstGeom prst="rect">
            <a:avLst/>
          </a:prstGeom>
          <a:ln w="0">
            <a:noFill/>
          </a:ln>
        </p:spPr>
      </p:sp>
      <p:sp>
        <p:nvSpPr>
          <p:cNvPr id="718"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This slide brings the individual technologies together. A code change starts in GitHub. Azure DevOps builds and validates it, SonarCloud checks quality, Trivy checks security, Docker creates images and ACR stores them. Kubernetes on AKS runs the application. Argo CD provides the GitOps deployment model and monitoring verifies the running system. This is the core story of my project: each tool solves a specific problem, and the tools form one delivery system.</a:t>
            </a:r>
            <a:endParaRPr b="0" lang="en-IN" sz="2000" spc="-1" strike="noStrike">
              <a:solidFill>
                <a:srgbClr val="000000"/>
              </a:solidFill>
              <a:latin typeface="Arial"/>
            </a:endParaRPr>
          </a:p>
        </p:txBody>
      </p:sp>
      <p:sp>
        <p:nvSpPr>
          <p:cNvPr id="719" name="PlaceHolder 3"/>
          <p:cNvSpPr>
            <a:spLocks noGrp="1"/>
          </p:cNvSpPr>
          <p:nvPr>
            <p:ph type="sldNum" idx="53"/>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273108D-56DD-40EB-8978-CAEBFAF80A3E}"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1143000" y="685800"/>
            <a:ext cx="4571280" cy="3428280"/>
          </a:xfrm>
          <a:prstGeom prst="rect">
            <a:avLst/>
          </a:prstGeom>
          <a:ln w="0">
            <a:noFill/>
          </a:ln>
        </p:spPr>
      </p:sp>
      <p:sp>
        <p:nvSpPr>
          <p:cNvPr id="721"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The final verification is not just that a pipeline is green. I verify the actual application. The frontend should load, the backend health endpoint should respond, Kubernetes workloads should be running, services should be available and Argo CD should report the expected application state. These checks connect the engineering work to a user-visible result.</a:t>
            </a:r>
            <a:endParaRPr b="0" lang="en-IN" sz="2000" spc="-1" strike="noStrike">
              <a:solidFill>
                <a:srgbClr val="000000"/>
              </a:solidFill>
              <a:latin typeface="Arial"/>
            </a:endParaRPr>
          </a:p>
        </p:txBody>
      </p:sp>
      <p:sp>
        <p:nvSpPr>
          <p:cNvPr id="722" name="PlaceHolder 3"/>
          <p:cNvSpPr>
            <a:spLocks noGrp="1"/>
          </p:cNvSpPr>
          <p:nvPr>
            <p:ph type="sldNum" idx="54"/>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03E59D7-5164-4F53-ABED-E51D9AC6BDAA}"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280" cy="3428280"/>
          </a:xfrm>
          <a:prstGeom prst="rect">
            <a:avLst/>
          </a:prstGeom>
          <a:ln w="0">
            <a:noFill/>
          </a:ln>
        </p:spPr>
      </p:sp>
      <p:sp>
        <p:nvSpPr>
          <p:cNvPr id="724"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The project was not a straight-line exercise. I encountered and documented issues across Git, Docker, pipelines, security tools, Kubernetes, Argo CD and Azure. One important lesson was to verify the state at each layer instead of guessing. For example, image tags must match between Docker, ACR and Kubernetes. GitOps also requires checking the actual commit that Argo CD has synchronized. My troubleshooting documentation is part of the project evidence because it shows how I diagnosed and corrected problems.</a:t>
            </a:r>
            <a:endParaRPr b="0" lang="en-IN" sz="2000" spc="-1" strike="noStrike">
              <a:solidFill>
                <a:srgbClr val="000000"/>
              </a:solidFill>
              <a:latin typeface="Arial"/>
            </a:endParaRPr>
          </a:p>
        </p:txBody>
      </p:sp>
      <p:sp>
        <p:nvSpPr>
          <p:cNvPr id="725" name="PlaceHolder 3"/>
          <p:cNvSpPr>
            <a:spLocks noGrp="1"/>
          </p:cNvSpPr>
          <p:nvPr>
            <p:ph type="sldNum" idx="55"/>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089533F-F290-4367-9A89-4A363187678F}"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280" cy="3428280"/>
          </a:xfrm>
          <a:prstGeom prst="rect">
            <a:avLst/>
          </a:prstGeom>
          <a:ln w="0">
            <a:noFill/>
          </a:ln>
        </p:spPr>
      </p:sp>
      <p:sp>
        <p:nvSpPr>
          <p:cNvPr id="727"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IN" sz="2000" spc="-1" strike="noStrike">
                <a:solidFill>
                  <a:srgbClr val="000000"/>
                </a:solidFill>
                <a:latin typeface="Arial"/>
              </a:rPr>
              <a:t>To conclude, the project demonstrates a complete journey from source code to a running cloud-native application. The important outcome is not just that FlavorForge runs. I implemented source control, containerization, Azure infrastructure, Kubernetes deployment, automated CI, code-quality and security controls, GitOps delivery and operational verification. My biggest learning was understanding how these technologies work together and how to troubleshoot each layer systematically. Thank you. I am happy to explain any implementation step in more detail.</a:t>
            </a:r>
            <a:endParaRPr b="0" lang="en-IN" sz="2000" spc="-1" strike="noStrike">
              <a:solidFill>
                <a:srgbClr val="000000"/>
              </a:solidFill>
              <a:latin typeface="Arial"/>
            </a:endParaRPr>
          </a:p>
        </p:txBody>
      </p:sp>
      <p:sp>
        <p:nvSpPr>
          <p:cNvPr id="728" name="PlaceHolder 3"/>
          <p:cNvSpPr>
            <a:spLocks noGrp="1"/>
          </p:cNvSpPr>
          <p:nvPr>
            <p:ph type="sldNum" idx="56"/>
          </p:nvPr>
        </p:nvSpPr>
        <p:spPr>
          <a:xfrm>
            <a:off x="3884760" y="8685360"/>
            <a:ext cx="297108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691BC06-AA5F-4C60-A12E-51F66A452C9C}"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8092397-074E-4C62-9C4B-708C287B282A}"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3B06411-0552-4CE7-81DB-6AFBAEDC40EF}"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2750CC9B-DF02-4BD4-80BD-DF957C9B5801}" type="slidenum">
              <a:t>&lt;#&gt;</a:t>
            </a:fld>
          </a:p>
        </p:txBody>
      </p:sp>
      <p:sp>
        <p:nvSpPr>
          <p:cNvPr id="4" name="PlaceHolder 3"/>
          <p:cNvSpPr>
            <a:spLocks noGrp="1"/>
          </p:cNvSpPr>
          <p:nvPr>
            <p:ph type="dt" idx="7"/>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22" name="PlaceHolder 2"/>
          <p:cNvSpPr>
            <a:spLocks noGrp="1"/>
          </p:cNvSpPr>
          <p:nvPr>
            <p:ph type="subTitle"/>
          </p:nvPr>
        </p:nvSpPr>
        <p:spPr>
          <a:xfrm>
            <a:off x="609480" y="1604520"/>
            <a:ext cx="10971720" cy="3976920"/>
          </a:xfrm>
          <a:prstGeom prst="rect">
            <a:avLst/>
          </a:prstGeom>
          <a:noFill/>
          <a:ln w="0">
            <a:noFill/>
          </a:ln>
        </p:spPr>
        <p:txBody>
          <a:bodyPr lIns="0" rIns="0" tIns="0" bIns="0" anchor="ctr">
            <a:noAutofit/>
          </a:bodyPr>
          <a:p>
            <a:pPr indent="0" algn="ctr">
              <a:buNone/>
            </a:pPr>
            <a:endParaRPr b="0" lang="en-IN" sz="3200" spc="-1" strike="noStrike">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1DF15D4-5BDA-4D48-BD5A-69C4B1A01A39}" type="slidenum">
              <a:t>&lt;#&gt;</a:t>
            </a:fld>
          </a:p>
        </p:txBody>
      </p:sp>
      <p:sp>
        <p:nvSpPr>
          <p:cNvPr id="6" name="PlaceHolder 5"/>
          <p:cNvSpPr>
            <a:spLocks noGrp="1"/>
          </p:cNvSpPr>
          <p:nvPr>
            <p:ph type="dt" idx="10"/>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F6DA83B1-45AC-4A15-A314-0EEEB9B60DEC}" type="slidenum">
              <a:t>&lt;#&gt;</a:t>
            </a:fld>
          </a:p>
        </p:txBody>
      </p:sp>
      <p:sp>
        <p:nvSpPr>
          <p:cNvPr id="4" name="PlaceHolder 3"/>
          <p:cNvSpPr>
            <a:spLocks noGrp="1"/>
          </p:cNvSpPr>
          <p:nvPr>
            <p:ph type="dt" idx="1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74852A7F-78BE-4BEB-8FBD-A8BD2476D44F}" type="slidenum">
              <a:t>&lt;#&gt;</a:t>
            </a:fld>
          </a:p>
        </p:txBody>
      </p:sp>
      <p:sp>
        <p:nvSpPr>
          <p:cNvPr id="4" name="PlaceHolder 3"/>
          <p:cNvSpPr>
            <a:spLocks noGrp="1"/>
          </p:cNvSpPr>
          <p:nvPr>
            <p:ph type="dt" idx="16"/>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9" name="PlaceHolder 2"/>
          <p:cNvSpPr>
            <a:spLocks noGrp="1"/>
          </p:cNvSpPr>
          <p:nvPr>
            <p:ph/>
          </p:nvPr>
        </p:nvSpPr>
        <p:spPr>
          <a:xfrm>
            <a:off x="609480" y="1604520"/>
            <a:ext cx="10971720" cy="397692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23FE3A4C-4539-4C1F-B558-6F4AB7E92C6C}" type="slidenum">
              <a:t>&lt;#&gt;</a:t>
            </a:fld>
          </a:p>
        </p:txBody>
      </p:sp>
      <p:sp>
        <p:nvSpPr>
          <p:cNvPr id="6" name="PlaceHolder 5"/>
          <p:cNvSpPr>
            <a:spLocks noGrp="1"/>
          </p:cNvSpPr>
          <p:nvPr>
            <p:ph type="dt" idx="19"/>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9198BB37-4ECE-4811-99E5-689F24C252FD}" type="slidenum">
              <a:t>&lt;#&gt;</a:t>
            </a:fld>
          </a:p>
        </p:txBody>
      </p:sp>
      <p:sp>
        <p:nvSpPr>
          <p:cNvPr id="4" name="PlaceHolder 3"/>
          <p:cNvSpPr>
            <a:spLocks noGrp="1"/>
          </p:cNvSpPr>
          <p:nvPr>
            <p:ph type="dt" idx="22"/>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52" name="PlaceHolder 2"/>
          <p:cNvSpPr>
            <a:spLocks noGrp="1"/>
          </p:cNvSpPr>
          <p:nvPr>
            <p:ph/>
          </p:nvPr>
        </p:nvSpPr>
        <p:spPr>
          <a:xfrm>
            <a:off x="609480" y="1604520"/>
            <a:ext cx="5353920" cy="397692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3" name="PlaceHolder 3"/>
          <p:cNvSpPr>
            <a:spLocks noGrp="1"/>
          </p:cNvSpPr>
          <p:nvPr>
            <p:ph/>
          </p:nvPr>
        </p:nvSpPr>
        <p:spPr>
          <a:xfrm>
            <a:off x="6231600" y="1604520"/>
            <a:ext cx="5353920" cy="3976920"/>
          </a:xfrm>
          <a:prstGeom prst="rect">
            <a:avLst/>
          </a:prstGeom>
          <a:noFill/>
          <a:ln w="0">
            <a:noFill/>
          </a:ln>
        </p:spPr>
        <p:txBody>
          <a:bodyPr lIns="0" rIns="0" tIns="0" bIns="0" anchor="t">
            <a:normAutofit/>
          </a:bodyPr>
          <a:p>
            <a:pPr indent="0">
              <a:spcBef>
                <a:spcPts val="1417"/>
              </a:spcBef>
              <a:buNone/>
            </a:pPr>
            <a:endParaRPr b="0" lang="en-IN" sz="3200" spc="-1" strike="noStrike">
              <a:solidFill>
                <a:srgbClr val="000000"/>
              </a:solidFill>
              <a:latin typeface="Arial"/>
            </a:endParaRPr>
          </a:p>
        </p:txBody>
      </p:sp>
      <p:sp>
        <p:nvSpPr>
          <p:cNvPr id="5" name="PlaceHolder 4"/>
          <p:cNvSpPr>
            <a:spLocks noGrp="1"/>
          </p:cNvSpPr>
          <p:nvPr>
            <p:ph type="ftr" idx="26"/>
          </p:nvPr>
        </p:nvSpPr>
        <p:spPr/>
        <p:txBody>
          <a:bodyPr/>
          <a:p>
            <a:r>
              <a:t>Footer</a:t>
            </a:r>
          </a:p>
        </p:txBody>
      </p:sp>
      <p:sp>
        <p:nvSpPr>
          <p:cNvPr id="6" name="PlaceHolder 5"/>
          <p:cNvSpPr>
            <a:spLocks noGrp="1"/>
          </p:cNvSpPr>
          <p:nvPr>
            <p:ph type="sldNum" idx="27"/>
          </p:nvPr>
        </p:nvSpPr>
        <p:spPr/>
        <p:txBody>
          <a:bodyPr/>
          <a:p>
            <a:fld id="{C4177E5D-EF51-4FCC-AB86-3A8D9C55A37F}" type="slidenum">
              <a:t>&lt;#&gt;</a:t>
            </a:fld>
          </a:p>
        </p:txBody>
      </p:sp>
      <p:sp>
        <p:nvSpPr>
          <p:cNvPr id="7" name="PlaceHolder 6"/>
          <p:cNvSpPr>
            <a:spLocks noGrp="1"/>
          </p:cNvSpPr>
          <p:nvPr>
            <p:ph type="dt" idx="25"/>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EE28C2BA-8065-487B-8CAA-9F45E91B0732}" type="slidenum">
              <a:t>&lt;#&gt;</a:t>
            </a:fld>
          </a:p>
        </p:txBody>
      </p:sp>
      <p:sp>
        <p:nvSpPr>
          <p:cNvPr id="4" name="PlaceHolder 3"/>
          <p:cNvSpPr>
            <a:spLocks noGrp="1"/>
          </p:cNvSpPr>
          <p:nvPr>
            <p:ph type="dt" idx="28"/>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lgn="ctr">
              <a:buNone/>
            </a:pPr>
            <a:endParaRPr b="0" lang="en-IN" sz="4400" spc="-1" strike="noStrike">
              <a:solidFill>
                <a:srgbClr val="000000"/>
              </a:solidFill>
              <a:latin typeface="Arial"/>
            </a:endParaRPr>
          </a:p>
        </p:txBody>
      </p:sp>
      <p:sp>
        <p:nvSpPr>
          <p:cNvPr id="3" name="PlaceHolder 2"/>
          <p:cNvSpPr>
            <a:spLocks noGrp="1"/>
          </p:cNvSpPr>
          <p:nvPr>
            <p:ph type="ftr" idx="32"/>
          </p:nvPr>
        </p:nvSpPr>
        <p:spPr/>
        <p:txBody>
          <a:bodyPr/>
          <a:p>
            <a:r>
              <a:t>Footer</a:t>
            </a:r>
          </a:p>
        </p:txBody>
      </p:sp>
      <p:sp>
        <p:nvSpPr>
          <p:cNvPr id="4" name="PlaceHolder 3"/>
          <p:cNvSpPr>
            <a:spLocks noGrp="1"/>
          </p:cNvSpPr>
          <p:nvPr>
            <p:ph type="sldNum" idx="33"/>
          </p:nvPr>
        </p:nvSpPr>
        <p:spPr/>
        <p:txBody>
          <a:bodyPr/>
          <a:p>
            <a:fld id="{D1511D6D-1088-4568-A201-B1EB98066828}" type="slidenum">
              <a:t>&lt;#&gt;</a:t>
            </a:fld>
          </a:p>
        </p:txBody>
      </p:sp>
      <p:sp>
        <p:nvSpPr>
          <p:cNvPr id="5" name="PlaceHolder 4"/>
          <p:cNvSpPr>
            <a:spLocks noGrp="1"/>
          </p:cNvSpPr>
          <p:nvPr>
            <p:ph type="dt" idx="3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 name="PlaceHolder 2"/>
          <p:cNvSpPr>
            <a:spLocks noGrp="1"/>
          </p:cNvSpPr>
          <p:nvPr>
            <p:ph type="ftr" idx="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 name="PlaceHolder 3"/>
          <p:cNvSpPr>
            <a:spLocks noGrp="1"/>
          </p:cNvSpPr>
          <p:nvPr>
            <p:ph type="sldNum" idx="3"/>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DB26ADB-3DB6-4DE1-9B8C-21E76B4E8C8E}"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
        <p:nvSpPr>
          <p:cNvPr id="3" name="PlaceHolder 4"/>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lgn="ctr" defTabSz="457200">
              <a:lnSpc>
                <a:spcPct val="100000"/>
              </a:lnSpc>
              <a:buNone/>
              <a:tabLst>
                <a:tab algn="l" pos="0"/>
              </a:tabLst>
            </a:pPr>
            <a:r>
              <a:rPr b="0" lang="en-US" sz="4400" spc="-1" strike="noStrike">
                <a:solidFill>
                  <a:schemeClr val="dk1"/>
                </a:solidFill>
                <a:latin typeface="Calibri"/>
              </a:rPr>
              <a:t>Click to edit the title text format</a:t>
            </a:r>
            <a:endParaRPr b="0" lang="en-IN" sz="4400" spc="-1" strike="noStrike">
              <a:solidFill>
                <a:srgbClr val="000000"/>
              </a:solidFill>
              <a:latin typeface="Arial"/>
            </a:endParaRPr>
          </a:p>
        </p:txBody>
      </p:sp>
      <p:sp>
        <p:nvSpPr>
          <p:cNvPr id="4" name="PlaceHolder 5"/>
          <p:cNvSpPr>
            <a:spLocks noGrp="1"/>
          </p:cNvSpPr>
          <p:nvPr>
            <p:ph type="body"/>
          </p:nvPr>
        </p:nvSpPr>
        <p:spPr>
          <a:xfrm>
            <a:off x="609480" y="1604520"/>
            <a:ext cx="10971720" cy="3976920"/>
          </a:xfrm>
          <a:prstGeom prst="rect">
            <a:avLst/>
          </a:prstGeom>
          <a:noFill/>
          <a:ln w="0">
            <a:noFill/>
          </a:ln>
        </p:spPr>
        <p:txBody>
          <a:bodyPr lIns="0" rIns="0" tIns="0" bIns="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the outline text format</a:t>
            </a:r>
            <a:endParaRPr b="0" lang="en-IN" sz="3200" spc="-1" strike="noStrike">
              <a:solidFill>
                <a:srgbClr val="000000"/>
              </a:solidFill>
              <a:latin typeface="Arial"/>
            </a:endParaRPr>
          </a:p>
          <a:p>
            <a:pPr lvl="1" marL="864000" indent="-324000" defTabSz="457200">
              <a:lnSpc>
                <a:spcPct val="100000"/>
              </a:lnSpc>
              <a:spcBef>
                <a:spcPts val="561"/>
              </a:spcBef>
              <a:buClr>
                <a:srgbClr val="000000"/>
              </a:buClr>
              <a:buSzPct val="75000"/>
              <a:buFont typeface="Symbol"/>
              <a:buChar char=""/>
            </a:pPr>
            <a:r>
              <a:rPr b="0" lang="en-US" sz="2800" spc="-1" strike="noStrike">
                <a:solidFill>
                  <a:schemeClr val="dk1"/>
                </a:solidFill>
                <a:latin typeface="Calibri"/>
              </a:rPr>
              <a:t>Second Outline Level</a:t>
            </a:r>
            <a:endParaRPr b="0" lang="en-IN" sz="2800" spc="-1" strike="noStrike">
              <a:solidFill>
                <a:srgbClr val="000000"/>
              </a:solidFill>
              <a:latin typeface="Arial"/>
            </a:endParaRPr>
          </a:p>
          <a:p>
            <a:pPr lvl="2" marL="1296000" indent="-288000" defTabSz="457200">
              <a:lnSpc>
                <a:spcPct val="100000"/>
              </a:lnSpc>
              <a:spcBef>
                <a:spcPts val="479"/>
              </a:spcBef>
              <a:buClr>
                <a:srgbClr val="000000"/>
              </a:buClr>
              <a:buSzPct val="45000"/>
              <a:buFont typeface="Wingdings" charset="2"/>
              <a:buChar char=""/>
            </a:pPr>
            <a:r>
              <a:rPr b="0" lang="en-US" sz="2400" spc="-1" strike="noStrike">
                <a:solidFill>
                  <a:schemeClr val="dk1"/>
                </a:solidFill>
                <a:latin typeface="Calibri"/>
              </a:rPr>
              <a:t>Third Outline Level</a:t>
            </a:r>
            <a:endParaRPr b="0" lang="en-IN" sz="2400" spc="-1" strike="noStrike">
              <a:solidFill>
                <a:srgbClr val="000000"/>
              </a:solidFill>
              <a:latin typeface="Arial"/>
            </a:endParaRPr>
          </a:p>
          <a:p>
            <a:pPr lvl="3" marL="1728000" indent="-216000" defTabSz="457200">
              <a:lnSpc>
                <a:spcPct val="100000"/>
              </a:lnSpc>
              <a:spcBef>
                <a:spcPts val="400"/>
              </a:spcBef>
              <a:buClr>
                <a:srgbClr val="000000"/>
              </a:buClr>
              <a:buSzPct val="75000"/>
              <a:buFont typeface="Symbol"/>
              <a:buChar char=""/>
            </a:pPr>
            <a:r>
              <a:rPr b="0" lang="en-US" sz="2000" spc="-1" strike="noStrike">
                <a:solidFill>
                  <a:schemeClr val="dk1"/>
                </a:solidFill>
                <a:latin typeface="Calibri"/>
              </a:rPr>
              <a:t>Fourth Outline Level</a:t>
            </a:r>
            <a:endParaRPr b="0" lang="en-IN" sz="2000" spc="-1" strike="noStrike">
              <a:solidFill>
                <a:srgbClr val="000000"/>
              </a:solidFill>
              <a:latin typeface="Arial"/>
            </a:endParaRPr>
          </a:p>
          <a:p>
            <a:pPr lvl="4" marL="2160000" indent="-216000" defTabSz="457200">
              <a:lnSpc>
                <a:spcPct val="100000"/>
              </a:lnSpc>
              <a:spcBef>
                <a:spcPts val="400"/>
              </a:spcBef>
              <a:buClr>
                <a:srgbClr val="000000"/>
              </a:buClr>
              <a:buSzPct val="45000"/>
              <a:buFont typeface="Wingdings" charset="2"/>
              <a:buChar char=""/>
            </a:pPr>
            <a:r>
              <a:rPr b="0" lang="en-US" sz="2000" spc="-1" strike="noStrike">
                <a:solidFill>
                  <a:schemeClr val="dk1"/>
                </a:solidFill>
                <a:latin typeface="Calibri"/>
              </a:rPr>
              <a:t>Fifth Outline Level</a:t>
            </a:r>
            <a:endParaRPr b="0" lang="en-IN" sz="2000" spc="-1" strike="noStrike">
              <a:solidFill>
                <a:srgbClr val="000000"/>
              </a:solidFill>
              <a:latin typeface="Arial"/>
            </a:endParaRPr>
          </a:p>
          <a:p>
            <a:pPr lvl="5" marL="2592000" indent="-216000" defTabSz="457200">
              <a:lnSpc>
                <a:spcPct val="10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IN" sz="2000" spc="-1" strike="noStrike">
              <a:solidFill>
                <a:srgbClr val="000000"/>
              </a:solidFill>
              <a:latin typeface="Arial"/>
            </a:endParaRPr>
          </a:p>
          <a:p>
            <a:pPr lvl="6" marL="3024000" indent="-216000" defTabSz="457200">
              <a:lnSpc>
                <a:spcPct val="10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2880"/>
            <a:ext cx="3007440" cy="1161360"/>
          </a:xfrm>
          <a:prstGeom prst="rect">
            <a:avLst/>
          </a:prstGeom>
          <a:noFill/>
          <a:ln w="0">
            <a:noFill/>
          </a:ln>
        </p:spPr>
        <p:txBody>
          <a:bodyPr lIns="91440" rIns="91440" tIns="45720" bIns="45720" anchor="b">
            <a:noAutofit/>
          </a:bodyPr>
          <a:p>
            <a:pPr indent="0" defTabSz="457200">
              <a:lnSpc>
                <a:spcPct val="100000"/>
              </a:lnSpc>
              <a:buNone/>
              <a:tabLst>
                <a:tab algn="l" pos="0"/>
              </a:tabLst>
            </a:pPr>
            <a:r>
              <a:rPr b="1" lang="en-US" sz="2000" spc="-1" strike="noStrike">
                <a:solidFill>
                  <a:schemeClr val="dk1"/>
                </a:solidFill>
                <a:latin typeface="Calibri"/>
              </a:rPr>
              <a:t>Click to edit Master title style</a:t>
            </a:r>
            <a:endParaRPr b="0" lang="en-IN" sz="2000" spc="-1" strike="noStrike">
              <a:solidFill>
                <a:srgbClr val="000000"/>
              </a:solidFill>
              <a:latin typeface="Arial"/>
            </a:endParaRPr>
          </a:p>
        </p:txBody>
      </p:sp>
      <p:sp>
        <p:nvSpPr>
          <p:cNvPr id="6" name="PlaceHolder 2"/>
          <p:cNvSpPr>
            <a:spLocks noGrp="1"/>
          </p:cNvSpPr>
          <p:nvPr>
            <p:ph type="body"/>
          </p:nvPr>
        </p:nvSpPr>
        <p:spPr>
          <a:xfrm>
            <a:off x="3575160" y="272880"/>
            <a:ext cx="5110920" cy="585252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IN"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IN" sz="2800" spc="-1" strike="noStrike">
              <a:solidFill>
                <a:srgbClr val="000000"/>
              </a:solidFill>
              <a:latin typeface="Arial"/>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IN" sz="2400" spc="-1" strike="noStrike">
              <a:solidFill>
                <a:srgbClr val="000000"/>
              </a:solidFill>
              <a:latin typeface="Arial"/>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IN" sz="2000" spc="-1" strike="noStrike">
              <a:solidFill>
                <a:srgbClr val="000000"/>
              </a:solidFill>
              <a:latin typeface="Arial"/>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IN" sz="2000" spc="-1" strike="noStrike">
              <a:solidFill>
                <a:srgbClr val="000000"/>
              </a:solidFill>
              <a:latin typeface="Arial"/>
            </a:endParaRPr>
          </a:p>
        </p:txBody>
      </p:sp>
      <p:sp>
        <p:nvSpPr>
          <p:cNvPr id="7" name="PlaceHolder 3"/>
          <p:cNvSpPr>
            <a:spLocks noGrp="1"/>
          </p:cNvSpPr>
          <p:nvPr>
            <p:ph type="body"/>
          </p:nvPr>
        </p:nvSpPr>
        <p:spPr>
          <a:xfrm>
            <a:off x="457200" y="1434960"/>
            <a:ext cx="3007440" cy="469044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IN" sz="1400" spc="-1" strike="noStrike">
              <a:solidFill>
                <a:srgbClr val="000000"/>
              </a:solidFill>
              <a:latin typeface="Arial"/>
            </a:endParaRPr>
          </a:p>
        </p:txBody>
      </p:sp>
      <p:sp>
        <p:nvSpPr>
          <p:cNvPr id="8" name="PlaceHolder 4"/>
          <p:cNvSpPr>
            <a:spLocks noGrp="1"/>
          </p:cNvSpPr>
          <p:nvPr>
            <p:ph type="dt" idx="4"/>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9" name="PlaceHolder 5"/>
          <p:cNvSpPr>
            <a:spLocks noGrp="1"/>
          </p:cNvSpPr>
          <p:nvPr>
            <p:ph type="ftr" idx="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0" name="PlaceHolder 6"/>
          <p:cNvSpPr>
            <a:spLocks noGrp="1"/>
          </p:cNvSpPr>
          <p:nvPr>
            <p:ph type="sldNum" idx="6"/>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1280200-1354-42CA-8950-CD084363AB13}"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792440" y="4800600"/>
            <a:ext cx="5485680" cy="565920"/>
          </a:xfrm>
          <a:prstGeom prst="rect">
            <a:avLst/>
          </a:prstGeom>
          <a:noFill/>
          <a:ln w="0">
            <a:noFill/>
          </a:ln>
        </p:spPr>
        <p:txBody>
          <a:bodyPr lIns="91440" rIns="91440" tIns="45720" bIns="45720" anchor="b">
            <a:noAutofit/>
          </a:bodyPr>
          <a:p>
            <a:pPr indent="0" defTabSz="457200">
              <a:lnSpc>
                <a:spcPct val="100000"/>
              </a:lnSpc>
              <a:buNone/>
              <a:tabLst>
                <a:tab algn="l" pos="0"/>
              </a:tabLst>
            </a:pPr>
            <a:r>
              <a:rPr b="1" lang="en-US" sz="2000" spc="-1" strike="noStrike">
                <a:solidFill>
                  <a:schemeClr val="dk1"/>
                </a:solidFill>
                <a:latin typeface="Calibri"/>
              </a:rPr>
              <a:t>Click to edit Master title style</a:t>
            </a:r>
            <a:endParaRPr b="0" lang="en-IN" sz="2000" spc="-1" strike="noStrike">
              <a:solidFill>
                <a:srgbClr val="000000"/>
              </a:solidFill>
              <a:latin typeface="Arial"/>
            </a:endParaRPr>
          </a:p>
        </p:txBody>
      </p:sp>
      <p:sp>
        <p:nvSpPr>
          <p:cNvPr id="12" name="PlaceHolder 2"/>
          <p:cNvSpPr>
            <a:spLocks noGrp="1"/>
          </p:cNvSpPr>
          <p:nvPr>
            <p:ph type="body"/>
          </p:nvPr>
        </p:nvSpPr>
        <p:spPr>
          <a:xfrm>
            <a:off x="1792440" y="612720"/>
            <a:ext cx="5485680" cy="4114080"/>
          </a:xfrm>
          <a:prstGeom prst="rect">
            <a:avLst/>
          </a:prstGeom>
          <a:noFill/>
          <a:ln w="0">
            <a:noFill/>
          </a:ln>
        </p:spPr>
        <p:txBody>
          <a:bodyPr lIns="90000" rIns="90000" tIns="45000" bIns="45000" anchor="t">
            <a:noAutofit/>
          </a:bodyPr>
          <a:p>
            <a:pPr marL="432000" indent="-324000" defTabSz="457200">
              <a:lnSpc>
                <a:spcPct val="100000"/>
              </a:lnSpc>
              <a:spcBef>
                <a:spcPts val="281"/>
              </a:spcBef>
              <a:buClr>
                <a:srgbClr val="000000"/>
              </a:buClr>
              <a:buFont typeface="Arial"/>
              <a:buChar char="•"/>
              <a:tabLst>
                <a:tab algn="l" pos="0"/>
              </a:tabLst>
            </a:pPr>
            <a:r>
              <a:rPr b="0" lang="en-US" sz="3200" spc="-1" strike="noStrike">
                <a:solidFill>
                  <a:schemeClr val="dk1"/>
                </a:solidFill>
                <a:latin typeface="Calibri"/>
              </a:rPr>
              <a:t>Click to edit the outline text format</a:t>
            </a:r>
            <a:endParaRPr b="0" lang="en-IN" sz="3200" spc="-1" strike="noStrike">
              <a:solidFill>
                <a:srgbClr val="000000"/>
              </a:solidFill>
              <a:latin typeface="Arial"/>
            </a:endParaRPr>
          </a:p>
          <a:p>
            <a:pPr lvl="1" marL="457200" indent="-324000" defTabSz="457200">
              <a:lnSpc>
                <a:spcPct val="100000"/>
              </a:lnSpc>
              <a:spcBef>
                <a:spcPts val="561"/>
              </a:spcBef>
              <a:buClr>
                <a:srgbClr val="000000"/>
              </a:buClr>
              <a:buSzPct val="75000"/>
              <a:buFont typeface="Symbol"/>
              <a:buChar char=""/>
              <a:tabLst>
                <a:tab algn="l" pos="0"/>
              </a:tabLst>
            </a:pPr>
            <a:r>
              <a:rPr b="0" lang="en-US" sz="3200" spc="-1" strike="noStrike">
                <a:solidFill>
                  <a:schemeClr val="dk1"/>
                </a:solidFill>
                <a:latin typeface="Calibri"/>
              </a:rPr>
              <a:t>Second Outline Level</a:t>
            </a:r>
            <a:endParaRPr b="0" lang="en-IN" sz="3200" spc="-1" strike="noStrike">
              <a:solidFill>
                <a:srgbClr val="000000"/>
              </a:solidFill>
              <a:latin typeface="Arial"/>
            </a:endParaRPr>
          </a:p>
          <a:p>
            <a:pPr lvl="2" marL="914400" indent="-288000" defTabSz="457200">
              <a:lnSpc>
                <a:spcPct val="100000"/>
              </a:lnSpc>
              <a:spcBef>
                <a:spcPts val="479"/>
              </a:spcBef>
              <a:buClr>
                <a:srgbClr val="000000"/>
              </a:buClr>
              <a:buSzPct val="45000"/>
              <a:buFont typeface="Wingdings" charset="2"/>
              <a:buChar char=""/>
              <a:tabLst>
                <a:tab algn="l" pos="0"/>
              </a:tabLst>
            </a:pPr>
            <a:r>
              <a:rPr b="0" lang="en-US" sz="3200" spc="-1" strike="noStrike">
                <a:solidFill>
                  <a:schemeClr val="dk1"/>
                </a:solidFill>
                <a:latin typeface="Calibri"/>
              </a:rPr>
              <a:t>Third Outline Level</a:t>
            </a:r>
            <a:endParaRPr b="0" lang="en-IN" sz="3200" spc="-1" strike="noStrike">
              <a:solidFill>
                <a:srgbClr val="000000"/>
              </a:solidFill>
              <a:latin typeface="Arial"/>
            </a:endParaRPr>
          </a:p>
          <a:p>
            <a:pPr lvl="3" marL="1371600" indent="-216000" defTabSz="457200">
              <a:lnSpc>
                <a:spcPct val="100000"/>
              </a:lnSpc>
              <a:spcBef>
                <a:spcPts val="400"/>
              </a:spcBef>
              <a:buClr>
                <a:srgbClr val="000000"/>
              </a:buClr>
              <a:buSzPct val="75000"/>
              <a:buFont typeface="Symbol"/>
              <a:buChar char=""/>
              <a:tabLst>
                <a:tab algn="l" pos="0"/>
              </a:tabLst>
            </a:pPr>
            <a:r>
              <a:rPr b="0" lang="en-US" sz="3200" spc="-1" strike="noStrike">
                <a:solidFill>
                  <a:schemeClr val="dk1"/>
                </a:solidFill>
                <a:latin typeface="Calibri"/>
              </a:rPr>
              <a:t>Fourth Outline Level</a:t>
            </a:r>
            <a:endParaRPr b="0" lang="en-IN" sz="3200" spc="-1" strike="noStrike">
              <a:solidFill>
                <a:srgbClr val="000000"/>
              </a:solidFill>
              <a:latin typeface="Arial"/>
            </a:endParaRPr>
          </a:p>
          <a:p>
            <a:pPr lvl="4" marL="1828800" indent="-216000" defTabSz="457200">
              <a:lnSpc>
                <a:spcPct val="100000"/>
              </a:lnSpc>
              <a:spcBef>
                <a:spcPts val="400"/>
              </a:spcBef>
              <a:buClr>
                <a:srgbClr val="000000"/>
              </a:buClr>
              <a:buSzPct val="45000"/>
              <a:buFont typeface="Wingdings" charset="2"/>
              <a:buChar char=""/>
              <a:tabLst>
                <a:tab algn="l" pos="0"/>
              </a:tabLst>
            </a:pPr>
            <a:r>
              <a:rPr b="0" lang="en-US" sz="3200" spc="-1" strike="noStrike">
                <a:solidFill>
                  <a:schemeClr val="dk1"/>
                </a:solidFill>
                <a:latin typeface="Calibri"/>
              </a:rPr>
              <a:t>Fifth Outline Level</a:t>
            </a:r>
            <a:endParaRPr b="0" lang="en-IN" sz="3200" spc="-1" strike="noStrike">
              <a:solidFill>
                <a:srgbClr val="000000"/>
              </a:solidFill>
              <a:latin typeface="Arial"/>
            </a:endParaRPr>
          </a:p>
          <a:p>
            <a:pPr lvl="5" marL="2286000" indent="-216000" defTabSz="457200">
              <a:lnSpc>
                <a:spcPct val="100000"/>
              </a:lnSpc>
              <a:spcBef>
                <a:spcPts val="283"/>
              </a:spcBef>
              <a:buClr>
                <a:srgbClr val="000000"/>
              </a:buClr>
              <a:buSzPct val="45000"/>
              <a:buFont typeface="Wingdings" charset="2"/>
              <a:buChar char=""/>
              <a:tabLst>
                <a:tab algn="l" pos="0"/>
              </a:tabLst>
            </a:pPr>
            <a:r>
              <a:rPr b="0" lang="en-US" sz="3200" spc="-1" strike="noStrike">
                <a:solidFill>
                  <a:schemeClr val="dk1"/>
                </a:solidFill>
                <a:latin typeface="Calibri"/>
              </a:rPr>
              <a:t>Sixth Outline Level</a:t>
            </a:r>
            <a:endParaRPr b="0" lang="en-IN" sz="3200" spc="-1" strike="noStrike">
              <a:solidFill>
                <a:srgbClr val="000000"/>
              </a:solidFill>
              <a:latin typeface="Arial"/>
            </a:endParaRPr>
          </a:p>
          <a:p>
            <a:pPr lvl="6" marL="2743200" indent="-216000" defTabSz="457200">
              <a:lnSpc>
                <a:spcPct val="100000"/>
              </a:lnSpc>
              <a:spcBef>
                <a:spcPts val="283"/>
              </a:spcBef>
              <a:buClr>
                <a:srgbClr val="000000"/>
              </a:buClr>
              <a:buSzPct val="45000"/>
              <a:buFont typeface="Wingdings" charset="2"/>
              <a:buChar char=""/>
              <a:tabLst>
                <a:tab algn="l" pos="0"/>
              </a:tabLst>
            </a:pPr>
            <a:r>
              <a:rPr b="0" lang="en-US" sz="3200" spc="-1" strike="noStrike">
                <a:solidFill>
                  <a:schemeClr val="dk1"/>
                </a:solidFill>
                <a:latin typeface="Calibri"/>
              </a:rPr>
              <a:t>Seventh Outline Level</a:t>
            </a:r>
            <a:endParaRPr b="0" lang="en-IN" sz="3200" spc="-1" strike="noStrike">
              <a:solidFill>
                <a:srgbClr val="000000"/>
              </a:solidFill>
              <a:latin typeface="Arial"/>
            </a:endParaRPr>
          </a:p>
        </p:txBody>
      </p:sp>
      <p:sp>
        <p:nvSpPr>
          <p:cNvPr id="13" name="PlaceHolder 3"/>
          <p:cNvSpPr>
            <a:spLocks noGrp="1"/>
          </p:cNvSpPr>
          <p:nvPr>
            <p:ph type="body"/>
          </p:nvPr>
        </p:nvSpPr>
        <p:spPr>
          <a:xfrm>
            <a:off x="1792440" y="5367240"/>
            <a:ext cx="5485680" cy="80424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IN" sz="1400" spc="-1" strike="noStrike">
              <a:solidFill>
                <a:srgbClr val="000000"/>
              </a:solidFill>
              <a:latin typeface="Arial"/>
            </a:endParaRPr>
          </a:p>
        </p:txBody>
      </p:sp>
      <p:sp>
        <p:nvSpPr>
          <p:cNvPr id="14" name="PlaceHolder 4"/>
          <p:cNvSpPr>
            <a:spLocks noGrp="1"/>
          </p:cNvSpPr>
          <p:nvPr>
            <p:ph type="dt" idx="7"/>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5" name="PlaceHolder 5"/>
          <p:cNvSpPr>
            <a:spLocks noGrp="1"/>
          </p:cNvSpPr>
          <p:nvPr>
            <p:ph type="ftr" idx="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6" name="PlaceHolder 6"/>
          <p:cNvSpPr>
            <a:spLocks noGrp="1"/>
          </p:cNvSpPr>
          <p:nvPr>
            <p:ph type="sldNum" idx="9"/>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4C9D2DE-DBAB-4939-AA9A-FEBCBA22F946}"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2130480"/>
            <a:ext cx="7771680" cy="146916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Click to edit Master title style</a:t>
            </a:r>
            <a:endParaRPr b="0" lang="en-IN" sz="4400" spc="-1" strike="noStrike">
              <a:solidFill>
                <a:srgbClr val="000000"/>
              </a:solidFill>
              <a:latin typeface="Arial"/>
            </a:endParaRPr>
          </a:p>
        </p:txBody>
      </p:sp>
      <p:sp>
        <p:nvSpPr>
          <p:cNvPr id="18" name="PlaceHolder 2"/>
          <p:cNvSpPr>
            <a:spLocks noGrp="1"/>
          </p:cNvSpPr>
          <p:nvPr>
            <p:ph type="dt" idx="10"/>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19" name="PlaceHolder 3"/>
          <p:cNvSpPr>
            <a:spLocks noGrp="1"/>
          </p:cNvSpPr>
          <p:nvPr>
            <p:ph type="ftr" idx="1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0" name="PlaceHolder 4"/>
          <p:cNvSpPr>
            <a:spLocks noGrp="1"/>
          </p:cNvSpPr>
          <p:nvPr>
            <p:ph type="sldNum" idx="1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4DF5D99-DEEC-4726-932C-8CCD737FD5C5}"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Click to edit Master title style</a:t>
            </a:r>
            <a:endParaRPr b="0" lang="en-IN" sz="4400" spc="-1" strike="noStrike">
              <a:solidFill>
                <a:srgbClr val="000000"/>
              </a:solidFill>
              <a:latin typeface="Arial"/>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IN"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IN" sz="2800" spc="-1" strike="noStrike">
              <a:solidFill>
                <a:srgbClr val="000000"/>
              </a:solidFill>
              <a:latin typeface="Arial"/>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IN" sz="2400" spc="-1" strike="noStrike">
              <a:solidFill>
                <a:srgbClr val="000000"/>
              </a:solidFill>
              <a:latin typeface="Arial"/>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IN" sz="2000" spc="-1" strike="noStrike">
              <a:solidFill>
                <a:srgbClr val="000000"/>
              </a:solidFill>
              <a:latin typeface="Arial"/>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IN" sz="2000" spc="-1" strike="noStrike">
              <a:solidFill>
                <a:srgbClr val="000000"/>
              </a:solidFill>
              <a:latin typeface="Arial"/>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6C0C1BF-97BE-49A2-99AF-CD05954415A4}"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rIns="91440" tIns="45720" bIns="45720" anchor="ctr" vert="eaVert">
            <a:noAutofit/>
          </a:bodyPr>
          <a:p>
            <a:pPr indent="0" algn="ctr" defTabSz="457200">
              <a:lnSpc>
                <a:spcPct val="100000"/>
              </a:lnSpc>
              <a:buNone/>
              <a:tabLst>
                <a:tab algn="l" pos="0"/>
              </a:tabLst>
            </a:pPr>
            <a:r>
              <a:rPr b="0" lang="en-US" sz="4400" spc="-1" strike="noStrike">
                <a:solidFill>
                  <a:schemeClr val="dk1"/>
                </a:solidFill>
                <a:latin typeface="Calibri"/>
              </a:rPr>
              <a:t>Click to edit Master title style</a:t>
            </a:r>
            <a:endParaRPr b="0" lang="en-IN" sz="4400" spc="-1" strike="noStrike">
              <a:solidFill>
                <a:srgbClr val="000000"/>
              </a:solidFill>
              <a:latin typeface="Arial"/>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IN"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IN" sz="2800" spc="-1" strike="noStrike">
              <a:solidFill>
                <a:srgbClr val="000000"/>
              </a:solidFill>
              <a:latin typeface="Arial"/>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IN" sz="2400" spc="-1" strike="noStrike">
              <a:solidFill>
                <a:srgbClr val="000000"/>
              </a:solidFill>
              <a:latin typeface="Arial"/>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IN" sz="2000" spc="-1" strike="noStrike">
              <a:solidFill>
                <a:srgbClr val="000000"/>
              </a:solidFill>
              <a:latin typeface="Arial"/>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IN" sz="2000" spc="-1" strike="noStrike">
              <a:solidFill>
                <a:srgbClr val="000000"/>
              </a:solidFill>
              <a:latin typeface="Arial"/>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839898C-81BD-4826-9A2F-A8FFFA721446}"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Click to edit Master title style</a:t>
            </a:r>
            <a:endParaRPr b="0" lang="en-IN" sz="4400" spc="-1" strike="noStrike">
              <a:solidFill>
                <a:srgbClr val="000000"/>
              </a:solidFill>
              <a:latin typeface="Arial"/>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IN"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IN" sz="2800" spc="-1" strike="noStrike">
              <a:solidFill>
                <a:srgbClr val="000000"/>
              </a:solidFill>
              <a:latin typeface="Arial"/>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IN" sz="2400" spc="-1" strike="noStrike">
              <a:solidFill>
                <a:srgbClr val="000000"/>
              </a:solidFill>
              <a:latin typeface="Arial"/>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IN" sz="2000" spc="-1" strike="noStrike">
              <a:solidFill>
                <a:srgbClr val="000000"/>
              </a:solidFill>
              <a:latin typeface="Arial"/>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IN" sz="2000" spc="-1" strike="noStrike">
              <a:solidFill>
                <a:srgbClr val="000000"/>
              </a:solidFill>
              <a:latin typeface="Arial"/>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F95679F-B934-4230-895C-067BEC1B933F}"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22160" y="4406760"/>
            <a:ext cx="7771680" cy="1361520"/>
          </a:xfrm>
          <a:prstGeom prst="rect">
            <a:avLst/>
          </a:prstGeom>
          <a:noFill/>
          <a:ln w="0">
            <a:noFill/>
          </a:ln>
        </p:spPr>
        <p:txBody>
          <a:bodyPr lIns="91440" rIns="91440" tIns="45720" bIns="45720" anchor="t">
            <a:noAutofit/>
          </a:bodyPr>
          <a:p>
            <a:pPr indent="0" defTabSz="457200">
              <a:lnSpc>
                <a:spcPct val="100000"/>
              </a:lnSpc>
              <a:buNone/>
              <a:tabLst>
                <a:tab algn="l" pos="0"/>
              </a:tabLst>
            </a:pPr>
            <a:r>
              <a:rPr b="1" lang="en-US" sz="4000" spc="-1" strike="noStrike" cap="all">
                <a:solidFill>
                  <a:schemeClr val="dk1"/>
                </a:solidFill>
                <a:latin typeface="Calibri"/>
              </a:rPr>
              <a:t>Click to edit Master title style</a:t>
            </a:r>
            <a:endParaRPr b="0" lang="en-IN" sz="4000" spc="-1" strike="noStrike">
              <a:solidFill>
                <a:srgbClr val="000000"/>
              </a:solidFill>
              <a:latin typeface="Arial"/>
            </a:endParaRPr>
          </a:p>
        </p:txBody>
      </p:sp>
      <p:sp>
        <p:nvSpPr>
          <p:cNvPr id="41" name="PlaceHolder 2"/>
          <p:cNvSpPr>
            <a:spLocks noGrp="1"/>
          </p:cNvSpPr>
          <p:nvPr>
            <p:ph type="body"/>
          </p:nvPr>
        </p:nvSpPr>
        <p:spPr>
          <a:xfrm>
            <a:off x="722160" y="2906640"/>
            <a:ext cx="7771680" cy="149940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IN" sz="2000" spc="-1" strike="noStrike">
              <a:solidFill>
                <a:srgbClr val="000000"/>
              </a:solidFill>
              <a:latin typeface="Arial"/>
            </a:endParaRPr>
          </a:p>
        </p:txBody>
      </p:sp>
      <p:sp>
        <p:nvSpPr>
          <p:cNvPr id="42" name="PlaceHolder 3"/>
          <p:cNvSpPr>
            <a:spLocks noGrp="1"/>
          </p:cNvSpPr>
          <p:nvPr>
            <p:ph type="dt" idx="22"/>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3" name="PlaceHolder 4"/>
          <p:cNvSpPr>
            <a:spLocks noGrp="1"/>
          </p:cNvSpPr>
          <p:nvPr>
            <p:ph type="ftr" idx="2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4" name="PlaceHolder 5"/>
          <p:cNvSpPr>
            <a:spLocks noGrp="1"/>
          </p:cNvSpPr>
          <p:nvPr>
            <p:ph type="sldNum" idx="24"/>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7361620-51DA-4633-A784-8DD2C0467BF5}"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Click to edit Master title style</a:t>
            </a:r>
            <a:endParaRPr b="0" lang="en-IN" sz="4400" spc="-1" strike="noStrike">
              <a:solidFill>
                <a:srgbClr val="000000"/>
              </a:solidFill>
              <a:latin typeface="Arial"/>
            </a:endParaRPr>
          </a:p>
        </p:txBody>
      </p:sp>
      <p:sp>
        <p:nvSpPr>
          <p:cNvPr id="46" name="PlaceHolder 2"/>
          <p:cNvSpPr>
            <a:spLocks noGrp="1"/>
          </p:cNvSpPr>
          <p:nvPr>
            <p:ph type="body"/>
          </p:nvPr>
        </p:nvSpPr>
        <p:spPr>
          <a:xfrm>
            <a:off x="457200" y="1600200"/>
            <a:ext cx="4037760" cy="452520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IN" sz="28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IN" sz="2400" spc="-1" strike="noStrike">
              <a:solidFill>
                <a:srgbClr val="000000"/>
              </a:solidFill>
              <a:latin typeface="Arial"/>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IN" sz="2000" spc="-1" strike="noStrike">
              <a:solidFill>
                <a:srgbClr val="000000"/>
              </a:solidFill>
              <a:latin typeface="Arial"/>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IN" sz="1800" spc="-1" strike="noStrike">
              <a:solidFill>
                <a:srgbClr val="000000"/>
              </a:solidFill>
              <a:latin typeface="Arial"/>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IN" sz="1800" spc="-1" strike="noStrike">
              <a:solidFill>
                <a:srgbClr val="000000"/>
              </a:solidFill>
              <a:latin typeface="Arial"/>
            </a:endParaRPr>
          </a:p>
        </p:txBody>
      </p:sp>
      <p:sp>
        <p:nvSpPr>
          <p:cNvPr id="47" name="PlaceHolder 3"/>
          <p:cNvSpPr>
            <a:spLocks noGrp="1"/>
          </p:cNvSpPr>
          <p:nvPr>
            <p:ph type="body"/>
          </p:nvPr>
        </p:nvSpPr>
        <p:spPr>
          <a:xfrm>
            <a:off x="4648320" y="1600200"/>
            <a:ext cx="4037760" cy="452520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IN" sz="28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IN" sz="2400" spc="-1" strike="noStrike">
              <a:solidFill>
                <a:srgbClr val="000000"/>
              </a:solidFill>
              <a:latin typeface="Arial"/>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IN" sz="2000" spc="-1" strike="noStrike">
              <a:solidFill>
                <a:srgbClr val="000000"/>
              </a:solidFill>
              <a:latin typeface="Arial"/>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IN" sz="1800" spc="-1" strike="noStrike">
              <a:solidFill>
                <a:srgbClr val="000000"/>
              </a:solidFill>
              <a:latin typeface="Arial"/>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IN" sz="1800" spc="-1" strike="noStrike">
              <a:solidFill>
                <a:srgbClr val="000000"/>
              </a:solidFill>
              <a:latin typeface="Arial"/>
            </a:endParaRPr>
          </a:p>
        </p:txBody>
      </p:sp>
      <p:sp>
        <p:nvSpPr>
          <p:cNvPr id="48" name="PlaceHolder 4"/>
          <p:cNvSpPr>
            <a:spLocks noGrp="1"/>
          </p:cNvSpPr>
          <p:nvPr>
            <p:ph type="dt" idx="25"/>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49" name="PlaceHolder 5"/>
          <p:cNvSpPr>
            <a:spLocks noGrp="1"/>
          </p:cNvSpPr>
          <p:nvPr>
            <p:ph type="ftr" idx="2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0" name="PlaceHolder 6"/>
          <p:cNvSpPr>
            <a:spLocks noGrp="1"/>
          </p:cNvSpPr>
          <p:nvPr>
            <p:ph type="sldNum" idx="27"/>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DF13C2A-52DF-4342-BB11-DA41A4723398}"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Click to edit Master title style</a:t>
            </a:r>
            <a:endParaRPr b="0" lang="en-IN" sz="4400" spc="-1" strike="noStrike">
              <a:solidFill>
                <a:srgbClr val="000000"/>
              </a:solidFill>
              <a:latin typeface="Arial"/>
            </a:endParaRPr>
          </a:p>
        </p:txBody>
      </p:sp>
      <p:sp>
        <p:nvSpPr>
          <p:cNvPr id="55" name="PlaceHolder 2"/>
          <p:cNvSpPr>
            <a:spLocks noGrp="1"/>
          </p:cNvSpPr>
          <p:nvPr>
            <p:ph type="body"/>
          </p:nvPr>
        </p:nvSpPr>
        <p:spPr>
          <a:xfrm>
            <a:off x="457200" y="1535040"/>
            <a:ext cx="4039560" cy="63900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IN" sz="2400" spc="-1" strike="noStrike">
              <a:solidFill>
                <a:srgbClr val="000000"/>
              </a:solidFill>
              <a:latin typeface="Arial"/>
            </a:endParaRPr>
          </a:p>
        </p:txBody>
      </p:sp>
      <p:sp>
        <p:nvSpPr>
          <p:cNvPr id="56" name="PlaceHolder 3"/>
          <p:cNvSpPr>
            <a:spLocks noGrp="1"/>
          </p:cNvSpPr>
          <p:nvPr>
            <p:ph type="body"/>
          </p:nvPr>
        </p:nvSpPr>
        <p:spPr>
          <a:xfrm>
            <a:off x="457200" y="2174760"/>
            <a:ext cx="4039560" cy="395064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Click to edit Master text styles</a:t>
            </a:r>
            <a:endParaRPr b="0" lang="en-IN" sz="24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tabLst>
                <a:tab algn="l" pos="0"/>
              </a:tabLst>
            </a:pPr>
            <a:r>
              <a:rPr b="0" lang="en-US" sz="2000" spc="-1" strike="noStrike">
                <a:solidFill>
                  <a:schemeClr val="dk1"/>
                </a:solidFill>
                <a:latin typeface="Calibri"/>
              </a:rPr>
              <a:t>Second level</a:t>
            </a:r>
            <a:endParaRPr b="0" lang="en-IN" sz="2000" spc="-1" strike="noStrike">
              <a:solidFill>
                <a:srgbClr val="000000"/>
              </a:solidFill>
              <a:latin typeface="Arial"/>
            </a:endParaRPr>
          </a:p>
          <a:p>
            <a:pPr lvl="2" marL="1143000" indent="-228600" defTabSz="457200">
              <a:lnSpc>
                <a:spcPct val="100000"/>
              </a:lnSpc>
              <a:spcBef>
                <a:spcPts val="360"/>
              </a:spcBef>
              <a:buClr>
                <a:srgbClr val="000000"/>
              </a:buClr>
              <a:buFont typeface="Arial"/>
              <a:buChar char="•"/>
              <a:tabLst>
                <a:tab algn="l" pos="0"/>
              </a:tabLst>
            </a:pPr>
            <a:r>
              <a:rPr b="0" lang="en-US" sz="1800" spc="-1" strike="noStrike">
                <a:solidFill>
                  <a:schemeClr val="dk1"/>
                </a:solidFill>
                <a:latin typeface="Calibri"/>
              </a:rPr>
              <a:t>Third level</a:t>
            </a:r>
            <a:endParaRPr b="0" lang="en-IN" sz="1800" spc="-1" strike="noStrike">
              <a:solidFill>
                <a:srgbClr val="000000"/>
              </a:solidFill>
              <a:latin typeface="Arial"/>
            </a:endParaRPr>
          </a:p>
          <a:p>
            <a:pPr lvl="3" marL="1600200" indent="-228600" defTabSz="457200">
              <a:lnSpc>
                <a:spcPct val="100000"/>
              </a:lnSpc>
              <a:spcBef>
                <a:spcPts val="320"/>
              </a:spcBef>
              <a:buClr>
                <a:srgbClr val="000000"/>
              </a:buClr>
              <a:buFont typeface="Arial"/>
              <a:buChar char="–"/>
              <a:tabLst>
                <a:tab algn="l" pos="0"/>
              </a:tabLst>
            </a:pPr>
            <a:r>
              <a:rPr b="0" lang="en-US" sz="1600" spc="-1" strike="noStrike">
                <a:solidFill>
                  <a:schemeClr val="dk1"/>
                </a:solidFill>
                <a:latin typeface="Calibri"/>
              </a:rPr>
              <a:t>Fourth level</a:t>
            </a:r>
            <a:endParaRPr b="0" lang="en-IN" sz="1600" spc="-1" strike="noStrike">
              <a:solidFill>
                <a:srgbClr val="000000"/>
              </a:solidFill>
              <a:latin typeface="Arial"/>
            </a:endParaRPr>
          </a:p>
          <a:p>
            <a:pPr lvl="4" marL="2057400" indent="-228600" defTabSz="457200">
              <a:lnSpc>
                <a:spcPct val="100000"/>
              </a:lnSpc>
              <a:spcBef>
                <a:spcPts val="320"/>
              </a:spcBef>
              <a:buClr>
                <a:srgbClr val="000000"/>
              </a:buClr>
              <a:buFont typeface="Arial"/>
              <a:buChar char="»"/>
              <a:tabLst>
                <a:tab algn="l" pos="0"/>
              </a:tabLst>
            </a:pPr>
            <a:r>
              <a:rPr b="0" lang="en-US" sz="1600" spc="-1" strike="noStrike">
                <a:solidFill>
                  <a:schemeClr val="dk1"/>
                </a:solidFill>
                <a:latin typeface="Calibri"/>
              </a:rPr>
              <a:t>Fifth level</a:t>
            </a:r>
            <a:endParaRPr b="0" lang="en-IN" sz="1600" spc="-1" strike="noStrike">
              <a:solidFill>
                <a:srgbClr val="000000"/>
              </a:solidFill>
              <a:latin typeface="Arial"/>
            </a:endParaRPr>
          </a:p>
        </p:txBody>
      </p:sp>
      <p:sp>
        <p:nvSpPr>
          <p:cNvPr id="57" name="PlaceHolder 4"/>
          <p:cNvSpPr>
            <a:spLocks noGrp="1"/>
          </p:cNvSpPr>
          <p:nvPr>
            <p:ph type="body"/>
          </p:nvPr>
        </p:nvSpPr>
        <p:spPr>
          <a:xfrm>
            <a:off x="4645080" y="1535040"/>
            <a:ext cx="4041000" cy="63900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IN" sz="2400" spc="-1" strike="noStrike">
              <a:solidFill>
                <a:srgbClr val="000000"/>
              </a:solidFill>
              <a:latin typeface="Arial"/>
            </a:endParaRPr>
          </a:p>
        </p:txBody>
      </p:sp>
      <p:sp>
        <p:nvSpPr>
          <p:cNvPr id="58" name="PlaceHolder 5"/>
          <p:cNvSpPr>
            <a:spLocks noGrp="1"/>
          </p:cNvSpPr>
          <p:nvPr>
            <p:ph type="body"/>
          </p:nvPr>
        </p:nvSpPr>
        <p:spPr>
          <a:xfrm>
            <a:off x="4645080" y="2174760"/>
            <a:ext cx="4041000" cy="395064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Click to edit Master text styles</a:t>
            </a:r>
            <a:endParaRPr b="0" lang="en-IN" sz="24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tabLst>
                <a:tab algn="l" pos="0"/>
              </a:tabLst>
            </a:pPr>
            <a:r>
              <a:rPr b="0" lang="en-US" sz="2000" spc="-1" strike="noStrike">
                <a:solidFill>
                  <a:schemeClr val="dk1"/>
                </a:solidFill>
                <a:latin typeface="Calibri"/>
              </a:rPr>
              <a:t>Second level</a:t>
            </a:r>
            <a:endParaRPr b="0" lang="en-IN" sz="2000" spc="-1" strike="noStrike">
              <a:solidFill>
                <a:srgbClr val="000000"/>
              </a:solidFill>
              <a:latin typeface="Arial"/>
            </a:endParaRPr>
          </a:p>
          <a:p>
            <a:pPr lvl="2" marL="1143000" indent="-228600" defTabSz="457200">
              <a:lnSpc>
                <a:spcPct val="100000"/>
              </a:lnSpc>
              <a:spcBef>
                <a:spcPts val="360"/>
              </a:spcBef>
              <a:buClr>
                <a:srgbClr val="000000"/>
              </a:buClr>
              <a:buFont typeface="Arial"/>
              <a:buChar char="•"/>
              <a:tabLst>
                <a:tab algn="l" pos="0"/>
              </a:tabLst>
            </a:pPr>
            <a:r>
              <a:rPr b="0" lang="en-US" sz="1800" spc="-1" strike="noStrike">
                <a:solidFill>
                  <a:schemeClr val="dk1"/>
                </a:solidFill>
                <a:latin typeface="Calibri"/>
              </a:rPr>
              <a:t>Third level</a:t>
            </a:r>
            <a:endParaRPr b="0" lang="en-IN" sz="1800" spc="-1" strike="noStrike">
              <a:solidFill>
                <a:srgbClr val="000000"/>
              </a:solidFill>
              <a:latin typeface="Arial"/>
            </a:endParaRPr>
          </a:p>
          <a:p>
            <a:pPr lvl="3" marL="1600200" indent="-228600" defTabSz="457200">
              <a:lnSpc>
                <a:spcPct val="100000"/>
              </a:lnSpc>
              <a:spcBef>
                <a:spcPts val="320"/>
              </a:spcBef>
              <a:buClr>
                <a:srgbClr val="000000"/>
              </a:buClr>
              <a:buFont typeface="Arial"/>
              <a:buChar char="–"/>
              <a:tabLst>
                <a:tab algn="l" pos="0"/>
              </a:tabLst>
            </a:pPr>
            <a:r>
              <a:rPr b="0" lang="en-US" sz="1600" spc="-1" strike="noStrike">
                <a:solidFill>
                  <a:schemeClr val="dk1"/>
                </a:solidFill>
                <a:latin typeface="Calibri"/>
              </a:rPr>
              <a:t>Fourth level</a:t>
            </a:r>
            <a:endParaRPr b="0" lang="en-IN" sz="1600" spc="-1" strike="noStrike">
              <a:solidFill>
                <a:srgbClr val="000000"/>
              </a:solidFill>
              <a:latin typeface="Arial"/>
            </a:endParaRPr>
          </a:p>
          <a:p>
            <a:pPr lvl="4" marL="2057400" indent="-228600" defTabSz="457200">
              <a:lnSpc>
                <a:spcPct val="100000"/>
              </a:lnSpc>
              <a:spcBef>
                <a:spcPts val="320"/>
              </a:spcBef>
              <a:buClr>
                <a:srgbClr val="000000"/>
              </a:buClr>
              <a:buFont typeface="Arial"/>
              <a:buChar char="»"/>
              <a:tabLst>
                <a:tab algn="l" pos="0"/>
              </a:tabLst>
            </a:pPr>
            <a:r>
              <a:rPr b="0" lang="en-US" sz="1600" spc="-1" strike="noStrike">
                <a:solidFill>
                  <a:schemeClr val="dk1"/>
                </a:solidFill>
                <a:latin typeface="Calibri"/>
              </a:rPr>
              <a:t>Fifth level</a:t>
            </a:r>
            <a:endParaRPr b="0" lang="en-IN" sz="1600" spc="-1" strike="noStrike">
              <a:solidFill>
                <a:srgbClr val="000000"/>
              </a:solidFill>
              <a:latin typeface="Arial"/>
            </a:endParaRPr>
          </a:p>
        </p:txBody>
      </p:sp>
      <p:sp>
        <p:nvSpPr>
          <p:cNvPr id="59" name="PlaceHolder 6"/>
          <p:cNvSpPr>
            <a:spLocks noGrp="1"/>
          </p:cNvSpPr>
          <p:nvPr>
            <p:ph type="dt" idx="28"/>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60" name="PlaceHolder 7"/>
          <p:cNvSpPr>
            <a:spLocks noGrp="1"/>
          </p:cNvSpPr>
          <p:nvPr>
            <p:ph type="ftr" idx="2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1" name="PlaceHolder 8"/>
          <p:cNvSpPr>
            <a:spLocks noGrp="1"/>
          </p:cNvSpPr>
          <p:nvPr>
            <p:ph type="sldNum" idx="30"/>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FA12096-4797-4B72-810C-B5C56EFE1856}"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8880" cy="11422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Click to edit Master title style</a:t>
            </a:r>
            <a:endParaRPr b="0" lang="en-IN" sz="4400" spc="-1" strike="noStrike">
              <a:solidFill>
                <a:srgbClr val="000000"/>
              </a:solidFill>
              <a:latin typeface="Arial"/>
            </a:endParaRPr>
          </a:p>
        </p:txBody>
      </p:sp>
      <p:sp>
        <p:nvSpPr>
          <p:cNvPr id="63" name="PlaceHolder 2"/>
          <p:cNvSpPr>
            <a:spLocks noGrp="1"/>
          </p:cNvSpPr>
          <p:nvPr>
            <p:ph type="dt" idx="31"/>
          </p:nvPr>
        </p:nvSpPr>
        <p:spPr>
          <a:xfrm>
            <a:off x="457200" y="6356520"/>
            <a:ext cx="213300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200" spc="-1" strike="noStrike">
                <a:solidFill>
                  <a:schemeClr val="dk1">
                    <a:tint val="75000"/>
                  </a:schemeClr>
                </a:solidFill>
                <a:latin typeface="Calibri"/>
              </a:defRPr>
            </a:lvl1pPr>
          </a:lstStyle>
          <a:p>
            <a:pPr indent="0" defTabSz="457200">
              <a:lnSpc>
                <a:spcPct val="100000"/>
              </a:lnSpc>
              <a:buNone/>
              <a:tabLst>
                <a:tab algn="l" pos="0"/>
              </a:tabLst>
            </a:pPr>
            <a:r>
              <a:rPr b="0" lang="en-US" sz="1200" spc="-1" strike="noStrike">
                <a:solidFill>
                  <a:schemeClr val="dk1">
                    <a:tint val="75000"/>
                  </a:schemeClr>
                </a:solidFill>
                <a:latin typeface="Calibri"/>
              </a:rPr>
              <a:t>&lt;date/time&gt;</a:t>
            </a:r>
            <a:endParaRPr b="0" lang="en-IN" sz="1200" spc="-1" strike="noStrike">
              <a:solidFill>
                <a:srgbClr val="000000"/>
              </a:solidFill>
              <a:latin typeface="Times New Roman"/>
            </a:endParaRPr>
          </a:p>
        </p:txBody>
      </p:sp>
      <p:sp>
        <p:nvSpPr>
          <p:cNvPr id="64" name="PlaceHolder 3"/>
          <p:cNvSpPr>
            <a:spLocks noGrp="1"/>
          </p:cNvSpPr>
          <p:nvPr>
            <p:ph type="ftr" idx="3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65" name="PlaceHolder 4"/>
          <p:cNvSpPr>
            <a:spLocks noGrp="1"/>
          </p:cNvSpPr>
          <p:nvPr>
            <p:ph type="sldNum" idx="33"/>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DB34E4C-00BE-4C12-94FA-E7472678EADE}" type="slidenum">
              <a:rPr b="0" lang="en-US" sz="1200" spc="-1" strike="noStrike">
                <a:solidFill>
                  <a:schemeClr val="dk1">
                    <a:tint val="75000"/>
                  </a:schemeClr>
                </a:solidFill>
                <a:latin typeface="Calibri"/>
              </a:rPr>
              <a:t>&lt;number&gt;</a:t>
            </a:fld>
            <a:endParaRPr b="0" lang="en-IN"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1.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12191040" cy="6857280"/>
          </a:xfrm>
          <a:prstGeom prst="rect">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74" name="Rectangle 2"/>
          <p:cNvSpPr/>
          <p:nvPr/>
        </p:nvSpPr>
        <p:spPr>
          <a:xfrm>
            <a:off x="0" y="6382440"/>
            <a:ext cx="4068360" cy="47484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75" name="Rectangle 3"/>
          <p:cNvSpPr/>
          <p:nvPr/>
        </p:nvSpPr>
        <p:spPr>
          <a:xfrm>
            <a:off x="4069080" y="6382440"/>
            <a:ext cx="4068360" cy="47484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76" name="Rectangle 4"/>
          <p:cNvSpPr/>
          <p:nvPr/>
        </p:nvSpPr>
        <p:spPr>
          <a:xfrm>
            <a:off x="8138160" y="6382440"/>
            <a:ext cx="4068360" cy="47484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77" name="TextBox 5"/>
          <p:cNvSpPr/>
          <p:nvPr/>
        </p:nvSpPr>
        <p:spPr>
          <a:xfrm>
            <a:off x="3337920" y="1143000"/>
            <a:ext cx="5484600" cy="1278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4800" spc="-1" strike="noStrike">
                <a:solidFill>
                  <a:srgbClr val="ffffff"/>
                </a:solidFill>
                <a:latin typeface="Aptos Display"/>
              </a:rPr>
              <a:t>FlavorForge</a:t>
            </a:r>
            <a:endParaRPr b="0" lang="en-IN" sz="4800" spc="-1" strike="noStrike">
              <a:solidFill>
                <a:srgbClr val="000000"/>
              </a:solidFill>
              <a:latin typeface="Arial"/>
            </a:endParaRPr>
          </a:p>
          <a:p>
            <a:pPr defTabSz="457200">
              <a:lnSpc>
                <a:spcPct val="100000"/>
              </a:lnSpc>
            </a:pPr>
            <a:r>
              <a:rPr b="0" lang="en-US" sz="3000" spc="-1" strike="noStrike">
                <a:solidFill>
                  <a:srgbClr val="bedcff"/>
                </a:solidFill>
                <a:latin typeface="Aptos Display"/>
              </a:rPr>
              <a:t>Azure DevSecOps Capstone</a:t>
            </a:r>
            <a:endParaRPr b="0" lang="en-IN" sz="3000" spc="-1" strike="noStrike">
              <a:solidFill>
                <a:srgbClr val="000000"/>
              </a:solidFill>
              <a:latin typeface="Arial"/>
            </a:endParaRPr>
          </a:p>
        </p:txBody>
      </p:sp>
      <p:sp>
        <p:nvSpPr>
          <p:cNvPr id="78" name="TextBox 6"/>
          <p:cNvSpPr/>
          <p:nvPr/>
        </p:nvSpPr>
        <p:spPr>
          <a:xfrm>
            <a:off x="2788560" y="2880000"/>
            <a:ext cx="6958440" cy="7297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100" spc="-1" strike="noStrike">
                <a:solidFill>
                  <a:srgbClr val="ffffff"/>
                </a:solidFill>
                <a:latin typeface="Aptos"/>
              </a:rPr>
              <a:t>From source code → containers → Azure → </a:t>
            </a:r>
            <a:endParaRPr b="0" lang="en-IN" sz="2100" spc="-1" strike="noStrike">
              <a:solidFill>
                <a:srgbClr val="000000"/>
              </a:solidFill>
              <a:latin typeface="Arial"/>
            </a:endParaRPr>
          </a:p>
          <a:p>
            <a:pPr defTabSz="457200">
              <a:lnSpc>
                <a:spcPct val="100000"/>
              </a:lnSpc>
            </a:pPr>
            <a:r>
              <a:rPr b="0" lang="en-US" sz="2100" spc="-1" strike="noStrike">
                <a:solidFill>
                  <a:srgbClr val="ffffff"/>
                </a:solidFill>
                <a:latin typeface="Aptos"/>
              </a:rPr>
              <a:t>Kubernetes → secure CI/CD → GitOps → monitoring</a:t>
            </a:r>
            <a:endParaRPr b="0" lang="en-IN" sz="2100" spc="-1" strike="noStrike">
              <a:solidFill>
                <a:srgbClr val="000000"/>
              </a:solidFill>
              <a:latin typeface="Arial"/>
            </a:endParaRPr>
          </a:p>
        </p:txBody>
      </p:sp>
      <p:sp>
        <p:nvSpPr>
          <p:cNvPr id="79" name="TextBox 7"/>
          <p:cNvSpPr/>
          <p:nvPr/>
        </p:nvSpPr>
        <p:spPr>
          <a:xfrm>
            <a:off x="1333800" y="4983480"/>
            <a:ext cx="5012280" cy="3182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500" spc="-1" strike="noStrike">
                <a:solidFill>
                  <a:srgbClr val="d2e1f5"/>
                </a:solidFill>
                <a:latin typeface="Aptos"/>
              </a:rPr>
              <a:t>Beginner-friendly implementation walkthrough</a:t>
            </a:r>
            <a:endParaRPr b="0" lang="en-IN"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81"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82" name="TextBox 3"/>
          <p:cNvSpPr/>
          <p:nvPr/>
        </p:nvSpPr>
        <p:spPr>
          <a:xfrm>
            <a:off x="1482480" y="255960"/>
            <a:ext cx="892116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 Project Introduction — What is FlavorForge?</a:t>
            </a:r>
            <a:endParaRPr b="0" lang="en-IN" sz="2700" spc="-1" strike="noStrike">
              <a:solidFill>
                <a:srgbClr val="000000"/>
              </a:solidFill>
              <a:latin typeface="Arial"/>
            </a:endParaRPr>
          </a:p>
        </p:txBody>
      </p:sp>
      <p:sp>
        <p:nvSpPr>
          <p:cNvPr id="83" name="TextBox 4"/>
          <p:cNvSpPr/>
          <p:nvPr/>
        </p:nvSpPr>
        <p:spPr>
          <a:xfrm>
            <a:off x="10548360" y="311040"/>
            <a:ext cx="11685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INTRODUCTION</a:t>
            </a:r>
            <a:endParaRPr b="0" lang="en-IN" sz="900" spc="-1" strike="noStrike">
              <a:solidFill>
                <a:srgbClr val="000000"/>
              </a:solidFill>
              <a:latin typeface="Arial"/>
            </a:endParaRPr>
          </a:p>
        </p:txBody>
      </p:sp>
      <p:sp>
        <p:nvSpPr>
          <p:cNvPr id="84"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2</a:t>
            </a:r>
            <a:endParaRPr b="0" lang="en-IN" sz="800" spc="-1" strike="noStrike">
              <a:solidFill>
                <a:srgbClr val="000000"/>
              </a:solidFill>
              <a:latin typeface="Arial"/>
            </a:endParaRPr>
          </a:p>
        </p:txBody>
      </p:sp>
      <p:sp>
        <p:nvSpPr>
          <p:cNvPr id="85" name="Rounded Rectangle 6"/>
          <p:cNvSpPr/>
          <p:nvPr/>
        </p:nvSpPr>
        <p:spPr>
          <a:xfrm>
            <a:off x="594360" y="1051560"/>
            <a:ext cx="3428280" cy="14166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86" name="Rectangle 7"/>
          <p:cNvSpPr/>
          <p:nvPr/>
        </p:nvSpPr>
        <p:spPr>
          <a:xfrm>
            <a:off x="594360" y="1051560"/>
            <a:ext cx="72360" cy="141660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87" name="TextBox 8"/>
          <p:cNvSpPr/>
          <p:nvPr/>
        </p:nvSpPr>
        <p:spPr>
          <a:xfrm>
            <a:off x="1741680" y="1197720"/>
            <a:ext cx="11700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Frontend</a:t>
            </a:r>
            <a:endParaRPr b="0" lang="en-IN" sz="1600" spc="-1" strike="noStrike">
              <a:solidFill>
                <a:srgbClr val="000000"/>
              </a:solidFill>
              <a:latin typeface="Arial"/>
            </a:endParaRPr>
          </a:p>
        </p:txBody>
      </p:sp>
      <p:sp>
        <p:nvSpPr>
          <p:cNvPr id="88" name="TextBox 9"/>
          <p:cNvSpPr/>
          <p:nvPr/>
        </p:nvSpPr>
        <p:spPr>
          <a:xfrm>
            <a:off x="795600" y="1618560"/>
            <a:ext cx="304416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2a3340"/>
                </a:solidFill>
                <a:latin typeface="Aptos"/>
              </a:rPr>
              <a:t>React + Vite</a:t>
            </a:r>
            <a:br>
              <a:rPr sz="1200"/>
            </a:br>
            <a:r>
              <a:rPr b="0" lang="en-US" sz="1200" spc="-1" strike="noStrike">
                <a:solidFill>
                  <a:srgbClr val="2a3340"/>
                </a:solidFill>
                <a:latin typeface="Aptos"/>
              </a:rPr>
              <a:t>Reusable components, pages, services</a:t>
            </a:r>
            <a:endParaRPr b="0" lang="en-IN" sz="1200" spc="-1" strike="noStrike">
              <a:solidFill>
                <a:srgbClr val="000000"/>
              </a:solidFill>
              <a:latin typeface="Arial"/>
            </a:endParaRPr>
          </a:p>
        </p:txBody>
      </p:sp>
      <p:sp>
        <p:nvSpPr>
          <p:cNvPr id="89" name="Rounded Rectangle 10"/>
          <p:cNvSpPr/>
          <p:nvPr/>
        </p:nvSpPr>
        <p:spPr>
          <a:xfrm>
            <a:off x="4389120" y="1051560"/>
            <a:ext cx="3428280" cy="14166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90" name="Rectangle 11"/>
          <p:cNvSpPr/>
          <p:nvPr/>
        </p:nvSpPr>
        <p:spPr>
          <a:xfrm>
            <a:off x="4389120" y="1051560"/>
            <a:ext cx="72360" cy="141660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91" name="TextBox 12"/>
          <p:cNvSpPr/>
          <p:nvPr/>
        </p:nvSpPr>
        <p:spPr>
          <a:xfrm>
            <a:off x="5551560" y="1197720"/>
            <a:ext cx="11397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Backend</a:t>
            </a:r>
            <a:endParaRPr b="0" lang="en-IN" sz="1600" spc="-1" strike="noStrike">
              <a:solidFill>
                <a:srgbClr val="000000"/>
              </a:solidFill>
              <a:latin typeface="Arial"/>
            </a:endParaRPr>
          </a:p>
        </p:txBody>
      </p:sp>
      <p:sp>
        <p:nvSpPr>
          <p:cNvPr id="92" name="TextBox 13"/>
          <p:cNvSpPr/>
          <p:nvPr/>
        </p:nvSpPr>
        <p:spPr>
          <a:xfrm>
            <a:off x="4590360" y="1618560"/>
            <a:ext cx="304416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2a3340"/>
                </a:solidFill>
                <a:latin typeface="Aptos"/>
              </a:rPr>
              <a:t>Node.js REST API</a:t>
            </a:r>
            <a:br>
              <a:rPr sz="1200"/>
            </a:br>
            <a:r>
              <a:rPr b="0" lang="en-US" sz="1200" spc="-1" strike="noStrike">
                <a:solidFill>
                  <a:srgbClr val="2a3340"/>
                </a:solidFill>
                <a:latin typeface="Aptos"/>
              </a:rPr>
              <a:t>Routes, controllers, services, tests</a:t>
            </a:r>
            <a:endParaRPr b="0" lang="en-IN" sz="1200" spc="-1" strike="noStrike">
              <a:solidFill>
                <a:srgbClr val="000000"/>
              </a:solidFill>
              <a:latin typeface="Arial"/>
            </a:endParaRPr>
          </a:p>
        </p:txBody>
      </p:sp>
      <p:sp>
        <p:nvSpPr>
          <p:cNvPr id="93" name="Rounded Rectangle 14"/>
          <p:cNvSpPr/>
          <p:nvPr/>
        </p:nvSpPr>
        <p:spPr>
          <a:xfrm>
            <a:off x="8183880" y="1051560"/>
            <a:ext cx="3428280" cy="14166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94" name="Rectangle 15"/>
          <p:cNvSpPr/>
          <p:nvPr/>
        </p:nvSpPr>
        <p:spPr>
          <a:xfrm>
            <a:off x="8183880" y="1051560"/>
            <a:ext cx="72360" cy="141660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95" name="TextBox 16"/>
          <p:cNvSpPr/>
          <p:nvPr/>
        </p:nvSpPr>
        <p:spPr>
          <a:xfrm>
            <a:off x="8633880" y="1197720"/>
            <a:ext cx="25646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Cloud-Native Delivery</a:t>
            </a:r>
            <a:endParaRPr b="0" lang="en-IN" sz="1600" spc="-1" strike="noStrike">
              <a:solidFill>
                <a:srgbClr val="000000"/>
              </a:solidFill>
              <a:latin typeface="Arial"/>
            </a:endParaRPr>
          </a:p>
        </p:txBody>
      </p:sp>
      <p:sp>
        <p:nvSpPr>
          <p:cNvPr id="96" name="TextBox 17"/>
          <p:cNvSpPr/>
          <p:nvPr/>
        </p:nvSpPr>
        <p:spPr>
          <a:xfrm>
            <a:off x="8385120" y="1618560"/>
            <a:ext cx="304416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2a3340"/>
                </a:solidFill>
                <a:latin typeface="Aptos"/>
              </a:rPr>
              <a:t>Docker → ACR → AKS</a:t>
            </a:r>
            <a:br>
              <a:rPr sz="1200"/>
            </a:br>
            <a:r>
              <a:rPr b="0" lang="en-US" sz="1200" spc="-1" strike="noStrike">
                <a:solidFill>
                  <a:srgbClr val="2a3340"/>
                </a:solidFill>
                <a:latin typeface="Aptos"/>
              </a:rPr>
              <a:t>Kubernetes + GitOps</a:t>
            </a:r>
            <a:endParaRPr b="0" lang="en-IN" sz="1200" spc="-1" strike="noStrike">
              <a:solidFill>
                <a:srgbClr val="000000"/>
              </a:solidFill>
              <a:latin typeface="Arial"/>
            </a:endParaRPr>
          </a:p>
        </p:txBody>
      </p:sp>
      <p:sp>
        <p:nvSpPr>
          <p:cNvPr id="97" name="TextBox 18"/>
          <p:cNvSpPr/>
          <p:nvPr/>
        </p:nvSpPr>
        <p:spPr>
          <a:xfrm>
            <a:off x="731520" y="2880360"/>
            <a:ext cx="10697760" cy="1639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00"/>
              </a:spcAft>
            </a:pPr>
            <a:r>
              <a:rPr b="0" lang="en-US" sz="1800" spc="-1" strike="noStrike">
                <a:solidFill>
                  <a:srgbClr val="2a3340"/>
                </a:solidFill>
                <a:latin typeface="Aptos"/>
              </a:rPr>
              <a:t>• </a:t>
            </a:r>
            <a:r>
              <a:rPr b="0" lang="en-US" sz="1800" spc="-1" strike="noStrike">
                <a:solidFill>
                  <a:srgbClr val="2a3340"/>
                </a:solidFill>
                <a:latin typeface="Aptos"/>
              </a:rPr>
              <a:t>Recipe management application with a React frontend and Node.js backend.</a:t>
            </a:r>
            <a:endParaRPr b="0" lang="en-IN" sz="1800" spc="-1" strike="noStrike">
              <a:solidFill>
                <a:srgbClr val="000000"/>
              </a:solidFill>
              <a:latin typeface="Arial"/>
            </a:endParaRPr>
          </a:p>
          <a:p>
            <a:pPr defTabSz="457200">
              <a:lnSpc>
                <a:spcPct val="100000"/>
              </a:lnSpc>
              <a:spcAft>
                <a:spcPts val="700"/>
              </a:spcAft>
            </a:pPr>
            <a:r>
              <a:rPr b="0" lang="en-US" sz="1800" spc="-1" strike="noStrike">
                <a:solidFill>
                  <a:srgbClr val="2a3340"/>
                </a:solidFill>
                <a:latin typeface="Aptos"/>
              </a:rPr>
              <a:t>• </a:t>
            </a:r>
            <a:r>
              <a:rPr b="0" lang="en-US" sz="1800" spc="-1" strike="noStrike">
                <a:solidFill>
                  <a:srgbClr val="2a3340"/>
                </a:solidFill>
                <a:latin typeface="Aptos"/>
              </a:rPr>
              <a:t>The project goal was to take a working application through a complete DevSecOps lifecycle.</a:t>
            </a:r>
            <a:endParaRPr b="0" lang="en-IN" sz="1800" spc="-1" strike="noStrike">
              <a:solidFill>
                <a:srgbClr val="000000"/>
              </a:solidFill>
              <a:latin typeface="Arial"/>
            </a:endParaRPr>
          </a:p>
          <a:p>
            <a:pPr defTabSz="457200">
              <a:lnSpc>
                <a:spcPct val="100000"/>
              </a:lnSpc>
              <a:spcAft>
                <a:spcPts val="700"/>
              </a:spcAft>
            </a:pPr>
            <a:r>
              <a:rPr b="0" lang="en-US" sz="1800" spc="-1" strike="noStrike">
                <a:solidFill>
                  <a:srgbClr val="2a3340"/>
                </a:solidFill>
                <a:latin typeface="Aptos"/>
              </a:rPr>
              <a:t>• </a:t>
            </a:r>
            <a:r>
              <a:rPr b="0" lang="en-US" sz="1800" spc="-1" strike="noStrike">
                <a:solidFill>
                  <a:srgbClr val="2a3340"/>
                </a:solidFill>
                <a:latin typeface="Aptos"/>
              </a:rPr>
              <a:t>The final workflow adds automation, quality, security, scalability, GitOps and operational visibility.</a:t>
            </a:r>
            <a:endParaRPr b="0" lang="en-IN"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99"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00" name="TextBox 3"/>
          <p:cNvSpPr/>
          <p:nvPr/>
        </p:nvSpPr>
        <p:spPr>
          <a:xfrm>
            <a:off x="3693240" y="255960"/>
            <a:ext cx="450000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2. Problem &amp; Objective</a:t>
            </a:r>
            <a:endParaRPr b="0" lang="en-IN" sz="2700" spc="-1" strike="noStrike">
              <a:solidFill>
                <a:srgbClr val="000000"/>
              </a:solidFill>
              <a:latin typeface="Arial"/>
            </a:endParaRPr>
          </a:p>
        </p:txBody>
      </p:sp>
      <p:sp>
        <p:nvSpPr>
          <p:cNvPr id="101" name="TextBox 4"/>
          <p:cNvSpPr/>
          <p:nvPr/>
        </p:nvSpPr>
        <p:spPr>
          <a:xfrm>
            <a:off x="10548360" y="311040"/>
            <a:ext cx="11685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INTRODUCTION</a:t>
            </a:r>
            <a:endParaRPr b="0" lang="en-IN" sz="900" spc="-1" strike="noStrike">
              <a:solidFill>
                <a:srgbClr val="000000"/>
              </a:solidFill>
              <a:latin typeface="Arial"/>
            </a:endParaRPr>
          </a:p>
        </p:txBody>
      </p:sp>
      <p:sp>
        <p:nvSpPr>
          <p:cNvPr id="102"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3</a:t>
            </a:r>
            <a:endParaRPr b="0" lang="en-IN" sz="800" spc="-1" strike="noStrike">
              <a:solidFill>
                <a:srgbClr val="000000"/>
              </a:solidFill>
              <a:latin typeface="Arial"/>
            </a:endParaRPr>
          </a:p>
        </p:txBody>
      </p:sp>
      <p:sp>
        <p:nvSpPr>
          <p:cNvPr id="103" name="Rounded Rectangle 6"/>
          <p:cNvSpPr/>
          <p:nvPr/>
        </p:nvSpPr>
        <p:spPr>
          <a:xfrm>
            <a:off x="640080" y="1051560"/>
            <a:ext cx="5211360" cy="19195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04" name="Rectangle 7"/>
          <p:cNvSpPr/>
          <p:nvPr/>
        </p:nvSpPr>
        <p:spPr>
          <a:xfrm>
            <a:off x="640080" y="1051560"/>
            <a:ext cx="72360" cy="1919520"/>
          </a:xfrm>
          <a:prstGeom prst="rect">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05" name="TextBox 8"/>
          <p:cNvSpPr/>
          <p:nvPr/>
        </p:nvSpPr>
        <p:spPr>
          <a:xfrm>
            <a:off x="1630440" y="1197720"/>
            <a:ext cx="326736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Problem I wanted to solve</a:t>
            </a:r>
            <a:endParaRPr b="0" lang="en-IN" sz="1700" spc="-1" strike="noStrike">
              <a:solidFill>
                <a:srgbClr val="000000"/>
              </a:solidFill>
              <a:latin typeface="Arial"/>
            </a:endParaRPr>
          </a:p>
        </p:txBody>
      </p:sp>
      <p:sp>
        <p:nvSpPr>
          <p:cNvPr id="106" name="TextBox 9"/>
          <p:cNvSpPr/>
          <p:nvPr/>
        </p:nvSpPr>
        <p:spPr>
          <a:xfrm>
            <a:off x="841320" y="1618560"/>
            <a:ext cx="4827240" cy="1157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pc="-1" strike="noStrike">
                <a:solidFill>
                  <a:srgbClr val="2a3340"/>
                </a:solidFill>
                <a:latin typeface="Aptos"/>
              </a:rPr>
              <a:t>Manual build and deployment steps are time-consuming, error-prone and difficult to repeat consistently. Quality and security checks can also become inconsistent when they are performed manually.</a:t>
            </a:r>
            <a:endParaRPr b="0" lang="en-IN" sz="1400" spc="-1" strike="noStrike">
              <a:solidFill>
                <a:srgbClr val="000000"/>
              </a:solidFill>
              <a:latin typeface="Arial"/>
            </a:endParaRPr>
          </a:p>
        </p:txBody>
      </p:sp>
      <p:sp>
        <p:nvSpPr>
          <p:cNvPr id="107" name="Rounded Rectangle 10"/>
          <p:cNvSpPr/>
          <p:nvPr/>
        </p:nvSpPr>
        <p:spPr>
          <a:xfrm>
            <a:off x="6355080" y="1051560"/>
            <a:ext cx="5211360" cy="19195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08" name="Rectangle 11"/>
          <p:cNvSpPr/>
          <p:nvPr/>
        </p:nvSpPr>
        <p:spPr>
          <a:xfrm>
            <a:off x="6355080" y="1051560"/>
            <a:ext cx="72360" cy="191952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09" name="TextBox 12"/>
          <p:cNvSpPr/>
          <p:nvPr/>
        </p:nvSpPr>
        <p:spPr>
          <a:xfrm>
            <a:off x="8326080" y="1197720"/>
            <a:ext cx="130572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Objective</a:t>
            </a:r>
            <a:endParaRPr b="0" lang="en-IN" sz="1700" spc="-1" strike="noStrike">
              <a:solidFill>
                <a:srgbClr val="000000"/>
              </a:solidFill>
              <a:latin typeface="Arial"/>
            </a:endParaRPr>
          </a:p>
        </p:txBody>
      </p:sp>
      <p:sp>
        <p:nvSpPr>
          <p:cNvPr id="110" name="TextBox 13"/>
          <p:cNvSpPr/>
          <p:nvPr/>
        </p:nvSpPr>
        <p:spPr>
          <a:xfrm>
            <a:off x="6556320" y="1618560"/>
            <a:ext cx="4827240" cy="943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pc="-1" strike="noStrike">
                <a:solidFill>
                  <a:srgbClr val="2a3340"/>
                </a:solidFill>
                <a:latin typeface="Aptos"/>
              </a:rPr>
              <a:t>Create a repeatable path from source code to a running application with automated testing, code-quality checks, security scanning, container publishing, Kubernetes deployment and GitOps.</a:t>
            </a:r>
            <a:endParaRPr b="0" lang="en-IN" sz="1400" spc="-1" strike="noStrike">
              <a:solidFill>
                <a:srgbClr val="000000"/>
              </a:solidFill>
              <a:latin typeface="Arial"/>
            </a:endParaRPr>
          </a:p>
        </p:txBody>
      </p:sp>
      <p:sp>
        <p:nvSpPr>
          <p:cNvPr id="111" name="Rounded Rectangle 14"/>
          <p:cNvSpPr/>
          <p:nvPr/>
        </p:nvSpPr>
        <p:spPr>
          <a:xfrm>
            <a:off x="822960" y="3886200"/>
            <a:ext cx="1407600" cy="73080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12" name="TextBox 15"/>
          <p:cNvSpPr/>
          <p:nvPr/>
        </p:nvSpPr>
        <p:spPr>
          <a:xfrm>
            <a:off x="1223280" y="3977640"/>
            <a:ext cx="6062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Code</a:t>
            </a:r>
            <a:endParaRPr b="0" lang="en-IN" sz="1200" spc="-1" strike="noStrike">
              <a:solidFill>
                <a:srgbClr val="000000"/>
              </a:solidFill>
              <a:latin typeface="Arial"/>
            </a:endParaRPr>
          </a:p>
        </p:txBody>
      </p:sp>
      <p:sp>
        <p:nvSpPr>
          <p:cNvPr id="113" name="Chevron 16"/>
          <p:cNvSpPr/>
          <p:nvPr/>
        </p:nvSpPr>
        <p:spPr>
          <a:xfrm>
            <a:off x="2240280" y="413496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14" name="Rounded Rectangle 17"/>
          <p:cNvSpPr/>
          <p:nvPr/>
        </p:nvSpPr>
        <p:spPr>
          <a:xfrm>
            <a:off x="2340720" y="3886200"/>
            <a:ext cx="1407600" cy="730800"/>
          </a:xfrm>
          <a:prstGeom prst="roundRect">
            <a:avLst>
              <a:gd name="adj" fmla="val 16667"/>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15" name="TextBox 18"/>
          <p:cNvSpPr/>
          <p:nvPr/>
        </p:nvSpPr>
        <p:spPr>
          <a:xfrm>
            <a:off x="2442600" y="3977640"/>
            <a:ext cx="12038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Build &amp; Test</a:t>
            </a:r>
            <a:endParaRPr b="0" lang="en-IN" sz="1200" spc="-1" strike="noStrike">
              <a:solidFill>
                <a:srgbClr val="000000"/>
              </a:solidFill>
              <a:latin typeface="Arial"/>
            </a:endParaRPr>
          </a:p>
        </p:txBody>
      </p:sp>
      <p:sp>
        <p:nvSpPr>
          <p:cNvPr id="116" name="Chevron 19"/>
          <p:cNvSpPr/>
          <p:nvPr/>
        </p:nvSpPr>
        <p:spPr>
          <a:xfrm>
            <a:off x="3758040" y="413496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17" name="Rounded Rectangle 20"/>
          <p:cNvSpPr/>
          <p:nvPr/>
        </p:nvSpPr>
        <p:spPr>
          <a:xfrm>
            <a:off x="3858840" y="3886200"/>
            <a:ext cx="1407600" cy="73080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18" name="TextBox 21"/>
          <p:cNvSpPr/>
          <p:nvPr/>
        </p:nvSpPr>
        <p:spPr>
          <a:xfrm>
            <a:off x="4176000" y="3977640"/>
            <a:ext cx="77256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Quality</a:t>
            </a:r>
            <a:endParaRPr b="0" lang="en-IN" sz="1200" spc="-1" strike="noStrike">
              <a:solidFill>
                <a:srgbClr val="000000"/>
              </a:solidFill>
              <a:latin typeface="Arial"/>
            </a:endParaRPr>
          </a:p>
        </p:txBody>
      </p:sp>
      <p:sp>
        <p:nvSpPr>
          <p:cNvPr id="119" name="Chevron 22"/>
          <p:cNvSpPr/>
          <p:nvPr/>
        </p:nvSpPr>
        <p:spPr>
          <a:xfrm>
            <a:off x="5276160" y="413496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20" name="Rounded Rectangle 23"/>
          <p:cNvSpPr/>
          <p:nvPr/>
        </p:nvSpPr>
        <p:spPr>
          <a:xfrm>
            <a:off x="5376600" y="3886200"/>
            <a:ext cx="1407600" cy="730800"/>
          </a:xfrm>
          <a:prstGeom prst="roundRect">
            <a:avLst>
              <a:gd name="adj" fmla="val 16667"/>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21" name="TextBox 24"/>
          <p:cNvSpPr/>
          <p:nvPr/>
        </p:nvSpPr>
        <p:spPr>
          <a:xfrm>
            <a:off x="5643360" y="3977640"/>
            <a:ext cx="8744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Security</a:t>
            </a:r>
            <a:endParaRPr b="0" lang="en-IN" sz="1200" spc="-1" strike="noStrike">
              <a:solidFill>
                <a:srgbClr val="000000"/>
              </a:solidFill>
              <a:latin typeface="Arial"/>
            </a:endParaRPr>
          </a:p>
        </p:txBody>
      </p:sp>
      <p:sp>
        <p:nvSpPr>
          <p:cNvPr id="122" name="Chevron 25"/>
          <p:cNvSpPr/>
          <p:nvPr/>
        </p:nvSpPr>
        <p:spPr>
          <a:xfrm>
            <a:off x="6793920" y="413496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23" name="Rounded Rectangle 26"/>
          <p:cNvSpPr/>
          <p:nvPr/>
        </p:nvSpPr>
        <p:spPr>
          <a:xfrm>
            <a:off x="6894720" y="3886200"/>
            <a:ext cx="1407600" cy="73080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24" name="TextBox 27"/>
          <p:cNvSpPr/>
          <p:nvPr/>
        </p:nvSpPr>
        <p:spPr>
          <a:xfrm>
            <a:off x="7100640" y="3977640"/>
            <a:ext cx="9950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Container</a:t>
            </a:r>
            <a:endParaRPr b="0" lang="en-IN" sz="1200" spc="-1" strike="noStrike">
              <a:solidFill>
                <a:srgbClr val="000000"/>
              </a:solidFill>
              <a:latin typeface="Arial"/>
            </a:endParaRPr>
          </a:p>
        </p:txBody>
      </p:sp>
      <p:sp>
        <p:nvSpPr>
          <p:cNvPr id="125" name="Chevron 28"/>
          <p:cNvSpPr/>
          <p:nvPr/>
        </p:nvSpPr>
        <p:spPr>
          <a:xfrm>
            <a:off x="8312040" y="413496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26" name="Rounded Rectangle 29"/>
          <p:cNvSpPr/>
          <p:nvPr/>
        </p:nvSpPr>
        <p:spPr>
          <a:xfrm>
            <a:off x="8412480" y="3886200"/>
            <a:ext cx="1407600" cy="730800"/>
          </a:xfrm>
          <a:prstGeom prst="roundRect">
            <a:avLst>
              <a:gd name="adj" fmla="val 16667"/>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27" name="TextBox 30"/>
          <p:cNvSpPr/>
          <p:nvPr/>
        </p:nvSpPr>
        <p:spPr>
          <a:xfrm>
            <a:off x="8742600" y="3977640"/>
            <a:ext cx="7466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Deploy</a:t>
            </a:r>
            <a:endParaRPr b="0" lang="en-IN" sz="1200" spc="-1" strike="noStrike">
              <a:solidFill>
                <a:srgbClr val="000000"/>
              </a:solidFill>
              <a:latin typeface="Arial"/>
            </a:endParaRPr>
          </a:p>
        </p:txBody>
      </p:sp>
      <p:sp>
        <p:nvSpPr>
          <p:cNvPr id="128" name="Chevron 31"/>
          <p:cNvSpPr/>
          <p:nvPr/>
        </p:nvSpPr>
        <p:spPr>
          <a:xfrm>
            <a:off x="9829800" y="413496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29" name="Rounded Rectangle 32"/>
          <p:cNvSpPr/>
          <p:nvPr/>
        </p:nvSpPr>
        <p:spPr>
          <a:xfrm>
            <a:off x="9930240" y="3886200"/>
            <a:ext cx="1407600" cy="73080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30" name="TextBox 33"/>
          <p:cNvSpPr/>
          <p:nvPr/>
        </p:nvSpPr>
        <p:spPr>
          <a:xfrm>
            <a:off x="10198440" y="3977640"/>
            <a:ext cx="87156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Observe</a:t>
            </a:r>
            <a:endParaRPr b="0" lang="en-IN"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32"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33" name="TextBox 3"/>
          <p:cNvSpPr/>
          <p:nvPr/>
        </p:nvSpPr>
        <p:spPr>
          <a:xfrm>
            <a:off x="1762200" y="255960"/>
            <a:ext cx="836208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3. Architecture / Complete DevSecOps Flow</a:t>
            </a:r>
            <a:endParaRPr b="0" lang="en-IN" sz="2700" spc="-1" strike="noStrike">
              <a:solidFill>
                <a:srgbClr val="000000"/>
              </a:solidFill>
              <a:latin typeface="Arial"/>
            </a:endParaRPr>
          </a:p>
        </p:txBody>
      </p:sp>
      <p:sp>
        <p:nvSpPr>
          <p:cNvPr id="134" name="TextBox 4"/>
          <p:cNvSpPr/>
          <p:nvPr/>
        </p:nvSpPr>
        <p:spPr>
          <a:xfrm>
            <a:off x="10541160" y="311040"/>
            <a:ext cx="118260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ARCHITECTURE</a:t>
            </a:r>
            <a:endParaRPr b="0" lang="en-IN" sz="900" spc="-1" strike="noStrike">
              <a:solidFill>
                <a:srgbClr val="000000"/>
              </a:solidFill>
              <a:latin typeface="Arial"/>
            </a:endParaRPr>
          </a:p>
        </p:txBody>
      </p:sp>
      <p:sp>
        <p:nvSpPr>
          <p:cNvPr id="135"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4</a:t>
            </a:r>
            <a:endParaRPr b="0" lang="en-IN" sz="800" spc="-1" strike="noStrike">
              <a:solidFill>
                <a:srgbClr val="000000"/>
              </a:solidFill>
              <a:latin typeface="Arial"/>
            </a:endParaRPr>
          </a:p>
        </p:txBody>
      </p:sp>
      <p:sp>
        <p:nvSpPr>
          <p:cNvPr id="136" name="Rounded Rectangle 6"/>
          <p:cNvSpPr/>
          <p:nvPr/>
        </p:nvSpPr>
        <p:spPr>
          <a:xfrm>
            <a:off x="502920" y="1234440"/>
            <a:ext cx="1020600" cy="77652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37" name="TextBox 7"/>
          <p:cNvSpPr/>
          <p:nvPr/>
        </p:nvSpPr>
        <p:spPr>
          <a:xfrm>
            <a:off x="578160" y="1325880"/>
            <a:ext cx="86976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Developer</a:t>
            </a:r>
            <a:endParaRPr b="0" lang="en-IN" sz="1000" spc="-1" strike="noStrike">
              <a:solidFill>
                <a:srgbClr val="000000"/>
              </a:solidFill>
              <a:latin typeface="Arial"/>
            </a:endParaRPr>
          </a:p>
        </p:txBody>
      </p:sp>
      <p:sp>
        <p:nvSpPr>
          <p:cNvPr id="138" name="Chevron 8"/>
          <p:cNvSpPr/>
          <p:nvPr/>
        </p:nvSpPr>
        <p:spPr>
          <a:xfrm>
            <a:off x="153360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39" name="Rounded Rectangle 9"/>
          <p:cNvSpPr/>
          <p:nvPr/>
        </p:nvSpPr>
        <p:spPr>
          <a:xfrm>
            <a:off x="1634040" y="1234440"/>
            <a:ext cx="1020600" cy="77652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40" name="TextBox 10"/>
          <p:cNvSpPr/>
          <p:nvPr/>
        </p:nvSpPr>
        <p:spPr>
          <a:xfrm>
            <a:off x="1815120" y="1325880"/>
            <a:ext cx="65808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GitHub</a:t>
            </a:r>
            <a:endParaRPr b="0" lang="en-IN" sz="1000" spc="-1" strike="noStrike">
              <a:solidFill>
                <a:srgbClr val="000000"/>
              </a:solidFill>
              <a:latin typeface="Arial"/>
            </a:endParaRPr>
          </a:p>
        </p:txBody>
      </p:sp>
      <p:sp>
        <p:nvSpPr>
          <p:cNvPr id="141" name="Chevron 11"/>
          <p:cNvSpPr/>
          <p:nvPr/>
        </p:nvSpPr>
        <p:spPr>
          <a:xfrm>
            <a:off x="266472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42" name="Rounded Rectangle 12"/>
          <p:cNvSpPr/>
          <p:nvPr/>
        </p:nvSpPr>
        <p:spPr>
          <a:xfrm>
            <a:off x="2765160" y="1234440"/>
            <a:ext cx="1020600" cy="776520"/>
          </a:xfrm>
          <a:prstGeom prst="roundRect">
            <a:avLst>
              <a:gd name="adj" fmla="val 16667"/>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43" name="TextBox 13"/>
          <p:cNvSpPr/>
          <p:nvPr/>
        </p:nvSpPr>
        <p:spPr>
          <a:xfrm>
            <a:off x="2704680" y="1325880"/>
            <a:ext cx="114120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Azure DevOps</a:t>
            </a:r>
            <a:endParaRPr b="0" lang="en-IN" sz="1000" spc="-1" strike="noStrike">
              <a:solidFill>
                <a:srgbClr val="000000"/>
              </a:solidFill>
              <a:latin typeface="Arial"/>
            </a:endParaRPr>
          </a:p>
        </p:txBody>
      </p:sp>
      <p:sp>
        <p:nvSpPr>
          <p:cNvPr id="144" name="Chevron 14"/>
          <p:cNvSpPr/>
          <p:nvPr/>
        </p:nvSpPr>
        <p:spPr>
          <a:xfrm>
            <a:off x="379584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45" name="Rounded Rectangle 15"/>
          <p:cNvSpPr/>
          <p:nvPr/>
        </p:nvSpPr>
        <p:spPr>
          <a:xfrm>
            <a:off x="3896280" y="1234440"/>
            <a:ext cx="1020600" cy="77652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46" name="TextBox 16"/>
          <p:cNvSpPr/>
          <p:nvPr/>
        </p:nvSpPr>
        <p:spPr>
          <a:xfrm>
            <a:off x="3920400" y="1325880"/>
            <a:ext cx="97200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SonarCloud</a:t>
            </a:r>
            <a:endParaRPr b="0" lang="en-IN" sz="1000" spc="-1" strike="noStrike">
              <a:solidFill>
                <a:srgbClr val="000000"/>
              </a:solidFill>
              <a:latin typeface="Arial"/>
            </a:endParaRPr>
          </a:p>
        </p:txBody>
      </p:sp>
      <p:sp>
        <p:nvSpPr>
          <p:cNvPr id="147" name="Chevron 17"/>
          <p:cNvSpPr/>
          <p:nvPr/>
        </p:nvSpPr>
        <p:spPr>
          <a:xfrm>
            <a:off x="492696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48" name="Rounded Rectangle 18"/>
          <p:cNvSpPr/>
          <p:nvPr/>
        </p:nvSpPr>
        <p:spPr>
          <a:xfrm>
            <a:off x="5027400" y="1234440"/>
            <a:ext cx="1020600" cy="776520"/>
          </a:xfrm>
          <a:prstGeom prst="roundRect">
            <a:avLst>
              <a:gd name="adj" fmla="val 16667"/>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49" name="TextBox 19"/>
          <p:cNvSpPr/>
          <p:nvPr/>
        </p:nvSpPr>
        <p:spPr>
          <a:xfrm>
            <a:off x="5276880" y="1325880"/>
            <a:ext cx="52092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Trivy</a:t>
            </a:r>
            <a:endParaRPr b="0" lang="en-IN" sz="1000" spc="-1" strike="noStrike">
              <a:solidFill>
                <a:srgbClr val="000000"/>
              </a:solidFill>
              <a:latin typeface="Arial"/>
            </a:endParaRPr>
          </a:p>
        </p:txBody>
      </p:sp>
      <p:sp>
        <p:nvSpPr>
          <p:cNvPr id="150" name="Chevron 20"/>
          <p:cNvSpPr/>
          <p:nvPr/>
        </p:nvSpPr>
        <p:spPr>
          <a:xfrm>
            <a:off x="605808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1" name="Rounded Rectangle 21"/>
          <p:cNvSpPr/>
          <p:nvPr/>
        </p:nvSpPr>
        <p:spPr>
          <a:xfrm>
            <a:off x="6158520" y="1234440"/>
            <a:ext cx="1020600" cy="77652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2" name="TextBox 22"/>
          <p:cNvSpPr/>
          <p:nvPr/>
        </p:nvSpPr>
        <p:spPr>
          <a:xfrm>
            <a:off x="6334920" y="1325880"/>
            <a:ext cx="66708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Docker</a:t>
            </a:r>
            <a:endParaRPr b="0" lang="en-IN" sz="1000" spc="-1" strike="noStrike">
              <a:solidFill>
                <a:srgbClr val="000000"/>
              </a:solidFill>
              <a:latin typeface="Arial"/>
            </a:endParaRPr>
          </a:p>
        </p:txBody>
      </p:sp>
      <p:sp>
        <p:nvSpPr>
          <p:cNvPr id="153" name="Chevron 23"/>
          <p:cNvSpPr/>
          <p:nvPr/>
        </p:nvSpPr>
        <p:spPr>
          <a:xfrm>
            <a:off x="718884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4" name="Rounded Rectangle 24"/>
          <p:cNvSpPr/>
          <p:nvPr/>
        </p:nvSpPr>
        <p:spPr>
          <a:xfrm>
            <a:off x="7289640" y="1234440"/>
            <a:ext cx="1020600" cy="77652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5" name="TextBox 25"/>
          <p:cNvSpPr/>
          <p:nvPr/>
        </p:nvSpPr>
        <p:spPr>
          <a:xfrm>
            <a:off x="7562160" y="1325880"/>
            <a:ext cx="47520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ACR</a:t>
            </a:r>
            <a:endParaRPr b="0" lang="en-IN" sz="1000" spc="-1" strike="noStrike">
              <a:solidFill>
                <a:srgbClr val="000000"/>
              </a:solidFill>
              <a:latin typeface="Arial"/>
            </a:endParaRPr>
          </a:p>
        </p:txBody>
      </p:sp>
      <p:sp>
        <p:nvSpPr>
          <p:cNvPr id="156" name="Chevron 26"/>
          <p:cNvSpPr/>
          <p:nvPr/>
        </p:nvSpPr>
        <p:spPr>
          <a:xfrm>
            <a:off x="831996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7" name="Rounded Rectangle 27"/>
          <p:cNvSpPr/>
          <p:nvPr/>
        </p:nvSpPr>
        <p:spPr>
          <a:xfrm>
            <a:off x="8420760" y="1234440"/>
            <a:ext cx="1020600" cy="776520"/>
          </a:xfrm>
          <a:prstGeom prst="roundRect">
            <a:avLst>
              <a:gd name="adj" fmla="val 16667"/>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8" name="TextBox 28"/>
          <p:cNvSpPr/>
          <p:nvPr/>
        </p:nvSpPr>
        <p:spPr>
          <a:xfrm>
            <a:off x="8692560" y="1325880"/>
            <a:ext cx="47664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AKS</a:t>
            </a:r>
            <a:endParaRPr b="0" lang="en-IN" sz="1000" spc="-1" strike="noStrike">
              <a:solidFill>
                <a:srgbClr val="000000"/>
              </a:solidFill>
              <a:latin typeface="Arial"/>
            </a:endParaRPr>
          </a:p>
        </p:txBody>
      </p:sp>
      <p:sp>
        <p:nvSpPr>
          <p:cNvPr id="159" name="Chevron 29"/>
          <p:cNvSpPr/>
          <p:nvPr/>
        </p:nvSpPr>
        <p:spPr>
          <a:xfrm>
            <a:off x="945108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0" name="Rounded Rectangle 30"/>
          <p:cNvSpPr/>
          <p:nvPr/>
        </p:nvSpPr>
        <p:spPr>
          <a:xfrm>
            <a:off x="9551880" y="1234440"/>
            <a:ext cx="1020600" cy="77652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1" name="TextBox 31"/>
          <p:cNvSpPr/>
          <p:nvPr/>
        </p:nvSpPr>
        <p:spPr>
          <a:xfrm>
            <a:off x="9687960" y="1325880"/>
            <a:ext cx="74808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Argo CD</a:t>
            </a:r>
            <a:endParaRPr b="0" lang="en-IN" sz="1000" spc="-1" strike="noStrike">
              <a:solidFill>
                <a:srgbClr val="000000"/>
              </a:solidFill>
              <a:latin typeface="Arial"/>
            </a:endParaRPr>
          </a:p>
        </p:txBody>
      </p:sp>
      <p:sp>
        <p:nvSpPr>
          <p:cNvPr id="162" name="Chevron 32"/>
          <p:cNvSpPr/>
          <p:nvPr/>
        </p:nvSpPr>
        <p:spPr>
          <a:xfrm>
            <a:off x="10582200" y="149868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3" name="Rounded Rectangle 33"/>
          <p:cNvSpPr/>
          <p:nvPr/>
        </p:nvSpPr>
        <p:spPr>
          <a:xfrm>
            <a:off x="10683000" y="1234440"/>
            <a:ext cx="1020600" cy="77652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4" name="TextBox 34"/>
          <p:cNvSpPr/>
          <p:nvPr/>
        </p:nvSpPr>
        <p:spPr>
          <a:xfrm>
            <a:off x="10839600" y="1325880"/>
            <a:ext cx="70704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Monitor</a:t>
            </a:r>
            <a:endParaRPr b="0" lang="en-IN" sz="1000" spc="-1" strike="noStrike">
              <a:solidFill>
                <a:srgbClr val="000000"/>
              </a:solidFill>
              <a:latin typeface="Arial"/>
            </a:endParaRPr>
          </a:p>
        </p:txBody>
      </p:sp>
      <p:sp>
        <p:nvSpPr>
          <p:cNvPr id="165" name="Rounded Rectangle 35"/>
          <p:cNvSpPr/>
          <p:nvPr/>
        </p:nvSpPr>
        <p:spPr>
          <a:xfrm>
            <a:off x="731520" y="2606040"/>
            <a:ext cx="3382560" cy="201096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6" name="Rectangle 36"/>
          <p:cNvSpPr/>
          <p:nvPr/>
        </p:nvSpPr>
        <p:spPr>
          <a:xfrm>
            <a:off x="731520" y="2606040"/>
            <a:ext cx="72360" cy="201096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7" name="TextBox 37"/>
          <p:cNvSpPr/>
          <p:nvPr/>
        </p:nvSpPr>
        <p:spPr>
          <a:xfrm>
            <a:off x="1170360" y="2752200"/>
            <a:ext cx="25416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CI — Build &amp; Validate</a:t>
            </a:r>
            <a:endParaRPr b="0" lang="en-IN" sz="1600" spc="-1" strike="noStrike">
              <a:solidFill>
                <a:srgbClr val="000000"/>
              </a:solidFill>
              <a:latin typeface="Arial"/>
            </a:endParaRPr>
          </a:p>
        </p:txBody>
      </p:sp>
      <p:sp>
        <p:nvSpPr>
          <p:cNvPr id="168" name="TextBox 38"/>
          <p:cNvSpPr/>
          <p:nvPr/>
        </p:nvSpPr>
        <p:spPr>
          <a:xfrm>
            <a:off x="932760" y="3173040"/>
            <a:ext cx="2998440" cy="127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Source change triggers the delivery workflow.</a:t>
            </a:r>
            <a:br>
              <a:rPr sz="1300"/>
            </a:br>
            <a:br>
              <a:rPr sz="1300"/>
            </a:br>
            <a:r>
              <a:rPr b="0" lang="en-US" sz="1300" spc="-1" strike="noStrike">
                <a:solidFill>
                  <a:srgbClr val="2a3340"/>
                </a:solidFill>
                <a:latin typeface="Aptos"/>
              </a:rPr>
              <a:t>Build → Test → SonarCloud → Trivy → Docker build → image publishing</a:t>
            </a:r>
            <a:endParaRPr b="0" lang="en-IN" sz="1300" spc="-1" strike="noStrike">
              <a:solidFill>
                <a:srgbClr val="000000"/>
              </a:solidFill>
              <a:latin typeface="Arial"/>
            </a:endParaRPr>
          </a:p>
        </p:txBody>
      </p:sp>
      <p:sp>
        <p:nvSpPr>
          <p:cNvPr id="169" name="Rounded Rectangle 39"/>
          <p:cNvSpPr/>
          <p:nvPr/>
        </p:nvSpPr>
        <p:spPr>
          <a:xfrm>
            <a:off x="4407480" y="2606040"/>
            <a:ext cx="3382560" cy="201096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0" name="Rectangle 40"/>
          <p:cNvSpPr/>
          <p:nvPr/>
        </p:nvSpPr>
        <p:spPr>
          <a:xfrm>
            <a:off x="4407480" y="2606040"/>
            <a:ext cx="72360" cy="201096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1" name="TextBox 41"/>
          <p:cNvSpPr/>
          <p:nvPr/>
        </p:nvSpPr>
        <p:spPr>
          <a:xfrm>
            <a:off x="4853880" y="2752200"/>
            <a:ext cx="25264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CD / GitOps — Deploy</a:t>
            </a:r>
            <a:endParaRPr b="0" lang="en-IN" sz="1600" spc="-1" strike="noStrike">
              <a:solidFill>
                <a:srgbClr val="000000"/>
              </a:solidFill>
              <a:latin typeface="Arial"/>
            </a:endParaRPr>
          </a:p>
        </p:txBody>
      </p:sp>
      <p:sp>
        <p:nvSpPr>
          <p:cNvPr id="172" name="TextBox 42"/>
          <p:cNvSpPr/>
          <p:nvPr/>
        </p:nvSpPr>
        <p:spPr>
          <a:xfrm>
            <a:off x="4608720" y="3173040"/>
            <a:ext cx="299844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Kubernetes configuration is stored in Git. Argo CD watches desired state and reconciles the AKS cluster.</a:t>
            </a:r>
            <a:endParaRPr b="0" lang="en-IN" sz="1300" spc="-1" strike="noStrike">
              <a:solidFill>
                <a:srgbClr val="000000"/>
              </a:solidFill>
              <a:latin typeface="Arial"/>
            </a:endParaRPr>
          </a:p>
        </p:txBody>
      </p:sp>
      <p:sp>
        <p:nvSpPr>
          <p:cNvPr id="173" name="Rounded Rectangle 43"/>
          <p:cNvSpPr/>
          <p:nvPr/>
        </p:nvSpPr>
        <p:spPr>
          <a:xfrm>
            <a:off x="8083440" y="2606040"/>
            <a:ext cx="3382560" cy="201096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4" name="Rectangle 44"/>
          <p:cNvSpPr/>
          <p:nvPr/>
        </p:nvSpPr>
        <p:spPr>
          <a:xfrm>
            <a:off x="8083440" y="2606040"/>
            <a:ext cx="72360" cy="201096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5" name="TextBox 45"/>
          <p:cNvSpPr/>
          <p:nvPr/>
        </p:nvSpPr>
        <p:spPr>
          <a:xfrm>
            <a:off x="8604000" y="2752200"/>
            <a:ext cx="23770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Operations — Verify</a:t>
            </a:r>
            <a:endParaRPr b="0" lang="en-IN" sz="1600" spc="-1" strike="noStrike">
              <a:solidFill>
                <a:srgbClr val="000000"/>
              </a:solidFill>
              <a:latin typeface="Arial"/>
            </a:endParaRPr>
          </a:p>
        </p:txBody>
      </p:sp>
      <p:sp>
        <p:nvSpPr>
          <p:cNvPr id="176" name="TextBox 46"/>
          <p:cNvSpPr/>
          <p:nvPr/>
        </p:nvSpPr>
        <p:spPr>
          <a:xfrm>
            <a:off x="8284320" y="3173040"/>
            <a:ext cx="299844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Pods, services, health endpoints, logs, events and monitoring provide operational visibility after deployment.</a:t>
            </a:r>
            <a:endParaRPr b="0" lang="en-IN"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8"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9" name="TextBox 3"/>
          <p:cNvSpPr/>
          <p:nvPr/>
        </p:nvSpPr>
        <p:spPr>
          <a:xfrm>
            <a:off x="3952080" y="255960"/>
            <a:ext cx="398196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4. Technology Stack</a:t>
            </a:r>
            <a:endParaRPr b="0" lang="en-IN" sz="2700" spc="-1" strike="noStrike">
              <a:solidFill>
                <a:srgbClr val="000000"/>
              </a:solidFill>
              <a:latin typeface="Arial"/>
            </a:endParaRPr>
          </a:p>
        </p:txBody>
      </p:sp>
      <p:sp>
        <p:nvSpPr>
          <p:cNvPr id="180" name="TextBox 4"/>
          <p:cNvSpPr/>
          <p:nvPr/>
        </p:nvSpPr>
        <p:spPr>
          <a:xfrm>
            <a:off x="10541160" y="311040"/>
            <a:ext cx="118260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ARCHITECTURE</a:t>
            </a:r>
            <a:endParaRPr b="0" lang="en-IN" sz="900" spc="-1" strike="noStrike">
              <a:solidFill>
                <a:srgbClr val="000000"/>
              </a:solidFill>
              <a:latin typeface="Arial"/>
            </a:endParaRPr>
          </a:p>
        </p:txBody>
      </p:sp>
      <p:sp>
        <p:nvSpPr>
          <p:cNvPr id="181"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5</a:t>
            </a:r>
            <a:endParaRPr b="0" lang="en-IN" sz="800" spc="-1" strike="noStrike">
              <a:solidFill>
                <a:srgbClr val="000000"/>
              </a:solidFill>
              <a:latin typeface="Arial"/>
            </a:endParaRPr>
          </a:p>
        </p:txBody>
      </p:sp>
      <p:sp>
        <p:nvSpPr>
          <p:cNvPr id="182" name="Rounded Rectangle 6"/>
          <p:cNvSpPr/>
          <p:nvPr/>
        </p:nvSpPr>
        <p:spPr>
          <a:xfrm>
            <a:off x="594360" y="105156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83" name="Rectangle 7"/>
          <p:cNvSpPr/>
          <p:nvPr/>
        </p:nvSpPr>
        <p:spPr>
          <a:xfrm>
            <a:off x="594360" y="1051560"/>
            <a:ext cx="72360" cy="95940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84" name="TextBox 8"/>
          <p:cNvSpPr/>
          <p:nvPr/>
        </p:nvSpPr>
        <p:spPr>
          <a:xfrm>
            <a:off x="1515240" y="1197720"/>
            <a:ext cx="162288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Source control</a:t>
            </a:r>
            <a:endParaRPr b="0" lang="en-IN" sz="1400" spc="-1" strike="noStrike">
              <a:solidFill>
                <a:srgbClr val="000000"/>
              </a:solidFill>
              <a:latin typeface="Arial"/>
            </a:endParaRPr>
          </a:p>
        </p:txBody>
      </p:sp>
      <p:sp>
        <p:nvSpPr>
          <p:cNvPr id="185" name="TextBox 9"/>
          <p:cNvSpPr/>
          <p:nvPr/>
        </p:nvSpPr>
        <p:spPr>
          <a:xfrm>
            <a:off x="795600" y="161856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GitHub</a:t>
            </a:r>
            <a:endParaRPr b="0" lang="en-IN" sz="1100" spc="-1" strike="noStrike">
              <a:solidFill>
                <a:srgbClr val="000000"/>
              </a:solidFill>
              <a:latin typeface="Arial"/>
            </a:endParaRPr>
          </a:p>
        </p:txBody>
      </p:sp>
      <p:sp>
        <p:nvSpPr>
          <p:cNvPr id="186" name="Rounded Rectangle 10"/>
          <p:cNvSpPr/>
          <p:nvPr/>
        </p:nvSpPr>
        <p:spPr>
          <a:xfrm>
            <a:off x="4434840" y="105156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87" name="Rectangle 11"/>
          <p:cNvSpPr/>
          <p:nvPr/>
        </p:nvSpPr>
        <p:spPr>
          <a:xfrm>
            <a:off x="4434840" y="1051560"/>
            <a:ext cx="72360" cy="95940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88" name="TextBox 12"/>
          <p:cNvSpPr/>
          <p:nvPr/>
        </p:nvSpPr>
        <p:spPr>
          <a:xfrm>
            <a:off x="5522040" y="1197720"/>
            <a:ext cx="12906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Application</a:t>
            </a:r>
            <a:endParaRPr b="0" lang="en-IN" sz="1400" spc="-1" strike="noStrike">
              <a:solidFill>
                <a:srgbClr val="000000"/>
              </a:solidFill>
              <a:latin typeface="Arial"/>
            </a:endParaRPr>
          </a:p>
        </p:txBody>
      </p:sp>
      <p:sp>
        <p:nvSpPr>
          <p:cNvPr id="189" name="TextBox 13"/>
          <p:cNvSpPr/>
          <p:nvPr/>
        </p:nvSpPr>
        <p:spPr>
          <a:xfrm>
            <a:off x="4636080" y="161856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React + Node.js</a:t>
            </a:r>
            <a:endParaRPr b="0" lang="en-IN" sz="1100" spc="-1" strike="noStrike">
              <a:solidFill>
                <a:srgbClr val="000000"/>
              </a:solidFill>
              <a:latin typeface="Arial"/>
            </a:endParaRPr>
          </a:p>
        </p:txBody>
      </p:sp>
      <p:sp>
        <p:nvSpPr>
          <p:cNvPr id="190" name="Rounded Rectangle 14"/>
          <p:cNvSpPr/>
          <p:nvPr/>
        </p:nvSpPr>
        <p:spPr>
          <a:xfrm>
            <a:off x="8275320" y="105156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91" name="Rectangle 15"/>
          <p:cNvSpPr/>
          <p:nvPr/>
        </p:nvSpPr>
        <p:spPr>
          <a:xfrm>
            <a:off x="8275320" y="1051560"/>
            <a:ext cx="72360" cy="95940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92" name="TextBox 16"/>
          <p:cNvSpPr/>
          <p:nvPr/>
        </p:nvSpPr>
        <p:spPr>
          <a:xfrm>
            <a:off x="9385200" y="1197720"/>
            <a:ext cx="124488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Containers</a:t>
            </a:r>
            <a:endParaRPr b="0" lang="en-IN" sz="1400" spc="-1" strike="noStrike">
              <a:solidFill>
                <a:srgbClr val="000000"/>
              </a:solidFill>
              <a:latin typeface="Arial"/>
            </a:endParaRPr>
          </a:p>
        </p:txBody>
      </p:sp>
      <p:sp>
        <p:nvSpPr>
          <p:cNvPr id="193" name="TextBox 17"/>
          <p:cNvSpPr/>
          <p:nvPr/>
        </p:nvSpPr>
        <p:spPr>
          <a:xfrm>
            <a:off x="8476560" y="161856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Docker + Docker Compose</a:t>
            </a:r>
            <a:endParaRPr b="0" lang="en-IN" sz="1100" spc="-1" strike="noStrike">
              <a:solidFill>
                <a:srgbClr val="000000"/>
              </a:solidFill>
              <a:latin typeface="Arial"/>
            </a:endParaRPr>
          </a:p>
        </p:txBody>
      </p:sp>
      <p:sp>
        <p:nvSpPr>
          <p:cNvPr id="194" name="Rounded Rectangle 18"/>
          <p:cNvSpPr/>
          <p:nvPr/>
        </p:nvSpPr>
        <p:spPr>
          <a:xfrm>
            <a:off x="594360" y="228600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95" name="Rectangle 19"/>
          <p:cNvSpPr/>
          <p:nvPr/>
        </p:nvSpPr>
        <p:spPr>
          <a:xfrm>
            <a:off x="594360" y="2286000"/>
            <a:ext cx="72360" cy="95940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96" name="TextBox 20"/>
          <p:cNvSpPr/>
          <p:nvPr/>
        </p:nvSpPr>
        <p:spPr>
          <a:xfrm>
            <a:off x="1958760" y="2432160"/>
            <a:ext cx="7358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Cloud</a:t>
            </a:r>
            <a:endParaRPr b="0" lang="en-IN" sz="1400" spc="-1" strike="noStrike">
              <a:solidFill>
                <a:srgbClr val="000000"/>
              </a:solidFill>
              <a:latin typeface="Arial"/>
            </a:endParaRPr>
          </a:p>
        </p:txBody>
      </p:sp>
      <p:sp>
        <p:nvSpPr>
          <p:cNvPr id="197" name="TextBox 21"/>
          <p:cNvSpPr/>
          <p:nvPr/>
        </p:nvSpPr>
        <p:spPr>
          <a:xfrm>
            <a:off x="795600" y="285300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Microsoft Azure</a:t>
            </a:r>
            <a:endParaRPr b="0" lang="en-IN" sz="1100" spc="-1" strike="noStrike">
              <a:solidFill>
                <a:srgbClr val="000000"/>
              </a:solidFill>
              <a:latin typeface="Arial"/>
            </a:endParaRPr>
          </a:p>
        </p:txBody>
      </p:sp>
      <p:sp>
        <p:nvSpPr>
          <p:cNvPr id="198" name="Rounded Rectangle 22"/>
          <p:cNvSpPr/>
          <p:nvPr/>
        </p:nvSpPr>
        <p:spPr>
          <a:xfrm>
            <a:off x="4434840" y="228600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99" name="Rectangle 23"/>
          <p:cNvSpPr/>
          <p:nvPr/>
        </p:nvSpPr>
        <p:spPr>
          <a:xfrm>
            <a:off x="4434840" y="2286000"/>
            <a:ext cx="72360" cy="95940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00" name="TextBox 24"/>
          <p:cNvSpPr/>
          <p:nvPr/>
        </p:nvSpPr>
        <p:spPr>
          <a:xfrm>
            <a:off x="5666040" y="2432160"/>
            <a:ext cx="10026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Registry</a:t>
            </a:r>
            <a:endParaRPr b="0" lang="en-IN" sz="1400" spc="-1" strike="noStrike">
              <a:solidFill>
                <a:srgbClr val="000000"/>
              </a:solidFill>
              <a:latin typeface="Arial"/>
            </a:endParaRPr>
          </a:p>
        </p:txBody>
      </p:sp>
      <p:sp>
        <p:nvSpPr>
          <p:cNvPr id="201" name="TextBox 25"/>
          <p:cNvSpPr/>
          <p:nvPr/>
        </p:nvSpPr>
        <p:spPr>
          <a:xfrm>
            <a:off x="4636080" y="285300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Azure Container Registry</a:t>
            </a:r>
            <a:endParaRPr b="0" lang="en-IN" sz="1100" spc="-1" strike="noStrike">
              <a:solidFill>
                <a:srgbClr val="000000"/>
              </a:solidFill>
              <a:latin typeface="Arial"/>
            </a:endParaRPr>
          </a:p>
        </p:txBody>
      </p:sp>
      <p:sp>
        <p:nvSpPr>
          <p:cNvPr id="202" name="Rounded Rectangle 26"/>
          <p:cNvSpPr/>
          <p:nvPr/>
        </p:nvSpPr>
        <p:spPr>
          <a:xfrm>
            <a:off x="8275320" y="228600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03" name="Rectangle 27"/>
          <p:cNvSpPr/>
          <p:nvPr/>
        </p:nvSpPr>
        <p:spPr>
          <a:xfrm>
            <a:off x="8275320" y="2286000"/>
            <a:ext cx="72360" cy="95940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04" name="TextBox 28"/>
          <p:cNvSpPr/>
          <p:nvPr/>
        </p:nvSpPr>
        <p:spPr>
          <a:xfrm>
            <a:off x="9244440" y="2432160"/>
            <a:ext cx="15267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Orchestration</a:t>
            </a:r>
            <a:endParaRPr b="0" lang="en-IN" sz="1400" spc="-1" strike="noStrike">
              <a:solidFill>
                <a:srgbClr val="000000"/>
              </a:solidFill>
              <a:latin typeface="Arial"/>
            </a:endParaRPr>
          </a:p>
        </p:txBody>
      </p:sp>
      <p:sp>
        <p:nvSpPr>
          <p:cNvPr id="205" name="TextBox 29"/>
          <p:cNvSpPr/>
          <p:nvPr/>
        </p:nvSpPr>
        <p:spPr>
          <a:xfrm>
            <a:off x="8476560" y="285300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AKS + Kubernetes</a:t>
            </a:r>
            <a:endParaRPr b="0" lang="en-IN" sz="1100" spc="-1" strike="noStrike">
              <a:solidFill>
                <a:srgbClr val="000000"/>
              </a:solidFill>
              <a:latin typeface="Arial"/>
            </a:endParaRPr>
          </a:p>
        </p:txBody>
      </p:sp>
      <p:sp>
        <p:nvSpPr>
          <p:cNvPr id="206" name="Rounded Rectangle 30"/>
          <p:cNvSpPr/>
          <p:nvPr/>
        </p:nvSpPr>
        <p:spPr>
          <a:xfrm>
            <a:off x="594360" y="352044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07" name="Rectangle 31"/>
          <p:cNvSpPr/>
          <p:nvPr/>
        </p:nvSpPr>
        <p:spPr>
          <a:xfrm>
            <a:off x="594360" y="3520440"/>
            <a:ext cx="72360" cy="95940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08" name="TextBox 32"/>
          <p:cNvSpPr/>
          <p:nvPr/>
        </p:nvSpPr>
        <p:spPr>
          <a:xfrm>
            <a:off x="1577160" y="3666600"/>
            <a:ext cx="14994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Configuration</a:t>
            </a:r>
            <a:endParaRPr b="0" lang="en-IN" sz="1400" spc="-1" strike="noStrike">
              <a:solidFill>
                <a:srgbClr val="000000"/>
              </a:solidFill>
              <a:latin typeface="Arial"/>
            </a:endParaRPr>
          </a:p>
        </p:txBody>
      </p:sp>
      <p:sp>
        <p:nvSpPr>
          <p:cNvPr id="209" name="TextBox 33"/>
          <p:cNvSpPr/>
          <p:nvPr/>
        </p:nvSpPr>
        <p:spPr>
          <a:xfrm>
            <a:off x="795600" y="408744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Kustomize</a:t>
            </a:r>
            <a:endParaRPr b="0" lang="en-IN" sz="1100" spc="-1" strike="noStrike">
              <a:solidFill>
                <a:srgbClr val="000000"/>
              </a:solidFill>
              <a:latin typeface="Arial"/>
            </a:endParaRPr>
          </a:p>
        </p:txBody>
      </p:sp>
      <p:sp>
        <p:nvSpPr>
          <p:cNvPr id="210" name="Rounded Rectangle 34"/>
          <p:cNvSpPr/>
          <p:nvPr/>
        </p:nvSpPr>
        <p:spPr>
          <a:xfrm>
            <a:off x="4434840" y="352044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11" name="Rectangle 35"/>
          <p:cNvSpPr/>
          <p:nvPr/>
        </p:nvSpPr>
        <p:spPr>
          <a:xfrm>
            <a:off x="4434840" y="3520440"/>
            <a:ext cx="72360" cy="95940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12" name="TextBox 36"/>
          <p:cNvSpPr/>
          <p:nvPr/>
        </p:nvSpPr>
        <p:spPr>
          <a:xfrm>
            <a:off x="5808600" y="3666600"/>
            <a:ext cx="71748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CI/CD</a:t>
            </a:r>
            <a:endParaRPr b="0" lang="en-IN" sz="1400" spc="-1" strike="noStrike">
              <a:solidFill>
                <a:srgbClr val="000000"/>
              </a:solidFill>
              <a:latin typeface="Arial"/>
            </a:endParaRPr>
          </a:p>
        </p:txBody>
      </p:sp>
      <p:sp>
        <p:nvSpPr>
          <p:cNvPr id="213" name="TextBox 37"/>
          <p:cNvSpPr/>
          <p:nvPr/>
        </p:nvSpPr>
        <p:spPr>
          <a:xfrm>
            <a:off x="4636080" y="408744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Azure DevOps</a:t>
            </a:r>
            <a:endParaRPr b="0" lang="en-IN" sz="1100" spc="-1" strike="noStrike">
              <a:solidFill>
                <a:srgbClr val="000000"/>
              </a:solidFill>
              <a:latin typeface="Arial"/>
            </a:endParaRPr>
          </a:p>
        </p:txBody>
      </p:sp>
      <p:sp>
        <p:nvSpPr>
          <p:cNvPr id="214" name="Rounded Rectangle 38"/>
          <p:cNvSpPr/>
          <p:nvPr/>
        </p:nvSpPr>
        <p:spPr>
          <a:xfrm>
            <a:off x="8275320" y="352044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15" name="Rectangle 39"/>
          <p:cNvSpPr/>
          <p:nvPr/>
        </p:nvSpPr>
        <p:spPr>
          <a:xfrm>
            <a:off x="8275320" y="3520440"/>
            <a:ext cx="72360" cy="95940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16" name="TextBox 40"/>
          <p:cNvSpPr/>
          <p:nvPr/>
        </p:nvSpPr>
        <p:spPr>
          <a:xfrm>
            <a:off x="9571320" y="3666600"/>
            <a:ext cx="8730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Quality</a:t>
            </a:r>
            <a:endParaRPr b="0" lang="en-IN" sz="1400" spc="-1" strike="noStrike">
              <a:solidFill>
                <a:srgbClr val="000000"/>
              </a:solidFill>
              <a:latin typeface="Arial"/>
            </a:endParaRPr>
          </a:p>
        </p:txBody>
      </p:sp>
      <p:sp>
        <p:nvSpPr>
          <p:cNvPr id="217" name="TextBox 41"/>
          <p:cNvSpPr/>
          <p:nvPr/>
        </p:nvSpPr>
        <p:spPr>
          <a:xfrm>
            <a:off x="8476560" y="408744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SonarCloud</a:t>
            </a:r>
            <a:endParaRPr b="0" lang="en-IN" sz="1100" spc="-1" strike="noStrike">
              <a:solidFill>
                <a:srgbClr val="000000"/>
              </a:solidFill>
              <a:latin typeface="Arial"/>
            </a:endParaRPr>
          </a:p>
        </p:txBody>
      </p:sp>
      <p:sp>
        <p:nvSpPr>
          <p:cNvPr id="218" name="Rounded Rectangle 42"/>
          <p:cNvSpPr/>
          <p:nvPr/>
        </p:nvSpPr>
        <p:spPr>
          <a:xfrm>
            <a:off x="594360" y="475488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19" name="Rectangle 43"/>
          <p:cNvSpPr/>
          <p:nvPr/>
        </p:nvSpPr>
        <p:spPr>
          <a:xfrm>
            <a:off x="594360" y="4754880"/>
            <a:ext cx="72360" cy="95940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20" name="TextBox 44"/>
          <p:cNvSpPr/>
          <p:nvPr/>
        </p:nvSpPr>
        <p:spPr>
          <a:xfrm>
            <a:off x="1830960" y="4901040"/>
            <a:ext cx="991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Security</a:t>
            </a:r>
            <a:endParaRPr b="0" lang="en-IN" sz="1400" spc="-1" strike="noStrike">
              <a:solidFill>
                <a:srgbClr val="000000"/>
              </a:solidFill>
              <a:latin typeface="Arial"/>
            </a:endParaRPr>
          </a:p>
        </p:txBody>
      </p:sp>
      <p:sp>
        <p:nvSpPr>
          <p:cNvPr id="221" name="TextBox 45"/>
          <p:cNvSpPr/>
          <p:nvPr/>
        </p:nvSpPr>
        <p:spPr>
          <a:xfrm>
            <a:off x="795600" y="532188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Trivy</a:t>
            </a:r>
            <a:endParaRPr b="0" lang="en-IN" sz="1100" spc="-1" strike="noStrike">
              <a:solidFill>
                <a:srgbClr val="000000"/>
              </a:solidFill>
              <a:latin typeface="Arial"/>
            </a:endParaRPr>
          </a:p>
        </p:txBody>
      </p:sp>
      <p:sp>
        <p:nvSpPr>
          <p:cNvPr id="222" name="Rounded Rectangle 46"/>
          <p:cNvSpPr/>
          <p:nvPr/>
        </p:nvSpPr>
        <p:spPr>
          <a:xfrm>
            <a:off x="4434840" y="475488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23" name="Rectangle 47"/>
          <p:cNvSpPr/>
          <p:nvPr/>
        </p:nvSpPr>
        <p:spPr>
          <a:xfrm>
            <a:off x="4434840" y="4754880"/>
            <a:ext cx="72360" cy="95940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24" name="TextBox 48"/>
          <p:cNvSpPr/>
          <p:nvPr/>
        </p:nvSpPr>
        <p:spPr>
          <a:xfrm>
            <a:off x="5745960" y="4901040"/>
            <a:ext cx="8424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GitOps</a:t>
            </a:r>
            <a:endParaRPr b="0" lang="en-IN" sz="1400" spc="-1" strike="noStrike">
              <a:solidFill>
                <a:srgbClr val="000000"/>
              </a:solidFill>
              <a:latin typeface="Arial"/>
            </a:endParaRPr>
          </a:p>
        </p:txBody>
      </p:sp>
      <p:sp>
        <p:nvSpPr>
          <p:cNvPr id="225" name="TextBox 49"/>
          <p:cNvSpPr/>
          <p:nvPr/>
        </p:nvSpPr>
        <p:spPr>
          <a:xfrm>
            <a:off x="4636080" y="532188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Argo CD</a:t>
            </a:r>
            <a:endParaRPr b="0" lang="en-IN" sz="1100" spc="-1" strike="noStrike">
              <a:solidFill>
                <a:srgbClr val="000000"/>
              </a:solidFill>
              <a:latin typeface="Arial"/>
            </a:endParaRPr>
          </a:p>
        </p:txBody>
      </p:sp>
      <p:sp>
        <p:nvSpPr>
          <p:cNvPr id="226" name="Rounded Rectangle 50"/>
          <p:cNvSpPr/>
          <p:nvPr/>
        </p:nvSpPr>
        <p:spPr>
          <a:xfrm>
            <a:off x="8275320" y="4754880"/>
            <a:ext cx="3428280" cy="9594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27" name="Rectangle 51"/>
          <p:cNvSpPr/>
          <p:nvPr/>
        </p:nvSpPr>
        <p:spPr>
          <a:xfrm>
            <a:off x="8275320" y="4754880"/>
            <a:ext cx="72360" cy="95940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28" name="TextBox 52"/>
          <p:cNvSpPr/>
          <p:nvPr/>
        </p:nvSpPr>
        <p:spPr>
          <a:xfrm>
            <a:off x="9268560" y="4901040"/>
            <a:ext cx="1478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rgbClr val="14223c"/>
                </a:solidFill>
                <a:latin typeface="Aptos"/>
              </a:rPr>
              <a:t>Observability</a:t>
            </a:r>
            <a:endParaRPr b="0" lang="en-IN" sz="1400" spc="-1" strike="noStrike">
              <a:solidFill>
                <a:srgbClr val="000000"/>
              </a:solidFill>
              <a:latin typeface="Arial"/>
            </a:endParaRPr>
          </a:p>
        </p:txBody>
      </p:sp>
      <p:sp>
        <p:nvSpPr>
          <p:cNvPr id="229" name="TextBox 53"/>
          <p:cNvSpPr/>
          <p:nvPr/>
        </p:nvSpPr>
        <p:spPr>
          <a:xfrm>
            <a:off x="8476560" y="5321880"/>
            <a:ext cx="3044160" cy="25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100" spc="-1" strike="noStrike">
                <a:solidFill>
                  <a:srgbClr val="2a3340"/>
                </a:solidFill>
                <a:latin typeface="Aptos"/>
              </a:rPr>
              <a:t>Azure Monitor / Kubernetes logs</a:t>
            </a:r>
            <a:endParaRPr b="0" lang="en-IN"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31" name="TextBox 3"/>
          <p:cNvSpPr/>
          <p:nvPr/>
        </p:nvSpPr>
        <p:spPr>
          <a:xfrm>
            <a:off x="1122120" y="255960"/>
            <a:ext cx="964224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5. Application Development — Frontend + Backend</a:t>
            </a:r>
            <a:endParaRPr b="0" lang="en-IN" sz="2700" spc="-1" strike="noStrike">
              <a:solidFill>
                <a:srgbClr val="000000"/>
              </a:solidFill>
              <a:latin typeface="Arial"/>
            </a:endParaRPr>
          </a:p>
        </p:txBody>
      </p:sp>
      <p:sp>
        <p:nvSpPr>
          <p:cNvPr id="232" name="TextBox 4"/>
          <p:cNvSpPr/>
          <p:nvPr/>
        </p:nvSpPr>
        <p:spPr>
          <a:xfrm>
            <a:off x="10551240" y="183960"/>
            <a:ext cx="1328760" cy="22608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IMPLEMENTATION</a:t>
            </a:r>
            <a:endParaRPr b="0" lang="en-IN" sz="900" spc="-1" strike="noStrike">
              <a:solidFill>
                <a:srgbClr val="000000"/>
              </a:solidFill>
              <a:latin typeface="Arial"/>
            </a:endParaRPr>
          </a:p>
        </p:txBody>
      </p:sp>
      <p:sp>
        <p:nvSpPr>
          <p:cNvPr id="233"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6</a:t>
            </a:r>
            <a:endParaRPr b="0" lang="en-IN" sz="800" spc="-1" strike="noStrike">
              <a:solidFill>
                <a:srgbClr val="000000"/>
              </a:solidFill>
              <a:latin typeface="Arial"/>
            </a:endParaRPr>
          </a:p>
        </p:txBody>
      </p:sp>
      <p:sp>
        <p:nvSpPr>
          <p:cNvPr id="234" name="Rounded Rectangle 6"/>
          <p:cNvSpPr/>
          <p:nvPr/>
        </p:nvSpPr>
        <p:spPr>
          <a:xfrm>
            <a:off x="594360" y="1051560"/>
            <a:ext cx="5165640" cy="18738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35" name="Rectangle 7"/>
          <p:cNvSpPr/>
          <p:nvPr/>
        </p:nvSpPr>
        <p:spPr>
          <a:xfrm>
            <a:off x="594360" y="1051560"/>
            <a:ext cx="72360" cy="187380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36" name="TextBox 8"/>
          <p:cNvSpPr/>
          <p:nvPr/>
        </p:nvSpPr>
        <p:spPr>
          <a:xfrm>
            <a:off x="2117520" y="1197720"/>
            <a:ext cx="21560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Frontend — React</a:t>
            </a:r>
            <a:endParaRPr b="0" lang="en-IN" sz="1600" spc="-1" strike="noStrike">
              <a:solidFill>
                <a:srgbClr val="000000"/>
              </a:solidFill>
              <a:latin typeface="Arial"/>
            </a:endParaRPr>
          </a:p>
        </p:txBody>
      </p:sp>
      <p:sp>
        <p:nvSpPr>
          <p:cNvPr id="237" name="TextBox 9"/>
          <p:cNvSpPr/>
          <p:nvPr/>
        </p:nvSpPr>
        <p:spPr>
          <a:xfrm>
            <a:off x="795600" y="1618560"/>
            <a:ext cx="478152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Components → Pages → Layouts → API services</a:t>
            </a:r>
            <a:br>
              <a:rPr sz="1300"/>
            </a:br>
            <a:br>
              <a:rPr sz="1300"/>
            </a:br>
            <a:r>
              <a:rPr b="0" lang="en-US" sz="1300" spc="-1" strike="noStrike">
                <a:solidFill>
                  <a:srgbClr val="2a3340"/>
                </a:solidFill>
                <a:latin typeface="Aptos"/>
              </a:rPr>
              <a:t>The frontend contains reusable components such as Header, Hero, RecipeList, SearchBar and status/error components.</a:t>
            </a:r>
            <a:endParaRPr b="0" lang="en-IN" sz="1300" spc="-1" strike="noStrike">
              <a:solidFill>
                <a:srgbClr val="000000"/>
              </a:solidFill>
              <a:latin typeface="Arial"/>
            </a:endParaRPr>
          </a:p>
        </p:txBody>
      </p:sp>
      <p:sp>
        <p:nvSpPr>
          <p:cNvPr id="238" name="Rounded Rectangle 10"/>
          <p:cNvSpPr/>
          <p:nvPr/>
        </p:nvSpPr>
        <p:spPr>
          <a:xfrm>
            <a:off x="6263640" y="1051560"/>
            <a:ext cx="5165640" cy="18738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39" name="Rectangle 11"/>
          <p:cNvSpPr/>
          <p:nvPr/>
        </p:nvSpPr>
        <p:spPr>
          <a:xfrm>
            <a:off x="6263640" y="1051560"/>
            <a:ext cx="72360" cy="187380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40" name="TextBox 12"/>
          <p:cNvSpPr/>
          <p:nvPr/>
        </p:nvSpPr>
        <p:spPr>
          <a:xfrm>
            <a:off x="7709760" y="1197720"/>
            <a:ext cx="231012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Backend — Node.js</a:t>
            </a:r>
            <a:endParaRPr b="0" lang="en-IN" sz="1600" spc="-1" strike="noStrike">
              <a:solidFill>
                <a:srgbClr val="000000"/>
              </a:solidFill>
              <a:latin typeface="Arial"/>
            </a:endParaRPr>
          </a:p>
        </p:txBody>
      </p:sp>
      <p:sp>
        <p:nvSpPr>
          <p:cNvPr id="241" name="TextBox 13"/>
          <p:cNvSpPr/>
          <p:nvPr/>
        </p:nvSpPr>
        <p:spPr>
          <a:xfrm>
            <a:off x="6464880" y="1618560"/>
            <a:ext cx="478152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Routes → Controllers → Services → Tests</a:t>
            </a:r>
            <a:br>
              <a:rPr sz="1300"/>
            </a:br>
            <a:br>
              <a:rPr sz="1300"/>
            </a:br>
            <a:r>
              <a:rPr b="0" lang="en-US" sz="1300" spc="-1" strike="noStrike">
                <a:solidFill>
                  <a:srgbClr val="2a3340"/>
                </a:solidFill>
                <a:latin typeface="Aptos"/>
              </a:rPr>
              <a:t>The backend exposes health and recipe APIs and separates request handling from business logic.</a:t>
            </a:r>
            <a:endParaRPr b="0" lang="en-IN" sz="1300" spc="-1" strike="noStrike">
              <a:solidFill>
                <a:srgbClr val="000000"/>
              </a:solidFill>
              <a:latin typeface="Arial"/>
            </a:endParaRPr>
          </a:p>
        </p:txBody>
      </p:sp>
      <p:sp>
        <p:nvSpPr>
          <p:cNvPr id="242" name="Rounded Rectangle 14"/>
          <p:cNvSpPr/>
          <p:nvPr/>
        </p:nvSpPr>
        <p:spPr>
          <a:xfrm>
            <a:off x="822960" y="3429000"/>
            <a:ext cx="4114080" cy="159948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43" name="TextBox 15"/>
          <p:cNvSpPr/>
          <p:nvPr/>
        </p:nvSpPr>
        <p:spPr>
          <a:xfrm>
            <a:off x="987480" y="3547800"/>
            <a:ext cx="3785040" cy="88308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300" spc="-1" strike="noStrike">
                <a:solidFill>
                  <a:srgbClr val="ffffff"/>
                </a:solidFill>
                <a:latin typeface="Cascadia Mono"/>
              </a:rPr>
              <a:t>GET /api/health</a:t>
            </a:r>
            <a:br>
              <a:rPr sz="1300"/>
            </a:br>
            <a:br>
              <a:rPr sz="1300"/>
            </a:br>
            <a:r>
              <a:rPr b="0" lang="en-US" sz="1300" spc="-1" strike="noStrike">
                <a:solidFill>
                  <a:srgbClr val="ffffff"/>
                </a:solidFill>
                <a:latin typeface="Cascadia Mono"/>
              </a:rPr>
              <a:t>Expected result:</a:t>
            </a:r>
            <a:br>
              <a:rPr sz="1300"/>
            </a:br>
            <a:r>
              <a:rPr b="0" lang="en-US" sz="1300" spc="-1" strike="noStrike">
                <a:solidFill>
                  <a:srgbClr val="ffffff"/>
                </a:solidFill>
                <a:latin typeface="Cascadia Mono"/>
              </a:rPr>
              <a:t>{"status":"ok"}</a:t>
            </a:r>
            <a:endParaRPr b="0" lang="en-IN" sz="1300" spc="-1" strike="noStrike">
              <a:solidFill>
                <a:srgbClr val="000000"/>
              </a:solidFill>
              <a:latin typeface="Arial"/>
            </a:endParaRPr>
          </a:p>
        </p:txBody>
      </p:sp>
      <p:sp>
        <p:nvSpPr>
          <p:cNvPr id="244" name="Rounded Rectangle 16"/>
          <p:cNvSpPr/>
          <p:nvPr/>
        </p:nvSpPr>
        <p:spPr>
          <a:xfrm>
            <a:off x="5212080" y="3246120"/>
            <a:ext cx="2833920" cy="187380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45" name="TextBox 17"/>
          <p:cNvSpPr/>
          <p:nvPr/>
        </p:nvSpPr>
        <p:spPr>
          <a:xfrm>
            <a:off x="5440680" y="3474720"/>
            <a:ext cx="2376720" cy="700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screenshots/frontend/04-frontend-enterprise-structure.png</a:t>
            </a:r>
            <a:endParaRPr b="0" lang="en-IN" sz="900" spc="-1" strike="noStrike">
              <a:solidFill>
                <a:srgbClr val="000000"/>
              </a:solidFill>
              <a:latin typeface="Arial"/>
            </a:endParaRPr>
          </a:p>
        </p:txBody>
      </p:sp>
      <p:sp>
        <p:nvSpPr>
          <p:cNvPr id="246" name="TextBox 18"/>
          <p:cNvSpPr/>
          <p:nvPr/>
        </p:nvSpPr>
        <p:spPr>
          <a:xfrm>
            <a:off x="5481360" y="6174360"/>
            <a:ext cx="22950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Evidence to show: frontend structure</a:t>
            </a:r>
            <a:endParaRPr b="0" lang="en-IN" sz="900" spc="-1" strike="noStrike">
              <a:solidFill>
                <a:srgbClr val="000000"/>
              </a:solidFill>
              <a:latin typeface="Arial"/>
            </a:endParaRPr>
          </a:p>
        </p:txBody>
      </p:sp>
      <p:sp>
        <p:nvSpPr>
          <p:cNvPr id="247" name="Rounded Rectangle 19"/>
          <p:cNvSpPr/>
          <p:nvPr/>
        </p:nvSpPr>
        <p:spPr>
          <a:xfrm>
            <a:off x="8229600" y="3246120"/>
            <a:ext cx="2833920" cy="187380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48" name="TextBox 20"/>
          <p:cNvSpPr/>
          <p:nvPr/>
        </p:nvSpPr>
        <p:spPr>
          <a:xfrm>
            <a:off x="8458200" y="3474720"/>
            <a:ext cx="237672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screenshots/backend/05-layered-backend-architecture.png</a:t>
            </a:r>
            <a:endParaRPr b="0" lang="en-IN" sz="900" spc="-1" strike="noStrike">
              <a:solidFill>
                <a:srgbClr val="000000"/>
              </a:solidFill>
              <a:latin typeface="Arial"/>
            </a:endParaRPr>
          </a:p>
        </p:txBody>
      </p:sp>
      <p:sp>
        <p:nvSpPr>
          <p:cNvPr id="249" name="TextBox 21"/>
          <p:cNvSpPr/>
          <p:nvPr/>
        </p:nvSpPr>
        <p:spPr>
          <a:xfrm>
            <a:off x="8500680" y="6174360"/>
            <a:ext cx="229176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Evidence to show: backend structure</a:t>
            </a:r>
            <a:endParaRPr b="0" lang="en-IN" sz="900" spc="-1" strike="noStrike">
              <a:solidFill>
                <a:srgbClr val="000000"/>
              </a:solidFill>
              <a:latin typeface="Arial"/>
            </a:endParaRPr>
          </a:p>
        </p:txBody>
      </p:sp>
      <p:pic>
        <p:nvPicPr>
          <p:cNvPr id="250" name="" descr=""/>
          <p:cNvPicPr/>
          <p:nvPr/>
        </p:nvPicPr>
        <p:blipFill>
          <a:blip r:embed="rId1"/>
        </p:blipFill>
        <p:spPr>
          <a:xfrm>
            <a:off x="8190360" y="3240000"/>
            <a:ext cx="2873160" cy="2916000"/>
          </a:xfrm>
          <a:prstGeom prst="rect">
            <a:avLst/>
          </a:prstGeom>
          <a:ln cap="rnd" w="0">
            <a:solidFill>
              <a:srgbClr val="000000"/>
            </a:solidFill>
          </a:ln>
        </p:spPr>
      </p:pic>
      <p:pic>
        <p:nvPicPr>
          <p:cNvPr id="251" name="" descr=""/>
          <p:cNvPicPr/>
          <p:nvPr/>
        </p:nvPicPr>
        <p:blipFill>
          <a:blip r:embed="rId2"/>
          <a:stretch/>
        </p:blipFill>
        <p:spPr>
          <a:xfrm>
            <a:off x="5132520" y="3240000"/>
            <a:ext cx="2913480" cy="29343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53"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54" name="TextBox 3"/>
          <p:cNvSpPr/>
          <p:nvPr/>
        </p:nvSpPr>
        <p:spPr>
          <a:xfrm>
            <a:off x="2228400" y="255960"/>
            <a:ext cx="742932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6. GitHub — Source Code Management</a:t>
            </a:r>
            <a:endParaRPr b="0" lang="en-IN" sz="2700" spc="-1" strike="noStrike">
              <a:solidFill>
                <a:srgbClr val="000000"/>
              </a:solidFill>
              <a:latin typeface="Arial"/>
            </a:endParaRPr>
          </a:p>
        </p:txBody>
      </p:sp>
      <p:sp>
        <p:nvSpPr>
          <p:cNvPr id="255" name="TextBox 4"/>
          <p:cNvSpPr/>
          <p:nvPr/>
        </p:nvSpPr>
        <p:spPr>
          <a:xfrm>
            <a:off x="10468080" y="311040"/>
            <a:ext cx="13287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IMPLEMENTATION</a:t>
            </a:r>
            <a:endParaRPr b="0" lang="en-IN" sz="900" spc="-1" strike="noStrike">
              <a:solidFill>
                <a:srgbClr val="000000"/>
              </a:solidFill>
              <a:latin typeface="Arial"/>
            </a:endParaRPr>
          </a:p>
        </p:txBody>
      </p:sp>
      <p:sp>
        <p:nvSpPr>
          <p:cNvPr id="256"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7</a:t>
            </a:r>
            <a:endParaRPr b="0" lang="en-IN" sz="800" spc="-1" strike="noStrike">
              <a:solidFill>
                <a:srgbClr val="000000"/>
              </a:solidFill>
              <a:latin typeface="Arial"/>
            </a:endParaRPr>
          </a:p>
        </p:txBody>
      </p:sp>
      <p:sp>
        <p:nvSpPr>
          <p:cNvPr id="257" name="Rounded Rectangle 6"/>
          <p:cNvSpPr/>
          <p:nvPr/>
        </p:nvSpPr>
        <p:spPr>
          <a:xfrm>
            <a:off x="594360" y="1051560"/>
            <a:ext cx="3656880" cy="19195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58" name="Rectangle 7"/>
          <p:cNvSpPr/>
          <p:nvPr/>
        </p:nvSpPr>
        <p:spPr>
          <a:xfrm>
            <a:off x="594360" y="1051560"/>
            <a:ext cx="72360" cy="191952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59" name="TextBox 8"/>
          <p:cNvSpPr/>
          <p:nvPr/>
        </p:nvSpPr>
        <p:spPr>
          <a:xfrm>
            <a:off x="1532880" y="1197720"/>
            <a:ext cx="18162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What I created</a:t>
            </a:r>
            <a:endParaRPr b="0" lang="en-IN" sz="1600" spc="-1" strike="noStrike">
              <a:solidFill>
                <a:srgbClr val="000000"/>
              </a:solidFill>
              <a:latin typeface="Arial"/>
            </a:endParaRPr>
          </a:p>
        </p:txBody>
      </p:sp>
      <p:sp>
        <p:nvSpPr>
          <p:cNvPr id="260" name="TextBox 9"/>
          <p:cNvSpPr/>
          <p:nvPr/>
        </p:nvSpPr>
        <p:spPr>
          <a:xfrm>
            <a:off x="795600" y="1618560"/>
            <a:ext cx="3272760" cy="136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2a3340"/>
                </a:solidFill>
                <a:latin typeface="Aptos"/>
              </a:rPr>
              <a:t>Repository:</a:t>
            </a:r>
            <a:br>
              <a:rPr sz="1200"/>
            </a:br>
            <a:r>
              <a:rPr b="0" lang="en-US" sz="1200" spc="-1" strike="noStrike">
                <a:solidFill>
                  <a:srgbClr val="2a3340"/>
                </a:solidFill>
                <a:latin typeface="Aptos"/>
              </a:rPr>
              <a:t>flavorforge-azure-devsecops-capstone</a:t>
            </a:r>
            <a:br>
              <a:rPr sz="1200"/>
            </a:br>
            <a:br>
              <a:rPr sz="1200"/>
            </a:br>
            <a:r>
              <a:rPr b="0" lang="en-US" sz="1200" spc="-1" strike="noStrike">
                <a:solidFill>
                  <a:srgbClr val="2a3340"/>
                </a:solidFill>
                <a:latin typeface="Aptos"/>
              </a:rPr>
              <a:t>The repository contains application code, Docker, Kubernetes, pipelines, Argo CD configuration, scripts and documentation.</a:t>
            </a:r>
            <a:endParaRPr b="0" lang="en-IN" sz="1200" spc="-1" strike="noStrike">
              <a:solidFill>
                <a:srgbClr val="000000"/>
              </a:solidFill>
              <a:latin typeface="Arial"/>
            </a:endParaRPr>
          </a:p>
        </p:txBody>
      </p:sp>
      <p:sp>
        <p:nvSpPr>
          <p:cNvPr id="261" name="Rounded Rectangle 10"/>
          <p:cNvSpPr/>
          <p:nvPr/>
        </p:nvSpPr>
        <p:spPr>
          <a:xfrm>
            <a:off x="4526280" y="1051560"/>
            <a:ext cx="3245400" cy="201096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62" name="TextBox 11"/>
          <p:cNvSpPr/>
          <p:nvPr/>
        </p:nvSpPr>
        <p:spPr>
          <a:xfrm>
            <a:off x="4754880" y="1280160"/>
            <a:ext cx="278820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screenshots/build-journey/02-github/01-github-repository.png</a:t>
            </a:r>
            <a:endParaRPr b="0" lang="en-IN" sz="900" spc="-1" strike="noStrike">
              <a:solidFill>
                <a:srgbClr val="000000"/>
              </a:solidFill>
              <a:latin typeface="Arial"/>
            </a:endParaRPr>
          </a:p>
        </p:txBody>
      </p:sp>
      <p:sp>
        <p:nvSpPr>
          <p:cNvPr id="263" name="TextBox 12"/>
          <p:cNvSpPr/>
          <p:nvPr/>
        </p:nvSpPr>
        <p:spPr>
          <a:xfrm>
            <a:off x="5364000" y="3108960"/>
            <a:ext cx="15696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GitHub repository</a:t>
            </a:r>
            <a:endParaRPr b="0" lang="en-IN" sz="900" spc="-1" strike="noStrike">
              <a:solidFill>
                <a:srgbClr val="000000"/>
              </a:solidFill>
              <a:latin typeface="Arial"/>
            </a:endParaRPr>
          </a:p>
        </p:txBody>
      </p:sp>
      <p:sp>
        <p:nvSpPr>
          <p:cNvPr id="264" name="Rounded Rectangle 13"/>
          <p:cNvSpPr/>
          <p:nvPr/>
        </p:nvSpPr>
        <p:spPr>
          <a:xfrm>
            <a:off x="8046720" y="1051560"/>
            <a:ext cx="3336840" cy="201096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65" name="TextBox 14"/>
          <p:cNvSpPr/>
          <p:nvPr/>
        </p:nvSpPr>
        <p:spPr>
          <a:xfrm>
            <a:off x="8211240" y="1170360"/>
            <a:ext cx="3007800" cy="63828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200" spc="-1" strike="noStrike">
                <a:solidFill>
                  <a:srgbClr val="ffffff"/>
                </a:solidFill>
                <a:latin typeface="Cascadia Mono"/>
              </a:rPr>
              <a:t>git status</a:t>
            </a:r>
            <a:br>
              <a:rPr sz="1200"/>
            </a:br>
            <a:r>
              <a:rPr b="0" lang="en-US" sz="1200" spc="-1" strike="noStrike">
                <a:solidFill>
                  <a:srgbClr val="ffffff"/>
                </a:solidFill>
                <a:latin typeface="Cascadia Mono"/>
              </a:rPr>
              <a:t>git remote -v</a:t>
            </a:r>
            <a:br>
              <a:rPr sz="1200"/>
            </a:br>
            <a:r>
              <a:rPr b="0" lang="en-US" sz="1200" spc="-1" strike="noStrike">
                <a:solidFill>
                  <a:srgbClr val="ffffff"/>
                </a:solidFill>
                <a:latin typeface="Cascadia Mono"/>
              </a:rPr>
              <a:t>git log --oneline -3</a:t>
            </a:r>
            <a:endParaRPr b="0" lang="en-IN" sz="1200" spc="-1" strike="noStrike">
              <a:solidFill>
                <a:srgbClr val="000000"/>
              </a:solidFill>
              <a:latin typeface="Arial"/>
            </a:endParaRPr>
          </a:p>
        </p:txBody>
      </p:sp>
      <p:sp>
        <p:nvSpPr>
          <p:cNvPr id="266" name="Rounded Rectangle 15"/>
          <p:cNvSpPr/>
          <p:nvPr/>
        </p:nvSpPr>
        <p:spPr>
          <a:xfrm>
            <a:off x="731520" y="3657600"/>
            <a:ext cx="10652040" cy="141660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67" name="Rectangle 16"/>
          <p:cNvSpPr/>
          <p:nvPr/>
        </p:nvSpPr>
        <p:spPr>
          <a:xfrm>
            <a:off x="731520" y="3657600"/>
            <a:ext cx="72360" cy="141660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68" name="TextBox 17"/>
          <p:cNvSpPr/>
          <p:nvPr/>
        </p:nvSpPr>
        <p:spPr>
          <a:xfrm>
            <a:off x="4798800" y="3803760"/>
            <a:ext cx="25538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How I implemented it</a:t>
            </a:r>
            <a:endParaRPr b="0" lang="en-IN" sz="1600" spc="-1" strike="noStrike">
              <a:solidFill>
                <a:srgbClr val="000000"/>
              </a:solidFill>
              <a:latin typeface="Arial"/>
            </a:endParaRPr>
          </a:p>
        </p:txBody>
      </p:sp>
      <p:sp>
        <p:nvSpPr>
          <p:cNvPr id="269" name="TextBox 18"/>
          <p:cNvSpPr/>
          <p:nvPr/>
        </p:nvSpPr>
        <p:spPr>
          <a:xfrm>
            <a:off x="932760" y="4224600"/>
            <a:ext cx="10267920" cy="48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Local Git repository → GitHub remote → versioned commits. I also configured Azure DevOps as another remote so the same repository history can be synchronized there.</a:t>
            </a:r>
            <a:endParaRPr b="0" lang="en-IN" sz="1300" spc="-1" strike="noStrike">
              <a:solidFill>
                <a:srgbClr val="000000"/>
              </a:solidFill>
              <a:latin typeface="Arial"/>
            </a:endParaRPr>
          </a:p>
        </p:txBody>
      </p:sp>
      <p:pic>
        <p:nvPicPr>
          <p:cNvPr id="270" name="" descr=""/>
          <p:cNvPicPr/>
          <p:nvPr/>
        </p:nvPicPr>
        <p:blipFill>
          <a:blip r:embed="rId1"/>
        </p:blipFill>
        <p:spPr>
          <a:xfrm>
            <a:off x="4526280" y="1051560"/>
            <a:ext cx="3387240" cy="200808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72"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73" name="TextBox 3"/>
          <p:cNvSpPr/>
          <p:nvPr/>
        </p:nvSpPr>
        <p:spPr>
          <a:xfrm>
            <a:off x="3140640" y="255960"/>
            <a:ext cx="560484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7. Docker — Containerization</a:t>
            </a:r>
            <a:endParaRPr b="0" lang="en-IN" sz="2700" spc="-1" strike="noStrike">
              <a:solidFill>
                <a:srgbClr val="000000"/>
              </a:solidFill>
              <a:latin typeface="Arial"/>
            </a:endParaRPr>
          </a:p>
        </p:txBody>
      </p:sp>
      <p:sp>
        <p:nvSpPr>
          <p:cNvPr id="274" name="TextBox 4"/>
          <p:cNvSpPr/>
          <p:nvPr/>
        </p:nvSpPr>
        <p:spPr>
          <a:xfrm>
            <a:off x="10468080" y="311040"/>
            <a:ext cx="13287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IMPLEMENTATION</a:t>
            </a:r>
            <a:endParaRPr b="0" lang="en-IN" sz="900" spc="-1" strike="noStrike">
              <a:solidFill>
                <a:srgbClr val="000000"/>
              </a:solidFill>
              <a:latin typeface="Arial"/>
            </a:endParaRPr>
          </a:p>
        </p:txBody>
      </p:sp>
      <p:sp>
        <p:nvSpPr>
          <p:cNvPr id="275"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8</a:t>
            </a:r>
            <a:endParaRPr b="0" lang="en-IN" sz="800" spc="-1" strike="noStrike">
              <a:solidFill>
                <a:srgbClr val="000000"/>
              </a:solidFill>
              <a:latin typeface="Arial"/>
            </a:endParaRPr>
          </a:p>
        </p:txBody>
      </p:sp>
      <p:sp>
        <p:nvSpPr>
          <p:cNvPr id="276" name="Rounded Rectangle 6"/>
          <p:cNvSpPr/>
          <p:nvPr/>
        </p:nvSpPr>
        <p:spPr>
          <a:xfrm>
            <a:off x="594360" y="1005840"/>
            <a:ext cx="3382560" cy="15994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77" name="Rectangle 7"/>
          <p:cNvSpPr/>
          <p:nvPr/>
        </p:nvSpPr>
        <p:spPr>
          <a:xfrm>
            <a:off x="594360" y="1005840"/>
            <a:ext cx="72360" cy="1599480"/>
          </a:xfrm>
          <a:prstGeom prst="rect">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78" name="TextBox 8"/>
          <p:cNvSpPr/>
          <p:nvPr/>
        </p:nvSpPr>
        <p:spPr>
          <a:xfrm>
            <a:off x="1495440" y="1152000"/>
            <a:ext cx="16167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Why Docker?</a:t>
            </a:r>
            <a:endParaRPr b="0" lang="en-IN" sz="1600" spc="-1" strike="noStrike">
              <a:solidFill>
                <a:srgbClr val="000000"/>
              </a:solidFill>
              <a:latin typeface="Arial"/>
            </a:endParaRPr>
          </a:p>
        </p:txBody>
      </p:sp>
      <p:sp>
        <p:nvSpPr>
          <p:cNvPr id="279" name="TextBox 9"/>
          <p:cNvSpPr/>
          <p:nvPr/>
        </p:nvSpPr>
        <p:spPr>
          <a:xfrm>
            <a:off x="795600" y="1572840"/>
            <a:ext cx="299844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a:t>
            </a:r>
            <a:r>
              <a:rPr b="0" lang="en-US" sz="1300" spc="-1" strike="noStrike">
                <a:solidFill>
                  <a:srgbClr val="2a3340"/>
                </a:solidFill>
                <a:latin typeface="Aptos"/>
              </a:rPr>
              <a:t>Works on my machine” becomes a reproducible application package.</a:t>
            </a:r>
            <a:endParaRPr b="0" lang="en-IN" sz="1300" spc="-1" strike="noStrike">
              <a:solidFill>
                <a:srgbClr val="000000"/>
              </a:solidFill>
              <a:latin typeface="Arial"/>
            </a:endParaRPr>
          </a:p>
        </p:txBody>
      </p:sp>
      <p:sp>
        <p:nvSpPr>
          <p:cNvPr id="280" name="Rounded Rectangle 10"/>
          <p:cNvSpPr/>
          <p:nvPr/>
        </p:nvSpPr>
        <p:spPr>
          <a:xfrm>
            <a:off x="4389120" y="1005840"/>
            <a:ext cx="3382560" cy="15994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81" name="Rectangle 11"/>
          <p:cNvSpPr/>
          <p:nvPr/>
        </p:nvSpPr>
        <p:spPr>
          <a:xfrm>
            <a:off x="4389120" y="1005840"/>
            <a:ext cx="72360" cy="15994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82" name="TextBox 12"/>
          <p:cNvSpPr/>
          <p:nvPr/>
        </p:nvSpPr>
        <p:spPr>
          <a:xfrm>
            <a:off x="5190480" y="1152000"/>
            <a:ext cx="18162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What I created</a:t>
            </a:r>
            <a:endParaRPr b="0" lang="en-IN" sz="1600" spc="-1" strike="noStrike">
              <a:solidFill>
                <a:srgbClr val="000000"/>
              </a:solidFill>
              <a:latin typeface="Arial"/>
            </a:endParaRPr>
          </a:p>
        </p:txBody>
      </p:sp>
      <p:sp>
        <p:nvSpPr>
          <p:cNvPr id="283" name="TextBox 13"/>
          <p:cNvSpPr/>
          <p:nvPr/>
        </p:nvSpPr>
        <p:spPr>
          <a:xfrm>
            <a:off x="4590360" y="1572840"/>
            <a:ext cx="299844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Separate Dockerfiles for frontend and backend, plus Docker Compose for local multi-container integration.</a:t>
            </a:r>
            <a:endParaRPr b="0" lang="en-IN" sz="1300" spc="-1" strike="noStrike">
              <a:solidFill>
                <a:srgbClr val="000000"/>
              </a:solidFill>
              <a:latin typeface="Arial"/>
            </a:endParaRPr>
          </a:p>
        </p:txBody>
      </p:sp>
      <p:sp>
        <p:nvSpPr>
          <p:cNvPr id="284" name="Rounded Rectangle 14"/>
          <p:cNvSpPr/>
          <p:nvPr/>
        </p:nvSpPr>
        <p:spPr>
          <a:xfrm>
            <a:off x="8183880" y="1005840"/>
            <a:ext cx="3382560" cy="15994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85" name="Rectangle 15"/>
          <p:cNvSpPr/>
          <p:nvPr/>
        </p:nvSpPr>
        <p:spPr>
          <a:xfrm>
            <a:off x="8183880" y="1005840"/>
            <a:ext cx="72360" cy="159948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86" name="TextBox 16"/>
          <p:cNvSpPr/>
          <p:nvPr/>
        </p:nvSpPr>
        <p:spPr>
          <a:xfrm>
            <a:off x="9162000" y="1152000"/>
            <a:ext cx="14626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Verification</a:t>
            </a:r>
            <a:endParaRPr b="0" lang="en-IN" sz="1600" spc="-1" strike="noStrike">
              <a:solidFill>
                <a:srgbClr val="000000"/>
              </a:solidFill>
              <a:latin typeface="Arial"/>
            </a:endParaRPr>
          </a:p>
        </p:txBody>
      </p:sp>
      <p:sp>
        <p:nvSpPr>
          <p:cNvPr id="287" name="TextBox 17"/>
          <p:cNvSpPr/>
          <p:nvPr/>
        </p:nvSpPr>
        <p:spPr>
          <a:xfrm>
            <a:off x="8385120" y="1572840"/>
            <a:ext cx="299844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Built images, started containers, checked processes, API health and the running website.</a:t>
            </a:r>
            <a:endParaRPr b="0" lang="en-IN" sz="1300" spc="-1" strike="noStrike">
              <a:solidFill>
                <a:srgbClr val="000000"/>
              </a:solidFill>
              <a:latin typeface="Arial"/>
            </a:endParaRPr>
          </a:p>
        </p:txBody>
      </p:sp>
      <p:sp>
        <p:nvSpPr>
          <p:cNvPr id="288" name="Rounded Rectangle 18"/>
          <p:cNvSpPr/>
          <p:nvPr/>
        </p:nvSpPr>
        <p:spPr>
          <a:xfrm>
            <a:off x="914400" y="3063240"/>
            <a:ext cx="1978200" cy="73080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89" name="TextBox 19"/>
          <p:cNvSpPr/>
          <p:nvPr/>
        </p:nvSpPr>
        <p:spPr>
          <a:xfrm>
            <a:off x="1495800" y="3154680"/>
            <a:ext cx="815040" cy="2880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300" spc="-1" strike="noStrike">
                <a:solidFill>
                  <a:srgbClr val="ffffff"/>
                </a:solidFill>
                <a:latin typeface="Aptos"/>
              </a:rPr>
              <a:t>Source</a:t>
            </a:r>
            <a:endParaRPr b="0" lang="en-IN" sz="1300" spc="-1" strike="noStrike">
              <a:solidFill>
                <a:srgbClr val="000000"/>
              </a:solidFill>
              <a:latin typeface="Arial"/>
            </a:endParaRPr>
          </a:p>
        </p:txBody>
      </p:sp>
      <p:sp>
        <p:nvSpPr>
          <p:cNvPr id="290" name="Chevron 20"/>
          <p:cNvSpPr/>
          <p:nvPr/>
        </p:nvSpPr>
        <p:spPr>
          <a:xfrm>
            <a:off x="2902320" y="33120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91" name="Rounded Rectangle 21"/>
          <p:cNvSpPr/>
          <p:nvPr/>
        </p:nvSpPr>
        <p:spPr>
          <a:xfrm>
            <a:off x="3002760" y="3063240"/>
            <a:ext cx="1978200" cy="73080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92" name="TextBox 22"/>
          <p:cNvSpPr/>
          <p:nvPr/>
        </p:nvSpPr>
        <p:spPr>
          <a:xfrm>
            <a:off x="3444120" y="3154680"/>
            <a:ext cx="1095480" cy="2880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300" spc="-1" strike="noStrike">
                <a:solidFill>
                  <a:srgbClr val="ffffff"/>
                </a:solidFill>
                <a:latin typeface="Aptos"/>
              </a:rPr>
              <a:t>Dockerfile</a:t>
            </a:r>
            <a:endParaRPr b="0" lang="en-IN" sz="1300" spc="-1" strike="noStrike">
              <a:solidFill>
                <a:srgbClr val="000000"/>
              </a:solidFill>
              <a:latin typeface="Arial"/>
            </a:endParaRPr>
          </a:p>
        </p:txBody>
      </p:sp>
      <p:sp>
        <p:nvSpPr>
          <p:cNvPr id="293" name="Chevron 23"/>
          <p:cNvSpPr/>
          <p:nvPr/>
        </p:nvSpPr>
        <p:spPr>
          <a:xfrm>
            <a:off x="4990680" y="33120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94" name="Rounded Rectangle 24"/>
          <p:cNvSpPr/>
          <p:nvPr/>
        </p:nvSpPr>
        <p:spPr>
          <a:xfrm>
            <a:off x="5091480" y="3063240"/>
            <a:ext cx="1978200" cy="73080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95" name="TextBox 25"/>
          <p:cNvSpPr/>
          <p:nvPr/>
        </p:nvSpPr>
        <p:spPr>
          <a:xfrm>
            <a:off x="5709240" y="3154680"/>
            <a:ext cx="741960" cy="2880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300" spc="-1" strike="noStrike">
                <a:solidFill>
                  <a:srgbClr val="ffffff"/>
                </a:solidFill>
                <a:latin typeface="Aptos"/>
              </a:rPr>
              <a:t>Image</a:t>
            </a:r>
            <a:endParaRPr b="0" lang="en-IN" sz="1300" spc="-1" strike="noStrike">
              <a:solidFill>
                <a:srgbClr val="000000"/>
              </a:solidFill>
              <a:latin typeface="Arial"/>
            </a:endParaRPr>
          </a:p>
        </p:txBody>
      </p:sp>
      <p:sp>
        <p:nvSpPr>
          <p:cNvPr id="296" name="Chevron 26"/>
          <p:cNvSpPr/>
          <p:nvPr/>
        </p:nvSpPr>
        <p:spPr>
          <a:xfrm>
            <a:off x="7079400" y="33120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97" name="Rounded Rectangle 27"/>
          <p:cNvSpPr/>
          <p:nvPr/>
        </p:nvSpPr>
        <p:spPr>
          <a:xfrm>
            <a:off x="7179840" y="3063240"/>
            <a:ext cx="1978200" cy="730800"/>
          </a:xfrm>
          <a:prstGeom prst="roundRect">
            <a:avLst>
              <a:gd name="adj" fmla="val 16667"/>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298" name="TextBox 28"/>
          <p:cNvSpPr/>
          <p:nvPr/>
        </p:nvSpPr>
        <p:spPr>
          <a:xfrm>
            <a:off x="7639200" y="3154680"/>
            <a:ext cx="1058760" cy="2880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300" spc="-1" strike="noStrike">
                <a:solidFill>
                  <a:srgbClr val="ffffff"/>
                </a:solidFill>
                <a:latin typeface="Aptos"/>
              </a:rPr>
              <a:t>Container</a:t>
            </a:r>
            <a:endParaRPr b="0" lang="en-IN" sz="1300" spc="-1" strike="noStrike">
              <a:solidFill>
                <a:srgbClr val="000000"/>
              </a:solidFill>
              <a:latin typeface="Arial"/>
            </a:endParaRPr>
          </a:p>
        </p:txBody>
      </p:sp>
      <p:sp>
        <p:nvSpPr>
          <p:cNvPr id="299" name="Chevron 29"/>
          <p:cNvSpPr/>
          <p:nvPr/>
        </p:nvSpPr>
        <p:spPr>
          <a:xfrm>
            <a:off x="9167760" y="33120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00" name="Rounded Rectangle 30"/>
          <p:cNvSpPr/>
          <p:nvPr/>
        </p:nvSpPr>
        <p:spPr>
          <a:xfrm>
            <a:off x="9268200" y="3063240"/>
            <a:ext cx="1978200" cy="73080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01" name="TextBox 31"/>
          <p:cNvSpPr/>
          <p:nvPr/>
        </p:nvSpPr>
        <p:spPr>
          <a:xfrm>
            <a:off x="9615960" y="3154680"/>
            <a:ext cx="1283040" cy="2880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300" spc="-1" strike="noStrike">
                <a:solidFill>
                  <a:srgbClr val="ffffff"/>
                </a:solidFill>
                <a:latin typeface="Aptos"/>
              </a:rPr>
              <a:t>Verified App</a:t>
            </a:r>
            <a:endParaRPr b="0" lang="en-IN" sz="1300" spc="-1" strike="noStrike">
              <a:solidFill>
                <a:srgbClr val="000000"/>
              </a:solidFill>
              <a:latin typeface="Arial"/>
            </a:endParaRPr>
          </a:p>
        </p:txBody>
      </p:sp>
      <p:sp>
        <p:nvSpPr>
          <p:cNvPr id="302" name="Rounded Rectangle 32"/>
          <p:cNvSpPr/>
          <p:nvPr/>
        </p:nvSpPr>
        <p:spPr>
          <a:xfrm>
            <a:off x="914400" y="4160520"/>
            <a:ext cx="4891320" cy="141660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03" name="TextBox 33"/>
          <p:cNvSpPr/>
          <p:nvPr/>
        </p:nvSpPr>
        <p:spPr>
          <a:xfrm>
            <a:off x="1078920" y="4279320"/>
            <a:ext cx="4562280" cy="118692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200" spc="-1" strike="noStrike">
                <a:solidFill>
                  <a:srgbClr val="ffffff"/>
                </a:solidFill>
                <a:latin typeface="Cascadia Mono"/>
              </a:rPr>
              <a:t>docker images</a:t>
            </a:r>
            <a:br>
              <a:rPr sz="1200"/>
            </a:br>
            <a:r>
              <a:rPr b="0" lang="en-US" sz="1200" spc="-1" strike="noStrike">
                <a:solidFill>
                  <a:srgbClr val="ffffff"/>
                </a:solidFill>
                <a:latin typeface="Cascadia Mono"/>
              </a:rPr>
              <a:t>docker ps</a:t>
            </a:r>
            <a:br>
              <a:rPr sz="1200"/>
            </a:br>
            <a:br>
              <a:rPr sz="1200"/>
            </a:br>
            <a:r>
              <a:rPr b="0" lang="en-US" sz="1200" spc="-1" strike="noStrike">
                <a:solidFill>
                  <a:srgbClr val="ffffff"/>
                </a:solidFill>
                <a:latin typeface="Cascadia Mono"/>
              </a:rPr>
              <a:t># Example flow</a:t>
            </a:r>
            <a:br>
              <a:rPr sz="1200"/>
            </a:br>
            <a:r>
              <a:rPr b="0" lang="en-US" sz="1200" spc="-1" strike="noStrike">
                <a:solidFill>
                  <a:srgbClr val="ffffff"/>
                </a:solidFill>
                <a:latin typeface="Cascadia Mono"/>
              </a:rPr>
              <a:t>docker build ...</a:t>
            </a:r>
            <a:br>
              <a:rPr sz="1200"/>
            </a:br>
            <a:r>
              <a:rPr b="0" lang="en-US" sz="1200" spc="-1" strike="noStrike">
                <a:solidFill>
                  <a:srgbClr val="ffffff"/>
                </a:solidFill>
                <a:latin typeface="Cascadia Mono"/>
              </a:rPr>
              <a:t>docker run ...</a:t>
            </a:r>
            <a:endParaRPr b="0" lang="en-IN" sz="1200" spc="-1" strike="noStrike">
              <a:solidFill>
                <a:srgbClr val="000000"/>
              </a:solidFill>
              <a:latin typeface="Arial"/>
            </a:endParaRPr>
          </a:p>
        </p:txBody>
      </p:sp>
      <p:sp>
        <p:nvSpPr>
          <p:cNvPr id="304" name="Rounded Rectangle 34"/>
          <p:cNvSpPr/>
          <p:nvPr/>
        </p:nvSpPr>
        <p:spPr>
          <a:xfrm>
            <a:off x="6126480" y="3977640"/>
            <a:ext cx="5028480" cy="182808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05" name="TextBox 35"/>
          <p:cNvSpPr/>
          <p:nvPr/>
        </p:nvSpPr>
        <p:spPr>
          <a:xfrm>
            <a:off x="6355080" y="4206240"/>
            <a:ext cx="4571280" cy="425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screenshots/docker/10-frontend-backend-container-running.png</a:t>
            </a:r>
            <a:endParaRPr b="0" lang="en-IN" sz="900" spc="-1" strike="noStrike">
              <a:solidFill>
                <a:srgbClr val="000000"/>
              </a:solidFill>
              <a:latin typeface="Arial"/>
            </a:endParaRPr>
          </a:p>
        </p:txBody>
      </p:sp>
      <p:sp>
        <p:nvSpPr>
          <p:cNvPr id="306" name="TextBox 36"/>
          <p:cNvSpPr/>
          <p:nvPr/>
        </p:nvSpPr>
        <p:spPr>
          <a:xfrm>
            <a:off x="7234920" y="6336000"/>
            <a:ext cx="28206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frontend + backend containers running</a:t>
            </a:r>
            <a:endParaRPr b="0" lang="en-IN" sz="900" spc="-1" strike="noStrike">
              <a:solidFill>
                <a:srgbClr val="000000"/>
              </a:solidFill>
              <a:latin typeface="Arial"/>
            </a:endParaRPr>
          </a:p>
        </p:txBody>
      </p:sp>
      <p:pic>
        <p:nvPicPr>
          <p:cNvPr id="307" name="" descr=""/>
          <p:cNvPicPr/>
          <p:nvPr/>
        </p:nvPicPr>
        <p:blipFill>
          <a:blip r:embed="rId1"/>
        </p:blipFill>
        <p:spPr>
          <a:xfrm>
            <a:off x="6120000" y="3960000"/>
            <a:ext cx="5219640" cy="233964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09"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10" name="TextBox 3"/>
          <p:cNvSpPr/>
          <p:nvPr/>
        </p:nvSpPr>
        <p:spPr>
          <a:xfrm>
            <a:off x="2672640" y="255960"/>
            <a:ext cx="654084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8. Azure — Resource Group + ACR</a:t>
            </a:r>
            <a:endParaRPr b="0" lang="en-IN" sz="2700" spc="-1" strike="noStrike">
              <a:solidFill>
                <a:srgbClr val="000000"/>
              </a:solidFill>
              <a:latin typeface="Arial"/>
            </a:endParaRPr>
          </a:p>
        </p:txBody>
      </p:sp>
      <p:sp>
        <p:nvSpPr>
          <p:cNvPr id="311" name="TextBox 4"/>
          <p:cNvSpPr/>
          <p:nvPr/>
        </p:nvSpPr>
        <p:spPr>
          <a:xfrm>
            <a:off x="10468080" y="311040"/>
            <a:ext cx="13287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IMPLEMENTATION</a:t>
            </a:r>
            <a:endParaRPr b="0" lang="en-IN" sz="900" spc="-1" strike="noStrike">
              <a:solidFill>
                <a:srgbClr val="000000"/>
              </a:solidFill>
              <a:latin typeface="Arial"/>
            </a:endParaRPr>
          </a:p>
        </p:txBody>
      </p:sp>
      <p:sp>
        <p:nvSpPr>
          <p:cNvPr id="312" name="TextBox 5"/>
          <p:cNvSpPr/>
          <p:nvPr/>
        </p:nvSpPr>
        <p:spPr>
          <a:xfrm>
            <a:off x="4834440" y="6510600"/>
            <a:ext cx="249156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9</a:t>
            </a:r>
            <a:endParaRPr b="0" lang="en-IN" sz="800" spc="-1" strike="noStrike">
              <a:solidFill>
                <a:srgbClr val="000000"/>
              </a:solidFill>
              <a:latin typeface="Arial"/>
            </a:endParaRPr>
          </a:p>
        </p:txBody>
      </p:sp>
      <p:sp>
        <p:nvSpPr>
          <p:cNvPr id="313" name="Rounded Rectangle 6"/>
          <p:cNvSpPr/>
          <p:nvPr/>
        </p:nvSpPr>
        <p:spPr>
          <a:xfrm>
            <a:off x="502920" y="9601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14" name="Rectangle 7"/>
          <p:cNvSpPr/>
          <p:nvPr/>
        </p:nvSpPr>
        <p:spPr>
          <a:xfrm>
            <a:off x="502920" y="960120"/>
            <a:ext cx="72360" cy="182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15" name="TextBox 8"/>
          <p:cNvSpPr/>
          <p:nvPr/>
        </p:nvSpPr>
        <p:spPr>
          <a:xfrm>
            <a:off x="1193040" y="1106280"/>
            <a:ext cx="208440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Resource Group</a:t>
            </a:r>
            <a:endParaRPr b="0" lang="en-IN" sz="1700" spc="-1" strike="noStrike">
              <a:solidFill>
                <a:srgbClr val="000000"/>
              </a:solidFill>
              <a:latin typeface="Arial"/>
            </a:endParaRPr>
          </a:p>
        </p:txBody>
      </p:sp>
      <p:sp>
        <p:nvSpPr>
          <p:cNvPr id="316" name="TextBox 9"/>
          <p:cNvSpPr/>
          <p:nvPr/>
        </p:nvSpPr>
        <p:spPr>
          <a:xfrm>
            <a:off x="704160" y="1527120"/>
            <a:ext cx="3044160" cy="943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pc="-1" strike="noStrike">
                <a:solidFill>
                  <a:srgbClr val="2a3340"/>
                </a:solidFill>
                <a:latin typeface="Aptos"/>
              </a:rPr>
              <a:t>flavorforge-rg</a:t>
            </a:r>
            <a:br>
              <a:rPr sz="1400"/>
            </a:br>
            <a:br>
              <a:rPr sz="1400"/>
            </a:br>
            <a:r>
              <a:rPr b="0" lang="en-US" sz="1400" spc="-1" strike="noStrike">
                <a:solidFill>
                  <a:srgbClr val="2a3340"/>
                </a:solidFill>
                <a:latin typeface="Aptos"/>
              </a:rPr>
              <a:t>Logical container for the Week 4 Azure resources.</a:t>
            </a:r>
            <a:endParaRPr b="0" lang="en-IN" sz="1400" spc="-1" strike="noStrike">
              <a:solidFill>
                <a:srgbClr val="000000"/>
              </a:solidFill>
              <a:latin typeface="Arial"/>
            </a:endParaRPr>
          </a:p>
        </p:txBody>
      </p:sp>
      <p:sp>
        <p:nvSpPr>
          <p:cNvPr id="317" name="Rounded Rectangle 10"/>
          <p:cNvSpPr/>
          <p:nvPr/>
        </p:nvSpPr>
        <p:spPr>
          <a:xfrm>
            <a:off x="4160520" y="9601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18" name="Rectangle 11"/>
          <p:cNvSpPr/>
          <p:nvPr/>
        </p:nvSpPr>
        <p:spPr>
          <a:xfrm>
            <a:off x="4160520" y="960120"/>
            <a:ext cx="72360" cy="1828080"/>
          </a:xfrm>
          <a:prstGeom prst="rect">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19" name="TextBox 12"/>
          <p:cNvSpPr/>
          <p:nvPr/>
        </p:nvSpPr>
        <p:spPr>
          <a:xfrm>
            <a:off x="4316760" y="1106280"/>
            <a:ext cx="315288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Azure Container Registry</a:t>
            </a:r>
            <a:endParaRPr b="0" lang="en-IN" sz="1700" spc="-1" strike="noStrike">
              <a:solidFill>
                <a:srgbClr val="000000"/>
              </a:solidFill>
              <a:latin typeface="Arial"/>
            </a:endParaRPr>
          </a:p>
        </p:txBody>
      </p:sp>
      <p:sp>
        <p:nvSpPr>
          <p:cNvPr id="320" name="TextBox 13"/>
          <p:cNvSpPr/>
          <p:nvPr/>
        </p:nvSpPr>
        <p:spPr>
          <a:xfrm>
            <a:off x="4361760" y="1635120"/>
            <a:ext cx="304416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flavorforgeacr2026ms</a:t>
            </a:r>
            <a:br>
              <a:rPr sz="1300"/>
            </a:br>
            <a:r>
              <a:rPr b="0" lang="en-US" sz="1300" spc="-1" strike="noStrike">
                <a:solidFill>
                  <a:srgbClr val="2a3340"/>
                </a:solidFill>
                <a:latin typeface="Aptos"/>
              </a:rPr>
              <a:t>Region: East US</a:t>
            </a:r>
            <a:br>
              <a:rPr sz="1300"/>
            </a:br>
            <a:r>
              <a:rPr b="0" lang="en-US" sz="1300" spc="-1" strike="noStrike">
                <a:solidFill>
                  <a:srgbClr val="2a3340"/>
                </a:solidFill>
                <a:latin typeface="Aptos"/>
              </a:rPr>
              <a:t>SKU: Basic</a:t>
            </a:r>
            <a:br>
              <a:rPr sz="1300"/>
            </a:br>
            <a:r>
              <a:rPr b="0" lang="en-US" sz="1300" spc="-1" strike="noStrike">
                <a:solidFill>
                  <a:srgbClr val="2a3340"/>
                </a:solidFill>
                <a:latin typeface="Aptos"/>
              </a:rPr>
              <a:t>Login server: flavorforgeacr2026ms.azurecr.io</a:t>
            </a:r>
            <a:endParaRPr b="0" lang="en-IN" sz="1300" spc="-1" strike="noStrike">
              <a:solidFill>
                <a:srgbClr val="000000"/>
              </a:solidFill>
              <a:latin typeface="Arial"/>
            </a:endParaRPr>
          </a:p>
        </p:txBody>
      </p:sp>
      <p:sp>
        <p:nvSpPr>
          <p:cNvPr id="321" name="Rounded Rectangle 14"/>
          <p:cNvSpPr/>
          <p:nvPr/>
        </p:nvSpPr>
        <p:spPr>
          <a:xfrm>
            <a:off x="7818120" y="960120"/>
            <a:ext cx="361116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22" name="Rectangle 15"/>
          <p:cNvSpPr/>
          <p:nvPr/>
        </p:nvSpPr>
        <p:spPr>
          <a:xfrm>
            <a:off x="7818120" y="960120"/>
            <a:ext cx="72360" cy="182808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23" name="TextBox 16"/>
          <p:cNvSpPr/>
          <p:nvPr/>
        </p:nvSpPr>
        <p:spPr>
          <a:xfrm>
            <a:off x="8948520" y="1106280"/>
            <a:ext cx="138672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Why ACR?</a:t>
            </a:r>
            <a:endParaRPr b="0" lang="en-IN" sz="1700" spc="-1" strike="noStrike">
              <a:solidFill>
                <a:srgbClr val="000000"/>
              </a:solidFill>
              <a:latin typeface="Arial"/>
            </a:endParaRPr>
          </a:p>
        </p:txBody>
      </p:sp>
      <p:sp>
        <p:nvSpPr>
          <p:cNvPr id="324" name="TextBox 17"/>
          <p:cNvSpPr/>
          <p:nvPr/>
        </p:nvSpPr>
        <p:spPr>
          <a:xfrm>
            <a:off x="8019360" y="1527120"/>
            <a:ext cx="3227040" cy="730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pc="-1" strike="noStrike">
                <a:solidFill>
                  <a:srgbClr val="2a3340"/>
                </a:solidFill>
                <a:latin typeface="Aptos"/>
              </a:rPr>
              <a:t>Docker images need a central registry so AKS can consume versioned images from Azure.</a:t>
            </a:r>
            <a:endParaRPr b="0" lang="en-IN" sz="1400" spc="-1" strike="noStrike">
              <a:solidFill>
                <a:srgbClr val="000000"/>
              </a:solidFill>
              <a:latin typeface="Arial"/>
            </a:endParaRPr>
          </a:p>
        </p:txBody>
      </p:sp>
      <p:sp>
        <p:nvSpPr>
          <p:cNvPr id="325" name="Rounded Rectangle 18"/>
          <p:cNvSpPr/>
          <p:nvPr/>
        </p:nvSpPr>
        <p:spPr>
          <a:xfrm>
            <a:off x="640080" y="3154680"/>
            <a:ext cx="3336840" cy="182808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26" name="TextBox 19"/>
          <p:cNvSpPr/>
          <p:nvPr/>
        </p:nvSpPr>
        <p:spPr>
          <a:xfrm>
            <a:off x="868680" y="3383280"/>
            <a:ext cx="287964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screenshots/azure/flavorforge-rg-microsoft-azure-resource-group.png</a:t>
            </a:r>
            <a:endParaRPr b="0" lang="en-IN" sz="900" spc="-1" strike="noStrike">
              <a:solidFill>
                <a:srgbClr val="000000"/>
              </a:solidFill>
              <a:latin typeface="Arial"/>
            </a:endParaRPr>
          </a:p>
        </p:txBody>
      </p:sp>
      <p:sp>
        <p:nvSpPr>
          <p:cNvPr id="327" name="TextBox 20"/>
          <p:cNvSpPr/>
          <p:nvPr/>
        </p:nvSpPr>
        <p:spPr>
          <a:xfrm>
            <a:off x="1393560" y="6145200"/>
            <a:ext cx="18298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Azure Resource Group</a:t>
            </a:r>
            <a:endParaRPr b="0" lang="en-IN" sz="900" spc="-1" strike="noStrike">
              <a:solidFill>
                <a:srgbClr val="000000"/>
              </a:solidFill>
              <a:latin typeface="Arial"/>
            </a:endParaRPr>
          </a:p>
        </p:txBody>
      </p:sp>
      <p:sp>
        <p:nvSpPr>
          <p:cNvPr id="328" name="Rounded Rectangle 21"/>
          <p:cNvSpPr/>
          <p:nvPr/>
        </p:nvSpPr>
        <p:spPr>
          <a:xfrm>
            <a:off x="4434840" y="3154680"/>
            <a:ext cx="3336840" cy="182808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29" name="TextBox 22"/>
          <p:cNvSpPr/>
          <p:nvPr/>
        </p:nvSpPr>
        <p:spPr>
          <a:xfrm>
            <a:off x="4663440" y="3383280"/>
            <a:ext cx="2879640" cy="425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screenshots/azure/04-acr-created.png</a:t>
            </a:r>
            <a:endParaRPr b="0" lang="en-IN" sz="900" spc="-1" strike="noStrike">
              <a:solidFill>
                <a:srgbClr val="000000"/>
              </a:solidFill>
              <a:latin typeface="Arial"/>
            </a:endParaRPr>
          </a:p>
        </p:txBody>
      </p:sp>
      <p:sp>
        <p:nvSpPr>
          <p:cNvPr id="330" name="TextBox 23"/>
          <p:cNvSpPr/>
          <p:nvPr/>
        </p:nvSpPr>
        <p:spPr>
          <a:xfrm>
            <a:off x="5470920" y="6145200"/>
            <a:ext cx="12646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ACR created</a:t>
            </a:r>
            <a:endParaRPr b="0" lang="en-IN" sz="900" spc="-1" strike="noStrike">
              <a:solidFill>
                <a:srgbClr val="000000"/>
              </a:solidFill>
              <a:latin typeface="Arial"/>
            </a:endParaRPr>
          </a:p>
        </p:txBody>
      </p:sp>
      <p:sp>
        <p:nvSpPr>
          <p:cNvPr id="331" name="Rounded Rectangle 24"/>
          <p:cNvSpPr/>
          <p:nvPr/>
        </p:nvSpPr>
        <p:spPr>
          <a:xfrm>
            <a:off x="8229600" y="3154680"/>
            <a:ext cx="3336840" cy="182808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32" name="TextBox 25"/>
          <p:cNvSpPr/>
          <p:nvPr/>
        </p:nvSpPr>
        <p:spPr>
          <a:xfrm>
            <a:off x="8458200" y="3383280"/>
            <a:ext cx="2879640" cy="425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screenshots/azure/25-acr-images.png</a:t>
            </a:r>
            <a:endParaRPr b="0" lang="en-IN" sz="900" spc="-1" strike="noStrike">
              <a:solidFill>
                <a:srgbClr val="000000"/>
              </a:solidFill>
              <a:latin typeface="Arial"/>
            </a:endParaRPr>
          </a:p>
        </p:txBody>
      </p:sp>
      <p:sp>
        <p:nvSpPr>
          <p:cNvPr id="333" name="TextBox 26"/>
          <p:cNvSpPr/>
          <p:nvPr/>
        </p:nvSpPr>
        <p:spPr>
          <a:xfrm>
            <a:off x="9203760" y="6145200"/>
            <a:ext cx="138816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images in ACR</a:t>
            </a:r>
            <a:endParaRPr b="0" lang="en-IN" sz="900" spc="-1" strike="noStrike">
              <a:solidFill>
                <a:srgbClr val="000000"/>
              </a:solidFill>
              <a:latin typeface="Arial"/>
            </a:endParaRPr>
          </a:p>
        </p:txBody>
      </p:sp>
      <p:pic>
        <p:nvPicPr>
          <p:cNvPr id="334" name="" descr=""/>
          <p:cNvPicPr/>
          <p:nvPr/>
        </p:nvPicPr>
        <p:blipFill>
          <a:blip r:embed="rId1"/>
        </p:blipFill>
        <p:spPr>
          <a:xfrm>
            <a:off x="8229600" y="3132000"/>
            <a:ext cx="3470040" cy="3012840"/>
          </a:xfrm>
          <a:prstGeom prst="rect">
            <a:avLst/>
          </a:prstGeom>
          <a:ln cap="rnd" w="0">
            <a:solidFill>
              <a:srgbClr val="000000"/>
            </a:solidFill>
          </a:ln>
        </p:spPr>
      </p:pic>
      <p:pic>
        <p:nvPicPr>
          <p:cNvPr id="335" name="" descr=""/>
          <p:cNvPicPr/>
          <p:nvPr/>
        </p:nvPicPr>
        <p:blipFill>
          <a:blip r:embed="rId2"/>
        </p:blipFill>
        <p:spPr>
          <a:xfrm>
            <a:off x="4320000" y="3154680"/>
            <a:ext cx="3563640" cy="2990160"/>
          </a:xfrm>
          <a:prstGeom prst="rect">
            <a:avLst/>
          </a:prstGeom>
          <a:ln cap="rnd" w="0">
            <a:solidFill>
              <a:srgbClr val="000000"/>
            </a:solidFill>
          </a:ln>
        </p:spPr>
      </p:pic>
      <p:pic>
        <p:nvPicPr>
          <p:cNvPr id="336" name="" descr=""/>
          <p:cNvPicPr/>
          <p:nvPr/>
        </p:nvPicPr>
        <p:blipFill>
          <a:blip r:embed="rId3"/>
        </p:blipFill>
        <p:spPr>
          <a:xfrm>
            <a:off x="395280" y="3139560"/>
            <a:ext cx="3581640" cy="300528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Rectangle 1"/>
          <p:cNvSpPr/>
          <p:nvPr/>
        </p:nvSpPr>
        <p:spPr>
          <a:xfrm>
            <a:off x="0" y="1188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38"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39" name="TextBox 3"/>
          <p:cNvSpPr/>
          <p:nvPr/>
        </p:nvSpPr>
        <p:spPr>
          <a:xfrm>
            <a:off x="3868200" y="255960"/>
            <a:ext cx="414972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9. Kubernetes &amp; AKS</a:t>
            </a:r>
            <a:endParaRPr b="0" lang="en-IN" sz="2700" spc="-1" strike="noStrike">
              <a:solidFill>
                <a:srgbClr val="000000"/>
              </a:solidFill>
              <a:latin typeface="Arial"/>
            </a:endParaRPr>
          </a:p>
        </p:txBody>
      </p:sp>
      <p:sp>
        <p:nvSpPr>
          <p:cNvPr id="340" name="TextBox 4"/>
          <p:cNvSpPr/>
          <p:nvPr/>
        </p:nvSpPr>
        <p:spPr>
          <a:xfrm>
            <a:off x="10468080" y="311040"/>
            <a:ext cx="13287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IMPLEMENTATION</a:t>
            </a:r>
            <a:endParaRPr b="0" lang="en-IN" sz="900" spc="-1" strike="noStrike">
              <a:solidFill>
                <a:srgbClr val="000000"/>
              </a:solidFill>
              <a:latin typeface="Arial"/>
            </a:endParaRPr>
          </a:p>
        </p:txBody>
      </p:sp>
      <p:sp>
        <p:nvSpPr>
          <p:cNvPr id="341"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10</a:t>
            </a:r>
            <a:endParaRPr b="0" lang="en-IN" sz="800" spc="-1" strike="noStrike">
              <a:solidFill>
                <a:srgbClr val="000000"/>
              </a:solidFill>
              <a:latin typeface="Arial"/>
            </a:endParaRPr>
          </a:p>
        </p:txBody>
      </p:sp>
      <p:sp>
        <p:nvSpPr>
          <p:cNvPr id="342" name="Rounded Rectangle 6"/>
          <p:cNvSpPr/>
          <p:nvPr/>
        </p:nvSpPr>
        <p:spPr>
          <a:xfrm>
            <a:off x="502920" y="960120"/>
            <a:ext cx="3474000" cy="16909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43" name="Rectangle 7"/>
          <p:cNvSpPr/>
          <p:nvPr/>
        </p:nvSpPr>
        <p:spPr>
          <a:xfrm>
            <a:off x="502920" y="960120"/>
            <a:ext cx="72360" cy="169092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44" name="TextBox 8"/>
          <p:cNvSpPr/>
          <p:nvPr/>
        </p:nvSpPr>
        <p:spPr>
          <a:xfrm>
            <a:off x="1931400" y="1106280"/>
            <a:ext cx="6534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AKS</a:t>
            </a:r>
            <a:endParaRPr b="0" lang="en-IN" sz="1600" spc="-1" strike="noStrike">
              <a:solidFill>
                <a:srgbClr val="000000"/>
              </a:solidFill>
              <a:latin typeface="Arial"/>
            </a:endParaRPr>
          </a:p>
        </p:txBody>
      </p:sp>
      <p:sp>
        <p:nvSpPr>
          <p:cNvPr id="345" name="TextBox 9"/>
          <p:cNvSpPr/>
          <p:nvPr/>
        </p:nvSpPr>
        <p:spPr>
          <a:xfrm>
            <a:off x="704160" y="1527120"/>
            <a:ext cx="308988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2a3340"/>
                </a:solidFill>
                <a:latin typeface="Aptos"/>
              </a:rPr>
              <a:t>Managed Kubernetes service.</a:t>
            </a:r>
            <a:br>
              <a:rPr sz="1200"/>
            </a:br>
            <a:r>
              <a:rPr b="0" lang="en-US" sz="1200" spc="-1" strike="noStrike">
                <a:solidFill>
                  <a:srgbClr val="2a3340"/>
                </a:solidFill>
                <a:latin typeface="Aptos"/>
              </a:rPr>
              <a:t>Cluster: flavorforge-aks</a:t>
            </a:r>
            <a:br>
              <a:rPr sz="1200"/>
            </a:br>
            <a:r>
              <a:rPr b="0" lang="en-US" sz="1200" spc="-1" strike="noStrike">
                <a:solidFill>
                  <a:srgbClr val="2a3340"/>
                </a:solidFill>
                <a:latin typeface="Aptos"/>
              </a:rPr>
              <a:t>Region: East US</a:t>
            </a:r>
            <a:br>
              <a:rPr sz="1200"/>
            </a:br>
            <a:r>
              <a:rPr b="0" lang="en-US" sz="1200" spc="-1" strike="noStrike">
                <a:solidFill>
                  <a:srgbClr val="2a3340"/>
                </a:solidFill>
                <a:latin typeface="Aptos"/>
              </a:rPr>
              <a:t>2 nodes</a:t>
            </a:r>
            <a:br>
              <a:rPr sz="1200"/>
            </a:br>
            <a:r>
              <a:rPr b="0" lang="en-US" sz="1200" spc="-1" strike="noStrike">
                <a:solidFill>
                  <a:srgbClr val="2a3340"/>
                </a:solidFill>
                <a:latin typeface="Aptos"/>
              </a:rPr>
              <a:t>Node size: Standard_D2as_v7</a:t>
            </a:r>
            <a:endParaRPr b="0" lang="en-IN" sz="1200" spc="-1" strike="noStrike">
              <a:solidFill>
                <a:srgbClr val="000000"/>
              </a:solidFill>
              <a:latin typeface="Arial"/>
            </a:endParaRPr>
          </a:p>
        </p:txBody>
      </p:sp>
      <p:sp>
        <p:nvSpPr>
          <p:cNvPr id="346" name="Rounded Rectangle 10"/>
          <p:cNvSpPr/>
          <p:nvPr/>
        </p:nvSpPr>
        <p:spPr>
          <a:xfrm>
            <a:off x="4206240" y="960120"/>
            <a:ext cx="3474000" cy="16909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47" name="Rectangle 11"/>
          <p:cNvSpPr/>
          <p:nvPr/>
        </p:nvSpPr>
        <p:spPr>
          <a:xfrm>
            <a:off x="4206240" y="960120"/>
            <a:ext cx="72360" cy="169092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48" name="TextBox 12"/>
          <p:cNvSpPr/>
          <p:nvPr/>
        </p:nvSpPr>
        <p:spPr>
          <a:xfrm>
            <a:off x="4763880" y="1106280"/>
            <a:ext cx="23954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Kubernetes Objects</a:t>
            </a:r>
            <a:endParaRPr b="0" lang="en-IN" sz="1600" spc="-1" strike="noStrike">
              <a:solidFill>
                <a:srgbClr val="000000"/>
              </a:solidFill>
              <a:latin typeface="Arial"/>
            </a:endParaRPr>
          </a:p>
        </p:txBody>
      </p:sp>
      <p:sp>
        <p:nvSpPr>
          <p:cNvPr id="349" name="TextBox 13"/>
          <p:cNvSpPr/>
          <p:nvPr/>
        </p:nvSpPr>
        <p:spPr>
          <a:xfrm>
            <a:off x="4407480" y="1527120"/>
            <a:ext cx="308988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Namespace → Deployments → Pods</a:t>
            </a:r>
            <a:br>
              <a:rPr sz="1300"/>
            </a:br>
            <a:r>
              <a:rPr b="0" lang="en-US" sz="1300" spc="-1" strike="noStrike">
                <a:solidFill>
                  <a:srgbClr val="2a3340"/>
                </a:solidFill>
                <a:latin typeface="Aptos"/>
              </a:rPr>
              <a:t>Services → Ingress → HPA</a:t>
            </a:r>
            <a:endParaRPr b="0" lang="en-IN" sz="1300" spc="-1" strike="noStrike">
              <a:solidFill>
                <a:srgbClr val="000000"/>
              </a:solidFill>
              <a:latin typeface="Arial"/>
            </a:endParaRPr>
          </a:p>
        </p:txBody>
      </p:sp>
      <p:sp>
        <p:nvSpPr>
          <p:cNvPr id="350" name="Rounded Rectangle 14"/>
          <p:cNvSpPr/>
          <p:nvPr/>
        </p:nvSpPr>
        <p:spPr>
          <a:xfrm>
            <a:off x="7909560" y="960120"/>
            <a:ext cx="3519720" cy="16909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51" name="Rectangle 15"/>
          <p:cNvSpPr/>
          <p:nvPr/>
        </p:nvSpPr>
        <p:spPr>
          <a:xfrm>
            <a:off x="7909560" y="960120"/>
            <a:ext cx="72360" cy="169092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52" name="TextBox 16"/>
          <p:cNvSpPr/>
          <p:nvPr/>
        </p:nvSpPr>
        <p:spPr>
          <a:xfrm>
            <a:off x="8109720" y="1106280"/>
            <a:ext cx="315612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What Kubernetes gives me</a:t>
            </a:r>
            <a:endParaRPr b="0" lang="en-IN" sz="1600" spc="-1" strike="noStrike">
              <a:solidFill>
                <a:srgbClr val="000000"/>
              </a:solidFill>
              <a:latin typeface="Arial"/>
            </a:endParaRPr>
          </a:p>
        </p:txBody>
      </p:sp>
      <p:sp>
        <p:nvSpPr>
          <p:cNvPr id="353" name="TextBox 17"/>
          <p:cNvSpPr/>
          <p:nvPr/>
        </p:nvSpPr>
        <p:spPr>
          <a:xfrm>
            <a:off x="8110800" y="1527120"/>
            <a:ext cx="313560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Desired state, scheduling, replica management, service discovery and rolling updates.</a:t>
            </a:r>
            <a:endParaRPr b="0" lang="en-IN" sz="1300" spc="-1" strike="noStrike">
              <a:solidFill>
                <a:srgbClr val="000000"/>
              </a:solidFill>
              <a:latin typeface="Arial"/>
            </a:endParaRPr>
          </a:p>
        </p:txBody>
      </p:sp>
      <p:sp>
        <p:nvSpPr>
          <p:cNvPr id="354" name="Rounded Rectangle 18"/>
          <p:cNvSpPr/>
          <p:nvPr/>
        </p:nvSpPr>
        <p:spPr>
          <a:xfrm>
            <a:off x="685800" y="3063240"/>
            <a:ext cx="4982760" cy="182808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sp>
        <p:nvSpPr>
          <p:cNvPr id="355" name="TextBox 19"/>
          <p:cNvSpPr/>
          <p:nvPr/>
        </p:nvSpPr>
        <p:spPr>
          <a:xfrm>
            <a:off x="850320" y="3182040"/>
            <a:ext cx="4653720" cy="92844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100" spc="-1" strike="noStrike">
                <a:solidFill>
                  <a:srgbClr val="ffffff"/>
                </a:solidFill>
                <a:latin typeface="Cascadia Mono"/>
              </a:rPr>
              <a:t>kubectl get nodes</a:t>
            </a:r>
            <a:br>
              <a:rPr sz="1100"/>
            </a:br>
            <a:r>
              <a:rPr b="0" lang="en-US" sz="1100" spc="-1" strike="noStrike">
                <a:solidFill>
                  <a:srgbClr val="ffffff"/>
                </a:solidFill>
                <a:latin typeface="Cascadia Mono"/>
              </a:rPr>
              <a:t>kubectl get all -n flavorforge</a:t>
            </a:r>
            <a:br>
              <a:rPr sz="1100"/>
            </a:br>
            <a:r>
              <a:rPr b="0" lang="en-US" sz="1100" spc="-1" strike="noStrike">
                <a:solidFill>
                  <a:srgbClr val="ffffff"/>
                </a:solidFill>
                <a:latin typeface="Cascadia Mono"/>
              </a:rPr>
              <a:t>kubectl get pods -n flavorforge</a:t>
            </a:r>
            <a:br>
              <a:rPr sz="1100"/>
            </a:br>
            <a:r>
              <a:rPr b="0" lang="en-US" sz="1100" spc="-1" strike="noStrike">
                <a:solidFill>
                  <a:srgbClr val="ffffff"/>
                </a:solidFill>
                <a:latin typeface="Cascadia Mono"/>
              </a:rPr>
              <a:t>kubectl get svc -n flavorforge</a:t>
            </a:r>
            <a:endParaRPr b="0" lang="en-IN" sz="1100" spc="-1" strike="noStrike">
              <a:solidFill>
                <a:srgbClr val="000000"/>
              </a:solidFill>
              <a:latin typeface="Arial"/>
            </a:endParaRPr>
          </a:p>
          <a:p>
            <a:pPr defTabSz="457200">
              <a:lnSpc>
                <a:spcPct val="100000"/>
              </a:lnSpc>
            </a:pPr>
            <a:r>
              <a:rPr b="0" lang="en-US" sz="1100" spc="-1" strike="noStrike">
                <a:solidFill>
                  <a:srgbClr val="ffffff"/>
                </a:solidFill>
                <a:latin typeface="Cascadia Mono"/>
              </a:rPr>
              <a:t>kubectl get deployments -n flavorforge</a:t>
            </a:r>
            <a:endParaRPr b="0" lang="en-IN" sz="1100" spc="-1" strike="noStrike">
              <a:solidFill>
                <a:srgbClr val="000000"/>
              </a:solidFill>
              <a:latin typeface="Arial"/>
            </a:endParaRPr>
          </a:p>
        </p:txBody>
      </p:sp>
      <p:sp>
        <p:nvSpPr>
          <p:cNvPr id="356" name="Rounded Rectangle 20"/>
          <p:cNvSpPr/>
          <p:nvPr/>
        </p:nvSpPr>
        <p:spPr>
          <a:xfrm>
            <a:off x="5989320" y="2971800"/>
            <a:ext cx="5211360" cy="201096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57" name="TextBox 21"/>
          <p:cNvSpPr/>
          <p:nvPr/>
        </p:nvSpPr>
        <p:spPr>
          <a:xfrm>
            <a:off x="6217920" y="3200400"/>
            <a:ext cx="4754160" cy="425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screenshots/kubernetes/kubectl-get-all-n-flavorforge.png</a:t>
            </a:r>
            <a:endParaRPr b="0" lang="en-IN" sz="900" spc="-1" strike="noStrike">
              <a:solidFill>
                <a:srgbClr val="000000"/>
              </a:solidFill>
              <a:latin typeface="Arial"/>
            </a:endParaRPr>
          </a:p>
        </p:txBody>
      </p:sp>
      <p:sp>
        <p:nvSpPr>
          <p:cNvPr id="358" name="TextBox 22"/>
          <p:cNvSpPr/>
          <p:nvPr/>
        </p:nvSpPr>
        <p:spPr>
          <a:xfrm>
            <a:off x="7442280" y="6253200"/>
            <a:ext cx="23054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running Kubernetes workloads</a:t>
            </a:r>
            <a:endParaRPr b="0" lang="en-IN" sz="900" spc="-1" strike="noStrike">
              <a:solidFill>
                <a:srgbClr val="000000"/>
              </a:solidFill>
              <a:latin typeface="Arial"/>
            </a:endParaRPr>
          </a:p>
        </p:txBody>
      </p:sp>
      <p:pic>
        <p:nvPicPr>
          <p:cNvPr id="359" name="" descr=""/>
          <p:cNvPicPr/>
          <p:nvPr/>
        </p:nvPicPr>
        <p:blipFill>
          <a:blip r:embed="rId1"/>
        </p:blipFill>
        <p:spPr>
          <a:xfrm>
            <a:off x="5940000" y="2937240"/>
            <a:ext cx="5759640" cy="331560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61"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62" name="TextBox 3"/>
          <p:cNvSpPr/>
          <p:nvPr/>
        </p:nvSpPr>
        <p:spPr>
          <a:xfrm>
            <a:off x="1792080" y="255960"/>
            <a:ext cx="830232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10. Kustomize — Environment Management</a:t>
            </a:r>
            <a:endParaRPr b="0" lang="en-IN" sz="2700" spc="-1" strike="noStrike">
              <a:solidFill>
                <a:srgbClr val="000000"/>
              </a:solidFill>
              <a:latin typeface="Arial"/>
            </a:endParaRPr>
          </a:p>
        </p:txBody>
      </p:sp>
      <p:sp>
        <p:nvSpPr>
          <p:cNvPr id="363" name="TextBox 4"/>
          <p:cNvSpPr/>
          <p:nvPr/>
        </p:nvSpPr>
        <p:spPr>
          <a:xfrm>
            <a:off x="10468080" y="311040"/>
            <a:ext cx="13287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IMPLEMENTATION</a:t>
            </a:r>
            <a:endParaRPr b="0" lang="en-IN" sz="900" spc="-1" strike="noStrike">
              <a:solidFill>
                <a:srgbClr val="000000"/>
              </a:solidFill>
              <a:latin typeface="Arial"/>
            </a:endParaRPr>
          </a:p>
        </p:txBody>
      </p:sp>
      <p:sp>
        <p:nvSpPr>
          <p:cNvPr id="364"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11</a:t>
            </a:r>
            <a:endParaRPr b="0" lang="en-IN" sz="800" spc="-1" strike="noStrike">
              <a:solidFill>
                <a:srgbClr val="000000"/>
              </a:solidFill>
              <a:latin typeface="Arial"/>
            </a:endParaRPr>
          </a:p>
        </p:txBody>
      </p:sp>
      <p:sp>
        <p:nvSpPr>
          <p:cNvPr id="365" name="Rounded Rectangle 6"/>
          <p:cNvSpPr/>
          <p:nvPr/>
        </p:nvSpPr>
        <p:spPr>
          <a:xfrm>
            <a:off x="594360" y="960120"/>
            <a:ext cx="4982760" cy="16909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66" name="Rectangle 7"/>
          <p:cNvSpPr/>
          <p:nvPr/>
        </p:nvSpPr>
        <p:spPr>
          <a:xfrm>
            <a:off x="594360" y="960120"/>
            <a:ext cx="72360" cy="169092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67" name="TextBox 8"/>
          <p:cNvSpPr/>
          <p:nvPr/>
        </p:nvSpPr>
        <p:spPr>
          <a:xfrm>
            <a:off x="1965600" y="1106280"/>
            <a:ext cx="22766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Base configuration</a:t>
            </a:r>
            <a:endParaRPr b="0" lang="en-IN" sz="1600" spc="-1" strike="noStrike">
              <a:solidFill>
                <a:srgbClr val="000000"/>
              </a:solidFill>
              <a:latin typeface="Arial"/>
            </a:endParaRPr>
          </a:p>
        </p:txBody>
      </p:sp>
      <p:sp>
        <p:nvSpPr>
          <p:cNvPr id="368" name="TextBox 9"/>
          <p:cNvSpPr/>
          <p:nvPr/>
        </p:nvSpPr>
        <p:spPr>
          <a:xfrm>
            <a:off x="795600" y="1527120"/>
            <a:ext cx="459864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Reusable Kubernetes definitions for namespace, frontend, backend, services, config, ingress and autoscaling.</a:t>
            </a:r>
            <a:endParaRPr b="0" lang="en-IN" sz="1300" spc="-1" strike="noStrike">
              <a:solidFill>
                <a:srgbClr val="000000"/>
              </a:solidFill>
              <a:latin typeface="Arial"/>
            </a:endParaRPr>
          </a:p>
        </p:txBody>
      </p:sp>
      <p:sp>
        <p:nvSpPr>
          <p:cNvPr id="369" name="Rounded Rectangle 10"/>
          <p:cNvSpPr/>
          <p:nvPr/>
        </p:nvSpPr>
        <p:spPr>
          <a:xfrm>
            <a:off x="5989320" y="960120"/>
            <a:ext cx="4982760" cy="169092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70" name="Rectangle 11"/>
          <p:cNvSpPr/>
          <p:nvPr/>
        </p:nvSpPr>
        <p:spPr>
          <a:xfrm>
            <a:off x="5989320" y="960120"/>
            <a:ext cx="72360" cy="169092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71" name="TextBox 12"/>
          <p:cNvSpPr/>
          <p:nvPr/>
        </p:nvSpPr>
        <p:spPr>
          <a:xfrm>
            <a:off x="7923960" y="1106280"/>
            <a:ext cx="11502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Overlays</a:t>
            </a:r>
            <a:endParaRPr b="0" lang="en-IN" sz="1600" spc="-1" strike="noStrike">
              <a:solidFill>
                <a:srgbClr val="000000"/>
              </a:solidFill>
              <a:latin typeface="Arial"/>
            </a:endParaRPr>
          </a:p>
        </p:txBody>
      </p:sp>
      <p:sp>
        <p:nvSpPr>
          <p:cNvPr id="372" name="TextBox 13"/>
          <p:cNvSpPr/>
          <p:nvPr/>
        </p:nvSpPr>
        <p:spPr>
          <a:xfrm>
            <a:off x="6190560" y="1527120"/>
            <a:ext cx="459864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Environment-specific changes are kept under:</a:t>
            </a:r>
            <a:br>
              <a:rPr sz="1300"/>
            </a:br>
            <a:br>
              <a:rPr sz="1300"/>
            </a:br>
            <a:r>
              <a:rPr b="0" lang="en-US" sz="1300" spc="-1" strike="noStrike">
                <a:solidFill>
                  <a:srgbClr val="2a3340"/>
                </a:solidFill>
                <a:latin typeface="Aptos"/>
              </a:rPr>
              <a:t>kubernetes/overlays/dev</a:t>
            </a:r>
            <a:br>
              <a:rPr sz="1300"/>
            </a:br>
            <a:r>
              <a:rPr b="0" lang="en-US" sz="1300" spc="-1" strike="noStrike">
                <a:solidFill>
                  <a:srgbClr val="2a3340"/>
                </a:solidFill>
                <a:latin typeface="Aptos"/>
              </a:rPr>
              <a:t>kubernetes/overlays/qa</a:t>
            </a:r>
            <a:br>
              <a:rPr sz="1300"/>
            </a:br>
            <a:r>
              <a:rPr b="0" lang="en-US" sz="1300" spc="-1" strike="noStrike">
                <a:solidFill>
                  <a:srgbClr val="2a3340"/>
                </a:solidFill>
                <a:latin typeface="Aptos"/>
              </a:rPr>
              <a:t>kubernetes/overlays/prod</a:t>
            </a:r>
            <a:endParaRPr b="0" lang="en-IN" sz="1300" spc="-1" strike="noStrike">
              <a:solidFill>
                <a:srgbClr val="000000"/>
              </a:solidFill>
              <a:latin typeface="Arial"/>
            </a:endParaRPr>
          </a:p>
        </p:txBody>
      </p:sp>
      <p:sp>
        <p:nvSpPr>
          <p:cNvPr id="373" name="Rounded Rectangle 14"/>
          <p:cNvSpPr/>
          <p:nvPr/>
        </p:nvSpPr>
        <p:spPr>
          <a:xfrm>
            <a:off x="777240" y="3154680"/>
            <a:ext cx="5028480" cy="150804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74" name="TextBox 15"/>
          <p:cNvSpPr/>
          <p:nvPr/>
        </p:nvSpPr>
        <p:spPr>
          <a:xfrm>
            <a:off x="941760" y="3273480"/>
            <a:ext cx="4699440" cy="59292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100" spc="-1" strike="noStrike">
                <a:solidFill>
                  <a:srgbClr val="ffffff"/>
                </a:solidFill>
                <a:latin typeface="Cascadia Mono"/>
              </a:rPr>
              <a:t>kubectl kustomize kubernetes/overlays/dev</a:t>
            </a:r>
            <a:br>
              <a:rPr sz="1100"/>
            </a:br>
            <a:r>
              <a:rPr b="0" lang="en-US" sz="1100" spc="-1" strike="noStrike">
                <a:solidFill>
                  <a:srgbClr val="ffffff"/>
                </a:solidFill>
                <a:latin typeface="Cascadia Mono"/>
              </a:rPr>
              <a:t>kubectl kustomize kubernetes/overlays/qa</a:t>
            </a:r>
            <a:br>
              <a:rPr sz="1100"/>
            </a:br>
            <a:r>
              <a:rPr b="0" lang="en-US" sz="1100" spc="-1" strike="noStrike">
                <a:solidFill>
                  <a:srgbClr val="ffffff"/>
                </a:solidFill>
                <a:latin typeface="Cascadia Mono"/>
              </a:rPr>
              <a:t>kubectl kustomize kubernetes/overlays/prod</a:t>
            </a:r>
            <a:endParaRPr b="0" lang="en-IN" sz="1100" spc="-1" strike="noStrike">
              <a:solidFill>
                <a:srgbClr val="000000"/>
              </a:solidFill>
              <a:latin typeface="Arial"/>
            </a:endParaRPr>
          </a:p>
        </p:txBody>
      </p:sp>
      <p:sp>
        <p:nvSpPr>
          <p:cNvPr id="375" name="Rounded Rectangle 16"/>
          <p:cNvSpPr/>
          <p:nvPr/>
        </p:nvSpPr>
        <p:spPr>
          <a:xfrm>
            <a:off x="6126480" y="2971800"/>
            <a:ext cx="4845600" cy="201096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76" name="TextBox 17"/>
          <p:cNvSpPr/>
          <p:nvPr/>
        </p:nvSpPr>
        <p:spPr>
          <a:xfrm>
            <a:off x="6355080" y="3200400"/>
            <a:ext cx="438840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screenshots/build-journey/kustomize/Kubernetes-Kustomize structure.png</a:t>
            </a:r>
            <a:endParaRPr b="0" lang="en-IN" sz="900" spc="-1" strike="noStrike">
              <a:solidFill>
                <a:srgbClr val="000000"/>
              </a:solidFill>
              <a:latin typeface="Arial"/>
            </a:endParaRPr>
          </a:p>
        </p:txBody>
      </p:sp>
      <p:sp>
        <p:nvSpPr>
          <p:cNvPr id="377" name="TextBox 18"/>
          <p:cNvSpPr/>
          <p:nvPr/>
        </p:nvSpPr>
        <p:spPr>
          <a:xfrm>
            <a:off x="7529760" y="5029200"/>
            <a:ext cx="20386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base + overlays structure</a:t>
            </a:r>
            <a:endParaRPr b="0" lang="en-IN" sz="900" spc="-1" strike="noStrike">
              <a:solidFill>
                <a:srgbClr val="000000"/>
              </a:solidFill>
              <a:latin typeface="Arial"/>
            </a:endParaRPr>
          </a:p>
        </p:txBody>
      </p:sp>
      <p:pic>
        <p:nvPicPr>
          <p:cNvPr id="378" name="" descr=""/>
          <p:cNvPicPr/>
          <p:nvPr/>
        </p:nvPicPr>
        <p:blipFill>
          <a:blip r:embed="rId1"/>
        </p:blipFill>
        <p:spPr>
          <a:xfrm>
            <a:off x="6120000" y="2916000"/>
            <a:ext cx="4859640" cy="356364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Rectangle 1"/>
          <p:cNvSpPr/>
          <p:nvPr/>
        </p:nvSpPr>
        <p:spPr>
          <a:xfrm>
            <a:off x="200880" y="40176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80"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81" name="TextBox 3"/>
          <p:cNvSpPr/>
          <p:nvPr/>
        </p:nvSpPr>
        <p:spPr>
          <a:xfrm>
            <a:off x="2912760" y="255960"/>
            <a:ext cx="606060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11. Azure DevOps — CI Pipeline</a:t>
            </a:r>
            <a:endParaRPr b="0" lang="en-IN" sz="2700" spc="-1" strike="noStrike">
              <a:solidFill>
                <a:srgbClr val="000000"/>
              </a:solidFill>
              <a:latin typeface="Arial"/>
            </a:endParaRPr>
          </a:p>
        </p:txBody>
      </p:sp>
      <p:sp>
        <p:nvSpPr>
          <p:cNvPr id="382" name="TextBox 4"/>
          <p:cNvSpPr/>
          <p:nvPr/>
        </p:nvSpPr>
        <p:spPr>
          <a:xfrm>
            <a:off x="10468080" y="311040"/>
            <a:ext cx="13287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IMPLEMENTATION</a:t>
            </a:r>
            <a:endParaRPr b="0" lang="en-IN" sz="900" spc="-1" strike="noStrike">
              <a:solidFill>
                <a:srgbClr val="000000"/>
              </a:solidFill>
              <a:latin typeface="Arial"/>
            </a:endParaRPr>
          </a:p>
        </p:txBody>
      </p:sp>
      <p:sp>
        <p:nvSpPr>
          <p:cNvPr id="383"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12</a:t>
            </a:r>
            <a:endParaRPr b="0" lang="en-IN" sz="800" spc="-1" strike="noStrike">
              <a:solidFill>
                <a:srgbClr val="000000"/>
              </a:solidFill>
              <a:latin typeface="Arial"/>
            </a:endParaRPr>
          </a:p>
        </p:txBody>
      </p:sp>
      <p:sp>
        <p:nvSpPr>
          <p:cNvPr id="384" name="Rounded Rectangle 6"/>
          <p:cNvSpPr/>
          <p:nvPr/>
        </p:nvSpPr>
        <p:spPr>
          <a:xfrm>
            <a:off x="502920" y="1051560"/>
            <a:ext cx="1303560" cy="71244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85" name="TextBox 7"/>
          <p:cNvSpPr/>
          <p:nvPr/>
        </p:nvSpPr>
        <p:spPr>
          <a:xfrm>
            <a:off x="887760" y="1143000"/>
            <a:ext cx="53316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Build</a:t>
            </a:r>
            <a:endParaRPr b="0" lang="en-IN" sz="1000" spc="-1" strike="noStrike">
              <a:solidFill>
                <a:srgbClr val="000000"/>
              </a:solidFill>
              <a:latin typeface="Arial"/>
            </a:endParaRPr>
          </a:p>
        </p:txBody>
      </p:sp>
      <p:sp>
        <p:nvSpPr>
          <p:cNvPr id="386" name="Chevron 8"/>
          <p:cNvSpPr/>
          <p:nvPr/>
        </p:nvSpPr>
        <p:spPr>
          <a:xfrm>
            <a:off x="1816200" y="1294200"/>
            <a:ext cx="109080" cy="22752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87" name="Rounded Rectangle 9"/>
          <p:cNvSpPr/>
          <p:nvPr/>
        </p:nvSpPr>
        <p:spPr>
          <a:xfrm>
            <a:off x="1916640" y="1051560"/>
            <a:ext cx="1303560" cy="712440"/>
          </a:xfrm>
          <a:prstGeom prst="roundRect">
            <a:avLst>
              <a:gd name="adj" fmla="val 16667"/>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88" name="TextBox 10"/>
          <p:cNvSpPr/>
          <p:nvPr/>
        </p:nvSpPr>
        <p:spPr>
          <a:xfrm>
            <a:off x="2327040" y="1143000"/>
            <a:ext cx="48276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Test</a:t>
            </a:r>
            <a:endParaRPr b="0" lang="en-IN" sz="1000" spc="-1" strike="noStrike">
              <a:solidFill>
                <a:srgbClr val="000000"/>
              </a:solidFill>
              <a:latin typeface="Arial"/>
            </a:endParaRPr>
          </a:p>
        </p:txBody>
      </p:sp>
      <p:sp>
        <p:nvSpPr>
          <p:cNvPr id="389" name="Chevron 11"/>
          <p:cNvSpPr/>
          <p:nvPr/>
        </p:nvSpPr>
        <p:spPr>
          <a:xfrm>
            <a:off x="3230280" y="1294200"/>
            <a:ext cx="109080" cy="22752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90" name="Rounded Rectangle 12"/>
          <p:cNvSpPr/>
          <p:nvPr/>
        </p:nvSpPr>
        <p:spPr>
          <a:xfrm>
            <a:off x="3330720" y="1051560"/>
            <a:ext cx="1303560" cy="712440"/>
          </a:xfrm>
          <a:prstGeom prst="roundRect">
            <a:avLst>
              <a:gd name="adj" fmla="val 16667"/>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91" name="TextBox 13"/>
          <p:cNvSpPr/>
          <p:nvPr/>
        </p:nvSpPr>
        <p:spPr>
          <a:xfrm>
            <a:off x="3603600" y="1143000"/>
            <a:ext cx="75708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endParaRPr b="0" lang="en-IN" sz="1800" spc="-1" strike="noStrike">
              <a:solidFill>
                <a:srgbClr val="000000"/>
              </a:solidFill>
              <a:latin typeface="Arial"/>
            </a:endParaRPr>
          </a:p>
        </p:txBody>
      </p:sp>
      <p:sp>
        <p:nvSpPr>
          <p:cNvPr id="392" name="Chevron 14"/>
          <p:cNvSpPr/>
          <p:nvPr/>
        </p:nvSpPr>
        <p:spPr>
          <a:xfrm>
            <a:off x="4644000" y="1294200"/>
            <a:ext cx="109080" cy="22752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93" name="Rounded Rectangle 15"/>
          <p:cNvSpPr/>
          <p:nvPr/>
        </p:nvSpPr>
        <p:spPr>
          <a:xfrm>
            <a:off x="4744440" y="1051560"/>
            <a:ext cx="1303560" cy="71244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94" name="TextBox 16"/>
          <p:cNvSpPr/>
          <p:nvPr/>
        </p:nvSpPr>
        <p:spPr>
          <a:xfrm>
            <a:off x="4996080" y="1143000"/>
            <a:ext cx="79992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ea typeface="Microsoft YaHei"/>
              </a:rPr>
              <a:t> </a:t>
            </a:r>
            <a:r>
              <a:rPr b="1" lang="en-US" sz="1000" spc="-1" strike="noStrike">
                <a:solidFill>
                  <a:srgbClr val="ffffff"/>
                </a:solidFill>
                <a:latin typeface="Aptos"/>
              </a:rPr>
              <a:t>Security</a:t>
            </a:r>
            <a:endParaRPr b="0" lang="en-IN" sz="1000" spc="-1" strike="noStrike">
              <a:solidFill>
                <a:srgbClr val="000000"/>
              </a:solidFill>
              <a:latin typeface="Arial"/>
            </a:endParaRPr>
          </a:p>
        </p:txBody>
      </p:sp>
      <p:sp>
        <p:nvSpPr>
          <p:cNvPr id="395" name="Chevron 17"/>
          <p:cNvSpPr/>
          <p:nvPr/>
        </p:nvSpPr>
        <p:spPr>
          <a:xfrm>
            <a:off x="6058080" y="1294200"/>
            <a:ext cx="109080" cy="22752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96" name="Rounded Rectangle 18"/>
          <p:cNvSpPr/>
          <p:nvPr/>
        </p:nvSpPr>
        <p:spPr>
          <a:xfrm>
            <a:off x="6158520" y="1051560"/>
            <a:ext cx="1303560" cy="71244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97" name="TextBox 19"/>
          <p:cNvSpPr/>
          <p:nvPr/>
        </p:nvSpPr>
        <p:spPr>
          <a:xfrm>
            <a:off x="6279120" y="1143000"/>
            <a:ext cx="106200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Docker Build</a:t>
            </a:r>
            <a:endParaRPr b="0" lang="en-IN" sz="1000" spc="-1" strike="noStrike">
              <a:solidFill>
                <a:srgbClr val="000000"/>
              </a:solidFill>
              <a:latin typeface="Arial"/>
            </a:endParaRPr>
          </a:p>
        </p:txBody>
      </p:sp>
      <p:sp>
        <p:nvSpPr>
          <p:cNvPr id="398" name="Chevron 20"/>
          <p:cNvSpPr/>
          <p:nvPr/>
        </p:nvSpPr>
        <p:spPr>
          <a:xfrm>
            <a:off x="7471800" y="1294200"/>
            <a:ext cx="109080" cy="22752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399" name="Rounded Rectangle 21"/>
          <p:cNvSpPr/>
          <p:nvPr/>
        </p:nvSpPr>
        <p:spPr>
          <a:xfrm>
            <a:off x="7572240" y="1051560"/>
            <a:ext cx="1303560" cy="712440"/>
          </a:xfrm>
          <a:prstGeom prst="roundRect">
            <a:avLst>
              <a:gd name="adj" fmla="val 16667"/>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00" name="TextBox 22"/>
          <p:cNvSpPr/>
          <p:nvPr/>
        </p:nvSpPr>
        <p:spPr>
          <a:xfrm>
            <a:off x="7963560" y="1143000"/>
            <a:ext cx="52092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Trivy</a:t>
            </a:r>
            <a:endParaRPr b="0" lang="en-IN" sz="1000" spc="-1" strike="noStrike">
              <a:solidFill>
                <a:srgbClr val="000000"/>
              </a:solidFill>
              <a:latin typeface="Arial"/>
            </a:endParaRPr>
          </a:p>
        </p:txBody>
      </p:sp>
      <p:sp>
        <p:nvSpPr>
          <p:cNvPr id="401" name="Chevron 23"/>
          <p:cNvSpPr/>
          <p:nvPr/>
        </p:nvSpPr>
        <p:spPr>
          <a:xfrm>
            <a:off x="8885520" y="1294200"/>
            <a:ext cx="109080" cy="22752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02" name="Rounded Rectangle 24"/>
          <p:cNvSpPr/>
          <p:nvPr/>
        </p:nvSpPr>
        <p:spPr>
          <a:xfrm>
            <a:off x="8986320" y="1051560"/>
            <a:ext cx="1303560" cy="71244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03" name="TextBox 25"/>
          <p:cNvSpPr/>
          <p:nvPr/>
        </p:nvSpPr>
        <p:spPr>
          <a:xfrm>
            <a:off x="9119160" y="1143000"/>
            <a:ext cx="103752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Push to ACR</a:t>
            </a:r>
            <a:endParaRPr b="0" lang="en-IN" sz="1000" spc="-1" strike="noStrike">
              <a:solidFill>
                <a:srgbClr val="000000"/>
              </a:solidFill>
              <a:latin typeface="Arial"/>
            </a:endParaRPr>
          </a:p>
        </p:txBody>
      </p:sp>
      <p:sp>
        <p:nvSpPr>
          <p:cNvPr id="404" name="Chevron 26"/>
          <p:cNvSpPr/>
          <p:nvPr/>
        </p:nvSpPr>
        <p:spPr>
          <a:xfrm>
            <a:off x="10299600" y="1294200"/>
            <a:ext cx="109080" cy="22752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05" name="Rounded Rectangle 27"/>
          <p:cNvSpPr/>
          <p:nvPr/>
        </p:nvSpPr>
        <p:spPr>
          <a:xfrm>
            <a:off x="10400040" y="1051560"/>
            <a:ext cx="1303560" cy="712440"/>
          </a:xfrm>
          <a:prstGeom prst="roundRect">
            <a:avLst>
              <a:gd name="adj" fmla="val 16667"/>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06" name="TextBox 28"/>
          <p:cNvSpPr/>
          <p:nvPr/>
        </p:nvSpPr>
        <p:spPr>
          <a:xfrm>
            <a:off x="10726560" y="1143000"/>
            <a:ext cx="650520" cy="2422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000" spc="-1" strike="noStrike">
                <a:solidFill>
                  <a:srgbClr val="ffffff"/>
                </a:solidFill>
                <a:latin typeface="Aptos"/>
              </a:rPr>
              <a:t>Deploy</a:t>
            </a:r>
            <a:endParaRPr b="0" lang="en-IN" sz="1000" spc="-1" strike="noStrike">
              <a:solidFill>
                <a:srgbClr val="000000"/>
              </a:solidFill>
              <a:latin typeface="Arial"/>
            </a:endParaRPr>
          </a:p>
        </p:txBody>
      </p:sp>
      <p:sp>
        <p:nvSpPr>
          <p:cNvPr id="407" name="Rounded Rectangle 29"/>
          <p:cNvSpPr/>
          <p:nvPr/>
        </p:nvSpPr>
        <p:spPr>
          <a:xfrm>
            <a:off x="640080" y="2148840"/>
            <a:ext cx="3748320" cy="223956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08" name="TextBox 30"/>
          <p:cNvSpPr/>
          <p:nvPr/>
        </p:nvSpPr>
        <p:spPr>
          <a:xfrm>
            <a:off x="868680" y="2377440"/>
            <a:ext cx="3291120" cy="425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screenshots/pipeline/13-pipelines-run.png</a:t>
            </a:r>
            <a:endParaRPr b="0" lang="en-IN" sz="900" spc="-1" strike="noStrike">
              <a:solidFill>
                <a:srgbClr val="000000"/>
              </a:solidFill>
              <a:latin typeface="Arial"/>
            </a:endParaRPr>
          </a:p>
        </p:txBody>
      </p:sp>
      <p:sp>
        <p:nvSpPr>
          <p:cNvPr id="409" name="TextBox 31"/>
          <p:cNvSpPr/>
          <p:nvPr/>
        </p:nvSpPr>
        <p:spPr>
          <a:xfrm>
            <a:off x="1468800" y="5298840"/>
            <a:ext cx="209052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Azure DevOps pipeline run</a:t>
            </a:r>
            <a:endParaRPr b="0" lang="en-IN" sz="900" spc="-1" strike="noStrike">
              <a:solidFill>
                <a:srgbClr val="000000"/>
              </a:solidFill>
              <a:latin typeface="Arial"/>
            </a:endParaRPr>
          </a:p>
        </p:txBody>
      </p:sp>
      <p:sp>
        <p:nvSpPr>
          <p:cNvPr id="410" name="Rounded Rectangle 32"/>
          <p:cNvSpPr/>
          <p:nvPr/>
        </p:nvSpPr>
        <p:spPr>
          <a:xfrm>
            <a:off x="4572000" y="2148840"/>
            <a:ext cx="3748320" cy="223956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11" name="TextBox 33"/>
          <p:cNvSpPr/>
          <p:nvPr/>
        </p:nvSpPr>
        <p:spPr>
          <a:xfrm>
            <a:off x="4800600" y="2377440"/>
            <a:ext cx="329112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screenshots/enterprise-azure-devops-release-simulation/14-final-azure-pipeline.png</a:t>
            </a:r>
            <a:endParaRPr b="0" lang="en-IN" sz="900" spc="-1" strike="noStrike">
              <a:solidFill>
                <a:srgbClr val="000000"/>
              </a:solidFill>
              <a:latin typeface="Arial"/>
            </a:endParaRPr>
          </a:p>
        </p:txBody>
      </p:sp>
      <p:sp>
        <p:nvSpPr>
          <p:cNvPr id="412" name="TextBox 34"/>
          <p:cNvSpPr/>
          <p:nvPr/>
        </p:nvSpPr>
        <p:spPr>
          <a:xfrm>
            <a:off x="5333040" y="5334840"/>
            <a:ext cx="22262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pipeline stages/configuration</a:t>
            </a:r>
            <a:endParaRPr b="0" lang="en-IN" sz="900" spc="-1" strike="noStrike">
              <a:solidFill>
                <a:srgbClr val="000000"/>
              </a:solidFill>
              <a:latin typeface="Arial"/>
            </a:endParaRPr>
          </a:p>
        </p:txBody>
      </p:sp>
      <p:sp>
        <p:nvSpPr>
          <p:cNvPr id="413" name="Rounded Rectangle 35"/>
          <p:cNvSpPr/>
          <p:nvPr/>
        </p:nvSpPr>
        <p:spPr>
          <a:xfrm>
            <a:off x="8503920" y="2148840"/>
            <a:ext cx="2971080" cy="223956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14" name="TextBox 36"/>
          <p:cNvSpPr/>
          <p:nvPr/>
        </p:nvSpPr>
        <p:spPr>
          <a:xfrm>
            <a:off x="8668440" y="2267640"/>
            <a:ext cx="2642040" cy="161604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000" spc="-1" strike="noStrike">
                <a:solidFill>
                  <a:srgbClr val="ffffff"/>
                </a:solidFill>
                <a:latin typeface="Cascadia Mono"/>
              </a:rPr>
              <a:t># azure-pipelines.yml</a:t>
            </a:r>
            <a:br>
              <a:rPr sz="1000"/>
            </a:br>
            <a:r>
              <a:rPr b="0" lang="en-US" sz="1000" spc="-1" strike="noStrike">
                <a:solidFill>
                  <a:srgbClr val="ffffff"/>
                </a:solidFill>
                <a:latin typeface="Cascadia Mono"/>
              </a:rPr>
              <a:t>stages:</a:t>
            </a:r>
            <a:br>
              <a:rPr sz="1000"/>
            </a:br>
            <a:r>
              <a:rPr b="0" lang="en-US" sz="1000" spc="-1" strike="noStrike">
                <a:solidFill>
                  <a:srgbClr val="ffffff"/>
                </a:solidFill>
                <a:latin typeface="Cascadia Mono"/>
              </a:rPr>
              <a:t>- Build</a:t>
            </a:r>
            <a:br>
              <a:rPr sz="1000"/>
            </a:br>
            <a:r>
              <a:rPr b="0" lang="en-US" sz="1000" spc="-1" strike="noStrike">
                <a:solidFill>
                  <a:srgbClr val="ffffff"/>
                </a:solidFill>
                <a:latin typeface="Cascadia Mono"/>
              </a:rPr>
              <a:t>- Test</a:t>
            </a:r>
            <a:br>
              <a:rPr sz="1000"/>
            </a:br>
            <a:r>
              <a:rPr b="0" lang="en-US" sz="1000" spc="-1" strike="noStrike">
                <a:solidFill>
                  <a:srgbClr val="ffffff"/>
                </a:solidFill>
                <a:latin typeface="Cascadia Mono"/>
              </a:rPr>
              <a:t>- Security</a:t>
            </a:r>
            <a:br>
              <a:rPr sz="1000"/>
            </a:br>
            <a:r>
              <a:rPr b="0" lang="en-US" sz="1000" spc="-1" strike="noStrike">
                <a:solidFill>
                  <a:srgbClr val="ffffff"/>
                </a:solidFill>
                <a:latin typeface="Cascadia Mono"/>
              </a:rPr>
              <a:t>- CodeQuality</a:t>
            </a:r>
            <a:br>
              <a:rPr sz="1000"/>
            </a:br>
            <a:r>
              <a:rPr b="0" lang="en-US" sz="1000" spc="-1" strike="noStrike">
                <a:solidFill>
                  <a:srgbClr val="ffffff"/>
                </a:solidFill>
                <a:latin typeface="Cascadia Mono"/>
              </a:rPr>
              <a:t>- DockerBuild</a:t>
            </a:r>
            <a:br>
              <a:rPr sz="1000"/>
            </a:br>
            <a:r>
              <a:rPr b="0" lang="en-US" sz="1000" spc="-1" strike="noStrike">
                <a:solidFill>
                  <a:srgbClr val="ffffff"/>
                </a:solidFill>
                <a:latin typeface="Cascadia Mono"/>
              </a:rPr>
              <a:t>- TrivyScan</a:t>
            </a:r>
            <a:br>
              <a:rPr sz="1000"/>
            </a:br>
            <a:r>
              <a:rPr b="0" lang="en-US" sz="1000" spc="-1" strike="noStrike">
                <a:solidFill>
                  <a:srgbClr val="ffffff"/>
                </a:solidFill>
                <a:latin typeface="Cascadia Mono"/>
              </a:rPr>
              <a:t>- Push</a:t>
            </a:r>
            <a:br>
              <a:rPr sz="1000"/>
            </a:br>
            <a:r>
              <a:rPr b="0" lang="en-US" sz="1000" spc="-1" strike="noStrike">
                <a:solidFill>
                  <a:srgbClr val="ffffff"/>
                </a:solidFill>
                <a:latin typeface="Cascadia Mono"/>
              </a:rPr>
              <a:t>- Deploy</a:t>
            </a:r>
            <a:endParaRPr b="0" lang="en-IN" sz="1000" spc="-1" strike="noStrike">
              <a:solidFill>
                <a:srgbClr val="000000"/>
              </a:solidFill>
              <a:latin typeface="Arial"/>
            </a:endParaRPr>
          </a:p>
        </p:txBody>
      </p:sp>
      <p:sp>
        <p:nvSpPr>
          <p:cNvPr id="415" name="Rounded Rectangle 37"/>
          <p:cNvSpPr/>
          <p:nvPr/>
        </p:nvSpPr>
        <p:spPr>
          <a:xfrm>
            <a:off x="777240" y="5556600"/>
            <a:ext cx="10514880" cy="9136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16" name="Rectangle 38"/>
          <p:cNvSpPr/>
          <p:nvPr/>
        </p:nvSpPr>
        <p:spPr>
          <a:xfrm>
            <a:off x="777240" y="5556600"/>
            <a:ext cx="72360" cy="91368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17" name="TextBox 39"/>
          <p:cNvSpPr/>
          <p:nvPr/>
        </p:nvSpPr>
        <p:spPr>
          <a:xfrm>
            <a:off x="4856040" y="5630760"/>
            <a:ext cx="2394000" cy="3182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500" spc="-1" strike="noStrike">
                <a:solidFill>
                  <a:srgbClr val="14223c"/>
                </a:solidFill>
                <a:latin typeface="Aptos"/>
              </a:rPr>
              <a:t>Beginner explanation</a:t>
            </a:r>
            <a:endParaRPr b="0" lang="en-IN" sz="1500" spc="-1" strike="noStrike">
              <a:solidFill>
                <a:srgbClr val="000000"/>
              </a:solidFill>
              <a:latin typeface="Arial"/>
            </a:endParaRPr>
          </a:p>
        </p:txBody>
      </p:sp>
      <p:sp>
        <p:nvSpPr>
          <p:cNvPr id="418" name="TextBox 40"/>
          <p:cNvSpPr/>
          <p:nvPr/>
        </p:nvSpPr>
        <p:spPr>
          <a:xfrm>
            <a:off x="978480" y="5943600"/>
            <a:ext cx="1013076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200" spc="-1" strike="noStrike">
                <a:solidFill>
                  <a:srgbClr val="2a3340"/>
                </a:solidFill>
                <a:latin typeface="Aptos"/>
              </a:rPr>
              <a:t>One source change moves through automated validation and packaging instead of repeating the same manual commands for every release.</a:t>
            </a:r>
            <a:endParaRPr b="0" lang="en-IN" sz="1200" spc="-1" strike="noStrike">
              <a:solidFill>
                <a:srgbClr val="000000"/>
              </a:solidFill>
              <a:latin typeface="Arial"/>
            </a:endParaRPr>
          </a:p>
        </p:txBody>
      </p:sp>
      <p:pic>
        <p:nvPicPr>
          <p:cNvPr id="419" name="" descr=""/>
          <p:cNvPicPr/>
          <p:nvPr/>
        </p:nvPicPr>
        <p:blipFill>
          <a:blip r:embed="rId1"/>
        </p:blipFill>
        <p:spPr>
          <a:xfrm>
            <a:off x="4572000" y="2148840"/>
            <a:ext cx="3748320" cy="3185640"/>
          </a:xfrm>
          <a:prstGeom prst="rect">
            <a:avLst/>
          </a:prstGeom>
          <a:ln cap="rnd" w="0">
            <a:solidFill>
              <a:srgbClr val="000000"/>
            </a:solidFill>
          </a:ln>
        </p:spPr>
      </p:pic>
      <p:pic>
        <p:nvPicPr>
          <p:cNvPr id="420" name="" descr=""/>
          <p:cNvPicPr/>
          <p:nvPr/>
        </p:nvPicPr>
        <p:blipFill>
          <a:blip r:embed="rId2"/>
        </p:blipFill>
        <p:spPr>
          <a:xfrm>
            <a:off x="540000" y="2148840"/>
            <a:ext cx="3848400" cy="3149640"/>
          </a:xfrm>
          <a:prstGeom prst="rect">
            <a:avLst/>
          </a:prstGeom>
          <a:ln cap="rnd" w="0">
            <a:solidFill>
              <a:srgbClr val="000000"/>
            </a:solidFill>
          </a:ln>
        </p:spPr>
      </p:pic>
      <p:sp>
        <p:nvSpPr>
          <p:cNvPr id="421" name=""/>
          <p:cNvSpPr txBox="1"/>
          <p:nvPr/>
        </p:nvSpPr>
        <p:spPr>
          <a:xfrm>
            <a:off x="3420000" y="1135080"/>
            <a:ext cx="1066320" cy="268920"/>
          </a:xfrm>
          <a:prstGeom prst="rect">
            <a:avLst/>
          </a:prstGeom>
          <a:noFill/>
          <a:ln w="0">
            <a:noFill/>
          </a:ln>
        </p:spPr>
        <p:txBody>
          <a:bodyPr lIns="90000" rIns="90000" tIns="45000" bIns="45000" anchor="t">
            <a:noAutofit/>
          </a:bodyPr>
          <a:p>
            <a:r>
              <a:rPr b="1" lang="en-US" sz="1000" spc="-1" strike="noStrike">
                <a:solidFill>
                  <a:srgbClr val="ffffff"/>
                </a:solidFill>
                <a:latin typeface="Aptos"/>
                <a:ea typeface="Microsoft YaHei"/>
              </a:rPr>
              <a:t>Code Quality</a:t>
            </a:r>
            <a:endParaRPr b="0" lang="en-IN"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23"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24" name="TextBox 3"/>
          <p:cNvSpPr/>
          <p:nvPr/>
        </p:nvSpPr>
        <p:spPr>
          <a:xfrm>
            <a:off x="2948760" y="255960"/>
            <a:ext cx="598896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12. SonarCloud — Code Quality</a:t>
            </a:r>
            <a:endParaRPr b="0" lang="en-IN" sz="2700" spc="-1" strike="noStrike">
              <a:solidFill>
                <a:srgbClr val="000000"/>
              </a:solidFill>
              <a:latin typeface="Arial"/>
            </a:endParaRPr>
          </a:p>
        </p:txBody>
      </p:sp>
      <p:sp>
        <p:nvSpPr>
          <p:cNvPr id="425" name="TextBox 4"/>
          <p:cNvSpPr/>
          <p:nvPr/>
        </p:nvSpPr>
        <p:spPr>
          <a:xfrm>
            <a:off x="10716480" y="311040"/>
            <a:ext cx="8319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SECURITY</a:t>
            </a:r>
            <a:endParaRPr b="0" lang="en-IN" sz="900" spc="-1" strike="noStrike">
              <a:solidFill>
                <a:srgbClr val="000000"/>
              </a:solidFill>
              <a:latin typeface="Arial"/>
            </a:endParaRPr>
          </a:p>
        </p:txBody>
      </p:sp>
      <p:sp>
        <p:nvSpPr>
          <p:cNvPr id="426"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13</a:t>
            </a:r>
            <a:endParaRPr b="0" lang="en-IN" sz="800" spc="-1" strike="noStrike">
              <a:solidFill>
                <a:srgbClr val="000000"/>
              </a:solidFill>
              <a:latin typeface="Arial"/>
            </a:endParaRPr>
          </a:p>
        </p:txBody>
      </p:sp>
      <p:sp>
        <p:nvSpPr>
          <p:cNvPr id="427" name="Rounded Rectangle 6"/>
          <p:cNvSpPr/>
          <p:nvPr/>
        </p:nvSpPr>
        <p:spPr>
          <a:xfrm>
            <a:off x="640080" y="960120"/>
            <a:ext cx="50284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28" name="Rectangle 7"/>
          <p:cNvSpPr/>
          <p:nvPr/>
        </p:nvSpPr>
        <p:spPr>
          <a:xfrm>
            <a:off x="640080" y="960120"/>
            <a:ext cx="72360" cy="173664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29" name="TextBox 8"/>
          <p:cNvSpPr/>
          <p:nvPr/>
        </p:nvSpPr>
        <p:spPr>
          <a:xfrm>
            <a:off x="666000" y="1106280"/>
            <a:ext cx="501372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What question does SonarCloud answer?</a:t>
            </a:r>
            <a:endParaRPr b="0" lang="en-IN" sz="1700" spc="-1" strike="noStrike">
              <a:solidFill>
                <a:srgbClr val="000000"/>
              </a:solidFill>
              <a:latin typeface="Arial"/>
            </a:endParaRPr>
          </a:p>
        </p:txBody>
      </p:sp>
      <p:sp>
        <p:nvSpPr>
          <p:cNvPr id="430" name="TextBox 9"/>
          <p:cNvSpPr/>
          <p:nvPr/>
        </p:nvSpPr>
        <p:spPr>
          <a:xfrm>
            <a:off x="841320" y="1707120"/>
            <a:ext cx="4644360" cy="730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pc="-1" strike="noStrike">
                <a:solidFill>
                  <a:srgbClr val="2a3340"/>
                </a:solidFill>
                <a:latin typeface="Aptos"/>
              </a:rPr>
              <a:t>“</a:t>
            </a:r>
            <a:r>
              <a:rPr b="0" lang="en-US" sz="1400" spc="-1" strike="noStrike">
                <a:solidFill>
                  <a:srgbClr val="2a3340"/>
                </a:solidFill>
                <a:latin typeface="Aptos"/>
              </a:rPr>
              <a:t>Does my source code contain quality, reliability or maintainability problems that should be addressed before delivery?”</a:t>
            </a:r>
            <a:endParaRPr b="0" lang="en-IN" sz="1400" spc="-1" strike="noStrike">
              <a:solidFill>
                <a:srgbClr val="000000"/>
              </a:solidFill>
              <a:latin typeface="Arial"/>
            </a:endParaRPr>
          </a:p>
        </p:txBody>
      </p:sp>
      <p:sp>
        <p:nvSpPr>
          <p:cNvPr id="431" name="Rounded Rectangle 10"/>
          <p:cNvSpPr/>
          <p:nvPr/>
        </p:nvSpPr>
        <p:spPr>
          <a:xfrm>
            <a:off x="6126480" y="960120"/>
            <a:ext cx="50284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32" name="Rectangle 11"/>
          <p:cNvSpPr/>
          <p:nvPr/>
        </p:nvSpPr>
        <p:spPr>
          <a:xfrm>
            <a:off x="6126480" y="960120"/>
            <a:ext cx="72360" cy="173664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33" name="TextBox 12"/>
          <p:cNvSpPr/>
          <p:nvPr/>
        </p:nvSpPr>
        <p:spPr>
          <a:xfrm>
            <a:off x="7302600" y="1106280"/>
            <a:ext cx="271260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How I implemented it</a:t>
            </a:r>
            <a:endParaRPr b="0" lang="en-IN" sz="1700" spc="-1" strike="noStrike">
              <a:solidFill>
                <a:srgbClr val="000000"/>
              </a:solidFill>
              <a:latin typeface="Arial"/>
            </a:endParaRPr>
          </a:p>
        </p:txBody>
      </p:sp>
      <p:sp>
        <p:nvSpPr>
          <p:cNvPr id="434" name="TextBox 13"/>
          <p:cNvSpPr/>
          <p:nvPr/>
        </p:nvSpPr>
        <p:spPr>
          <a:xfrm>
            <a:off x="6327720" y="1527120"/>
            <a:ext cx="464436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Created the SonarCloud project, configured the Azure DevOps service connection and integrated analysis into the pipeline.</a:t>
            </a:r>
            <a:endParaRPr b="0" lang="en-IN" sz="1300" spc="-1" strike="noStrike">
              <a:solidFill>
                <a:srgbClr val="000000"/>
              </a:solidFill>
              <a:latin typeface="Arial"/>
            </a:endParaRPr>
          </a:p>
        </p:txBody>
      </p:sp>
      <p:sp>
        <p:nvSpPr>
          <p:cNvPr id="435" name="Rounded Rectangle 14"/>
          <p:cNvSpPr/>
          <p:nvPr/>
        </p:nvSpPr>
        <p:spPr>
          <a:xfrm>
            <a:off x="731520" y="3063240"/>
            <a:ext cx="3656880" cy="210240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36" name="TextBox 15"/>
          <p:cNvSpPr/>
          <p:nvPr/>
        </p:nvSpPr>
        <p:spPr>
          <a:xfrm>
            <a:off x="960120" y="3291840"/>
            <a:ext cx="319968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screenshots/build-journey/sonarqube/flavorforge-project-overview.png</a:t>
            </a:r>
            <a:endParaRPr b="0" lang="en-IN" sz="900" spc="-1" strike="noStrike">
              <a:solidFill>
                <a:srgbClr val="000000"/>
              </a:solidFill>
              <a:latin typeface="Arial"/>
            </a:endParaRPr>
          </a:p>
        </p:txBody>
      </p:sp>
      <p:sp>
        <p:nvSpPr>
          <p:cNvPr id="437" name="TextBox 16"/>
          <p:cNvSpPr/>
          <p:nvPr/>
        </p:nvSpPr>
        <p:spPr>
          <a:xfrm>
            <a:off x="1378800" y="6292080"/>
            <a:ext cx="236196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FlavorForge SonarCloud project</a:t>
            </a:r>
            <a:endParaRPr b="0" lang="en-IN" sz="900" spc="-1" strike="noStrike">
              <a:solidFill>
                <a:srgbClr val="000000"/>
              </a:solidFill>
              <a:latin typeface="Arial"/>
            </a:endParaRPr>
          </a:p>
        </p:txBody>
      </p:sp>
      <p:sp>
        <p:nvSpPr>
          <p:cNvPr id="438" name="Rounded Rectangle 17"/>
          <p:cNvSpPr/>
          <p:nvPr/>
        </p:nvSpPr>
        <p:spPr>
          <a:xfrm>
            <a:off x="4617720" y="3063240"/>
            <a:ext cx="3245400" cy="210240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39" name="TextBox 18"/>
          <p:cNvSpPr/>
          <p:nvPr/>
        </p:nvSpPr>
        <p:spPr>
          <a:xfrm>
            <a:off x="4846320" y="3291840"/>
            <a:ext cx="2788200" cy="700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screenshots/build-journey/sonarqube/azure-devops-sonarcloud-service-connection.png</a:t>
            </a:r>
            <a:endParaRPr b="0" lang="en-IN" sz="900" spc="-1" strike="noStrike">
              <a:solidFill>
                <a:srgbClr val="000000"/>
              </a:solidFill>
              <a:latin typeface="Arial"/>
            </a:endParaRPr>
          </a:p>
        </p:txBody>
      </p:sp>
      <p:sp>
        <p:nvSpPr>
          <p:cNvPr id="440" name="TextBox 19"/>
          <p:cNvSpPr/>
          <p:nvPr/>
        </p:nvSpPr>
        <p:spPr>
          <a:xfrm>
            <a:off x="5422680" y="6292080"/>
            <a:ext cx="163512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service connection</a:t>
            </a:r>
            <a:endParaRPr b="0" lang="en-IN" sz="900" spc="-1" strike="noStrike">
              <a:solidFill>
                <a:srgbClr val="000000"/>
              </a:solidFill>
              <a:latin typeface="Arial"/>
            </a:endParaRPr>
          </a:p>
        </p:txBody>
      </p:sp>
      <p:sp>
        <p:nvSpPr>
          <p:cNvPr id="441" name="Rounded Rectangle 20"/>
          <p:cNvSpPr/>
          <p:nvPr/>
        </p:nvSpPr>
        <p:spPr>
          <a:xfrm>
            <a:off x="8092440" y="3063240"/>
            <a:ext cx="3245400" cy="210240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42" name="TextBox 21"/>
          <p:cNvSpPr/>
          <p:nvPr/>
        </p:nvSpPr>
        <p:spPr>
          <a:xfrm>
            <a:off x="8321040" y="3291840"/>
            <a:ext cx="278820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screenshots/build-journey/sonarqube/projects-sonarCloud-dashboard.png</a:t>
            </a:r>
            <a:endParaRPr b="0" lang="en-IN" sz="900" spc="-1" strike="noStrike">
              <a:solidFill>
                <a:srgbClr val="000000"/>
              </a:solidFill>
              <a:latin typeface="Arial"/>
            </a:endParaRPr>
          </a:p>
        </p:txBody>
      </p:sp>
      <p:sp>
        <p:nvSpPr>
          <p:cNvPr id="443" name="TextBox 22"/>
          <p:cNvSpPr/>
          <p:nvPr/>
        </p:nvSpPr>
        <p:spPr>
          <a:xfrm>
            <a:off x="8782560" y="6292080"/>
            <a:ext cx="186516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SonarCloud dashboard</a:t>
            </a:r>
            <a:endParaRPr b="0" lang="en-IN" sz="900" spc="-1" strike="noStrike">
              <a:solidFill>
                <a:srgbClr val="000000"/>
              </a:solidFill>
              <a:latin typeface="Arial"/>
            </a:endParaRPr>
          </a:p>
        </p:txBody>
      </p:sp>
      <p:pic>
        <p:nvPicPr>
          <p:cNvPr id="444" name="" descr=""/>
          <p:cNvPicPr/>
          <p:nvPr/>
        </p:nvPicPr>
        <p:blipFill>
          <a:blip r:embed="rId1"/>
        </p:blipFill>
        <p:spPr>
          <a:xfrm>
            <a:off x="648000" y="3060000"/>
            <a:ext cx="3779640" cy="3239640"/>
          </a:xfrm>
          <a:prstGeom prst="rect">
            <a:avLst/>
          </a:prstGeom>
          <a:ln cap="rnd" w="0">
            <a:solidFill>
              <a:srgbClr val="000000"/>
            </a:solidFill>
          </a:ln>
        </p:spPr>
      </p:pic>
      <p:pic>
        <p:nvPicPr>
          <p:cNvPr id="445" name="" descr=""/>
          <p:cNvPicPr/>
          <p:nvPr/>
        </p:nvPicPr>
        <p:blipFill>
          <a:blip r:embed="rId2"/>
        </p:blipFill>
        <p:spPr>
          <a:xfrm>
            <a:off x="4608000" y="3060000"/>
            <a:ext cx="3255120" cy="3239640"/>
          </a:xfrm>
          <a:prstGeom prst="rect">
            <a:avLst/>
          </a:prstGeom>
          <a:ln cap="rnd" w="0">
            <a:solidFill>
              <a:srgbClr val="000000"/>
            </a:solidFill>
          </a:ln>
        </p:spPr>
      </p:pic>
      <p:pic>
        <p:nvPicPr>
          <p:cNvPr id="446" name="" descr=""/>
          <p:cNvPicPr/>
          <p:nvPr/>
        </p:nvPicPr>
        <p:blipFill>
          <a:blip r:embed="rId3"/>
        </p:blipFill>
        <p:spPr>
          <a:xfrm>
            <a:off x="8100000" y="3060000"/>
            <a:ext cx="3581640" cy="323964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48"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49" name="TextBox 3"/>
          <p:cNvSpPr/>
          <p:nvPr/>
        </p:nvSpPr>
        <p:spPr>
          <a:xfrm>
            <a:off x="3061440" y="255960"/>
            <a:ext cx="576360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13. Trivy — Security Scanning</a:t>
            </a:r>
            <a:endParaRPr b="0" lang="en-IN" sz="2700" spc="-1" strike="noStrike">
              <a:solidFill>
                <a:srgbClr val="000000"/>
              </a:solidFill>
              <a:latin typeface="Arial"/>
            </a:endParaRPr>
          </a:p>
        </p:txBody>
      </p:sp>
      <p:sp>
        <p:nvSpPr>
          <p:cNvPr id="450" name="TextBox 4"/>
          <p:cNvSpPr/>
          <p:nvPr/>
        </p:nvSpPr>
        <p:spPr>
          <a:xfrm>
            <a:off x="10716480" y="311040"/>
            <a:ext cx="8319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SECURITY</a:t>
            </a:r>
            <a:endParaRPr b="0" lang="en-IN" sz="900" spc="-1" strike="noStrike">
              <a:solidFill>
                <a:srgbClr val="000000"/>
              </a:solidFill>
              <a:latin typeface="Arial"/>
            </a:endParaRPr>
          </a:p>
        </p:txBody>
      </p:sp>
      <p:sp>
        <p:nvSpPr>
          <p:cNvPr id="451"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14</a:t>
            </a:r>
            <a:endParaRPr b="0" lang="en-IN" sz="800" spc="-1" strike="noStrike">
              <a:solidFill>
                <a:srgbClr val="000000"/>
              </a:solidFill>
              <a:latin typeface="Arial"/>
            </a:endParaRPr>
          </a:p>
        </p:txBody>
      </p:sp>
      <p:sp>
        <p:nvSpPr>
          <p:cNvPr id="452" name="Rounded Rectangle 6"/>
          <p:cNvSpPr/>
          <p:nvPr/>
        </p:nvSpPr>
        <p:spPr>
          <a:xfrm>
            <a:off x="640080" y="960120"/>
            <a:ext cx="50284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53" name="Rectangle 7"/>
          <p:cNvSpPr/>
          <p:nvPr/>
        </p:nvSpPr>
        <p:spPr>
          <a:xfrm>
            <a:off x="640080" y="960120"/>
            <a:ext cx="72360" cy="1736640"/>
          </a:xfrm>
          <a:prstGeom prst="rect">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54" name="TextBox 8"/>
          <p:cNvSpPr/>
          <p:nvPr/>
        </p:nvSpPr>
        <p:spPr>
          <a:xfrm>
            <a:off x="1055880" y="1106280"/>
            <a:ext cx="423324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What question does Trivy answer?</a:t>
            </a:r>
            <a:endParaRPr b="0" lang="en-IN" sz="1700" spc="-1" strike="noStrike">
              <a:solidFill>
                <a:srgbClr val="000000"/>
              </a:solidFill>
              <a:latin typeface="Arial"/>
            </a:endParaRPr>
          </a:p>
        </p:txBody>
      </p:sp>
      <p:sp>
        <p:nvSpPr>
          <p:cNvPr id="455" name="TextBox 9"/>
          <p:cNvSpPr/>
          <p:nvPr/>
        </p:nvSpPr>
        <p:spPr>
          <a:xfrm>
            <a:off x="841320" y="1527120"/>
            <a:ext cx="4644360" cy="730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pc="-1" strike="noStrike">
                <a:solidFill>
                  <a:srgbClr val="2a3340"/>
                </a:solidFill>
                <a:latin typeface="Aptos"/>
              </a:rPr>
              <a:t>“</a:t>
            </a:r>
            <a:r>
              <a:rPr b="0" lang="en-US" sz="1400" spc="-1" strike="noStrike">
                <a:solidFill>
                  <a:srgbClr val="2a3340"/>
                </a:solidFill>
                <a:latin typeface="Aptos"/>
              </a:rPr>
              <a:t>Do the filesystem or container images contain known vulnerabilities that should be identified before deployment?”</a:t>
            </a:r>
            <a:endParaRPr b="0" lang="en-IN" sz="1400" spc="-1" strike="noStrike">
              <a:solidFill>
                <a:srgbClr val="000000"/>
              </a:solidFill>
              <a:latin typeface="Arial"/>
            </a:endParaRPr>
          </a:p>
        </p:txBody>
      </p:sp>
      <p:sp>
        <p:nvSpPr>
          <p:cNvPr id="456" name="Rounded Rectangle 10"/>
          <p:cNvSpPr/>
          <p:nvPr/>
        </p:nvSpPr>
        <p:spPr>
          <a:xfrm>
            <a:off x="6126480" y="960120"/>
            <a:ext cx="50284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57" name="Rectangle 11"/>
          <p:cNvSpPr/>
          <p:nvPr/>
        </p:nvSpPr>
        <p:spPr>
          <a:xfrm>
            <a:off x="6126480" y="960120"/>
            <a:ext cx="72360" cy="1736640"/>
          </a:xfrm>
          <a:prstGeom prst="rect">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58" name="TextBox 12"/>
          <p:cNvSpPr/>
          <p:nvPr/>
        </p:nvSpPr>
        <p:spPr>
          <a:xfrm>
            <a:off x="7651800" y="1106280"/>
            <a:ext cx="2014560" cy="3488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700" spc="-1" strike="noStrike">
                <a:solidFill>
                  <a:srgbClr val="14223c"/>
                </a:solidFill>
                <a:latin typeface="Aptos"/>
              </a:rPr>
              <a:t>What I scanned</a:t>
            </a:r>
            <a:endParaRPr b="0" lang="en-IN" sz="1700" spc="-1" strike="noStrike">
              <a:solidFill>
                <a:srgbClr val="000000"/>
              </a:solidFill>
              <a:latin typeface="Arial"/>
            </a:endParaRPr>
          </a:p>
        </p:txBody>
      </p:sp>
      <p:sp>
        <p:nvSpPr>
          <p:cNvPr id="459" name="TextBox 13"/>
          <p:cNvSpPr/>
          <p:nvPr/>
        </p:nvSpPr>
        <p:spPr>
          <a:xfrm>
            <a:off x="6327720" y="1527120"/>
            <a:ext cx="4644360" cy="48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Filesystem plus frontend and backend container images. Reports were saved under reports/trivy/.</a:t>
            </a:r>
            <a:endParaRPr b="0" lang="en-IN" sz="1300" spc="-1" strike="noStrike">
              <a:solidFill>
                <a:srgbClr val="000000"/>
              </a:solidFill>
              <a:latin typeface="Arial"/>
            </a:endParaRPr>
          </a:p>
        </p:txBody>
      </p:sp>
      <p:sp>
        <p:nvSpPr>
          <p:cNvPr id="460" name="Rounded Rectangle 14"/>
          <p:cNvSpPr/>
          <p:nvPr/>
        </p:nvSpPr>
        <p:spPr>
          <a:xfrm>
            <a:off x="822960" y="3063240"/>
            <a:ext cx="3885480" cy="159948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61" name="TextBox 15"/>
          <p:cNvSpPr/>
          <p:nvPr/>
        </p:nvSpPr>
        <p:spPr>
          <a:xfrm>
            <a:off x="987480" y="3182040"/>
            <a:ext cx="3556440" cy="82116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200" spc="-1" strike="noStrike">
                <a:solidFill>
                  <a:srgbClr val="ffffff"/>
                </a:solidFill>
                <a:latin typeface="Cascadia Mono"/>
              </a:rPr>
              <a:t>trivy fs .</a:t>
            </a:r>
            <a:br>
              <a:rPr sz="1200"/>
            </a:br>
            <a:br>
              <a:rPr sz="1200"/>
            </a:br>
            <a:r>
              <a:rPr b="0" lang="en-US" sz="1200" spc="-1" strike="noStrike">
                <a:solidFill>
                  <a:srgbClr val="ffffff"/>
                </a:solidFill>
                <a:latin typeface="Cascadia Mono"/>
              </a:rPr>
              <a:t>trivy image &lt;frontend-image&gt;</a:t>
            </a:r>
            <a:br>
              <a:rPr sz="1200"/>
            </a:br>
            <a:r>
              <a:rPr b="0" lang="en-US" sz="1200" spc="-1" strike="noStrike">
                <a:solidFill>
                  <a:srgbClr val="ffffff"/>
                </a:solidFill>
                <a:latin typeface="Cascadia Mono"/>
              </a:rPr>
              <a:t>trivy image &lt;backend-image&gt;</a:t>
            </a:r>
            <a:endParaRPr b="0" lang="en-IN" sz="1200" spc="-1" strike="noStrike">
              <a:solidFill>
                <a:srgbClr val="000000"/>
              </a:solidFill>
              <a:latin typeface="Arial"/>
            </a:endParaRPr>
          </a:p>
        </p:txBody>
      </p:sp>
      <p:sp>
        <p:nvSpPr>
          <p:cNvPr id="462" name="Rounded Rectangle 16"/>
          <p:cNvSpPr/>
          <p:nvPr/>
        </p:nvSpPr>
        <p:spPr>
          <a:xfrm>
            <a:off x="4983480" y="2971800"/>
            <a:ext cx="2971080" cy="214812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63" name="TextBox 17"/>
          <p:cNvSpPr/>
          <p:nvPr/>
        </p:nvSpPr>
        <p:spPr>
          <a:xfrm>
            <a:off x="5212080" y="3200400"/>
            <a:ext cx="251388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screenshots/build-journey/trivy/backend-report.png</a:t>
            </a:r>
            <a:endParaRPr b="0" lang="en-IN" sz="900" spc="-1" strike="noStrike">
              <a:solidFill>
                <a:srgbClr val="000000"/>
              </a:solidFill>
              <a:latin typeface="Arial"/>
            </a:endParaRPr>
          </a:p>
        </p:txBody>
      </p:sp>
      <p:sp>
        <p:nvSpPr>
          <p:cNvPr id="464" name="TextBox 18"/>
          <p:cNvSpPr/>
          <p:nvPr/>
        </p:nvSpPr>
        <p:spPr>
          <a:xfrm>
            <a:off x="5557680" y="6282360"/>
            <a:ext cx="182232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backend image report</a:t>
            </a:r>
            <a:endParaRPr b="0" lang="en-IN" sz="900" spc="-1" strike="noStrike">
              <a:solidFill>
                <a:srgbClr val="000000"/>
              </a:solidFill>
              <a:latin typeface="Arial"/>
            </a:endParaRPr>
          </a:p>
        </p:txBody>
      </p:sp>
      <p:sp>
        <p:nvSpPr>
          <p:cNvPr id="465" name="Rounded Rectangle 19"/>
          <p:cNvSpPr/>
          <p:nvPr/>
        </p:nvSpPr>
        <p:spPr>
          <a:xfrm>
            <a:off x="8183880" y="2971800"/>
            <a:ext cx="2971080" cy="214812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66" name="TextBox 20"/>
          <p:cNvSpPr/>
          <p:nvPr/>
        </p:nvSpPr>
        <p:spPr>
          <a:xfrm>
            <a:off x="8412480" y="3200400"/>
            <a:ext cx="251388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screenshots/build-journey/trivy/frontend-report.png</a:t>
            </a:r>
            <a:endParaRPr b="0" lang="en-IN" sz="900" spc="-1" strike="noStrike">
              <a:solidFill>
                <a:srgbClr val="000000"/>
              </a:solidFill>
              <a:latin typeface="Arial"/>
            </a:endParaRPr>
          </a:p>
        </p:txBody>
      </p:sp>
      <p:sp>
        <p:nvSpPr>
          <p:cNvPr id="467" name="TextBox 21"/>
          <p:cNvSpPr/>
          <p:nvPr/>
        </p:nvSpPr>
        <p:spPr>
          <a:xfrm>
            <a:off x="8756640" y="6282360"/>
            <a:ext cx="182556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frontend image report</a:t>
            </a:r>
            <a:endParaRPr b="0" lang="en-IN" sz="900" spc="-1" strike="noStrike">
              <a:solidFill>
                <a:srgbClr val="000000"/>
              </a:solidFill>
              <a:latin typeface="Arial"/>
            </a:endParaRPr>
          </a:p>
        </p:txBody>
      </p:sp>
      <p:pic>
        <p:nvPicPr>
          <p:cNvPr id="468" name="" descr=""/>
          <p:cNvPicPr/>
          <p:nvPr/>
        </p:nvPicPr>
        <p:blipFill>
          <a:blip r:embed="rId1"/>
        </p:blipFill>
        <p:spPr>
          <a:xfrm>
            <a:off x="4932000" y="2982960"/>
            <a:ext cx="3059640" cy="3316680"/>
          </a:xfrm>
          <a:prstGeom prst="rect">
            <a:avLst/>
          </a:prstGeom>
          <a:ln cap="rnd" w="0">
            <a:solidFill>
              <a:srgbClr val="000000"/>
            </a:solidFill>
          </a:ln>
        </p:spPr>
      </p:pic>
      <p:pic>
        <p:nvPicPr>
          <p:cNvPr id="469" name="" descr=""/>
          <p:cNvPicPr/>
          <p:nvPr/>
        </p:nvPicPr>
        <p:blipFill>
          <a:blip r:embed="rId2"/>
        </p:blipFill>
        <p:spPr>
          <a:xfrm>
            <a:off x="8187480" y="2971800"/>
            <a:ext cx="3152160" cy="331020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71"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72" name="TextBox 3"/>
          <p:cNvSpPr/>
          <p:nvPr/>
        </p:nvSpPr>
        <p:spPr>
          <a:xfrm>
            <a:off x="3821040" y="255960"/>
            <a:ext cx="424404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14. Argo CD — GitOps</a:t>
            </a:r>
            <a:endParaRPr b="0" lang="en-IN" sz="2700" spc="-1" strike="noStrike">
              <a:solidFill>
                <a:srgbClr val="000000"/>
              </a:solidFill>
              <a:latin typeface="Arial"/>
            </a:endParaRPr>
          </a:p>
        </p:txBody>
      </p:sp>
      <p:sp>
        <p:nvSpPr>
          <p:cNvPr id="473" name="TextBox 4"/>
          <p:cNvSpPr/>
          <p:nvPr/>
        </p:nvSpPr>
        <p:spPr>
          <a:xfrm>
            <a:off x="10724760" y="311040"/>
            <a:ext cx="81504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DELIVERY</a:t>
            </a:r>
            <a:endParaRPr b="0" lang="en-IN" sz="900" spc="-1" strike="noStrike">
              <a:solidFill>
                <a:srgbClr val="000000"/>
              </a:solidFill>
              <a:latin typeface="Arial"/>
            </a:endParaRPr>
          </a:p>
        </p:txBody>
      </p:sp>
      <p:sp>
        <p:nvSpPr>
          <p:cNvPr id="474"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15</a:t>
            </a:r>
            <a:endParaRPr b="0" lang="en-IN" sz="800" spc="-1" strike="noStrike">
              <a:solidFill>
                <a:srgbClr val="000000"/>
              </a:solidFill>
              <a:latin typeface="Arial"/>
            </a:endParaRPr>
          </a:p>
        </p:txBody>
      </p:sp>
      <p:sp>
        <p:nvSpPr>
          <p:cNvPr id="475" name="Rounded Rectangle 6"/>
          <p:cNvSpPr/>
          <p:nvPr/>
        </p:nvSpPr>
        <p:spPr>
          <a:xfrm>
            <a:off x="594360" y="914400"/>
            <a:ext cx="34282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76" name="Rectangle 7"/>
          <p:cNvSpPr/>
          <p:nvPr/>
        </p:nvSpPr>
        <p:spPr>
          <a:xfrm>
            <a:off x="594360" y="914400"/>
            <a:ext cx="72360" cy="173664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77" name="TextBox 8"/>
          <p:cNvSpPr/>
          <p:nvPr/>
        </p:nvSpPr>
        <p:spPr>
          <a:xfrm>
            <a:off x="1494000" y="1060560"/>
            <a:ext cx="16653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Desired state</a:t>
            </a:r>
            <a:endParaRPr b="0" lang="en-IN" sz="1600" spc="-1" strike="noStrike">
              <a:solidFill>
                <a:srgbClr val="000000"/>
              </a:solidFill>
              <a:latin typeface="Arial"/>
            </a:endParaRPr>
          </a:p>
        </p:txBody>
      </p:sp>
      <p:sp>
        <p:nvSpPr>
          <p:cNvPr id="478" name="TextBox 9"/>
          <p:cNvSpPr/>
          <p:nvPr/>
        </p:nvSpPr>
        <p:spPr>
          <a:xfrm>
            <a:off x="795600" y="148140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Kubernetes manifests are stored in Git. Git becomes the source of truth for the declared application state.</a:t>
            </a:r>
            <a:endParaRPr b="0" lang="en-IN" sz="1300" spc="-1" strike="noStrike">
              <a:solidFill>
                <a:srgbClr val="000000"/>
              </a:solidFill>
              <a:latin typeface="Arial"/>
            </a:endParaRPr>
          </a:p>
        </p:txBody>
      </p:sp>
      <p:sp>
        <p:nvSpPr>
          <p:cNvPr id="479" name="Rounded Rectangle 10"/>
          <p:cNvSpPr/>
          <p:nvPr/>
        </p:nvSpPr>
        <p:spPr>
          <a:xfrm>
            <a:off x="4389120" y="914400"/>
            <a:ext cx="34282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80" name="Rectangle 11"/>
          <p:cNvSpPr/>
          <p:nvPr/>
        </p:nvSpPr>
        <p:spPr>
          <a:xfrm>
            <a:off x="4389120" y="914400"/>
            <a:ext cx="72360" cy="173664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81" name="TextBox 12"/>
          <p:cNvSpPr/>
          <p:nvPr/>
        </p:nvSpPr>
        <p:spPr>
          <a:xfrm>
            <a:off x="5579280" y="1060560"/>
            <a:ext cx="10846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Argo CD</a:t>
            </a:r>
            <a:endParaRPr b="0" lang="en-IN" sz="1600" spc="-1" strike="noStrike">
              <a:solidFill>
                <a:srgbClr val="000000"/>
              </a:solidFill>
              <a:latin typeface="Arial"/>
            </a:endParaRPr>
          </a:p>
        </p:txBody>
      </p:sp>
      <p:sp>
        <p:nvSpPr>
          <p:cNvPr id="482" name="TextBox 13"/>
          <p:cNvSpPr/>
          <p:nvPr/>
        </p:nvSpPr>
        <p:spPr>
          <a:xfrm>
            <a:off x="4590360" y="1481400"/>
            <a:ext cx="3044160" cy="684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Argo CD watches the Git-defined desired state and compares it with the live Kubernetes state.</a:t>
            </a:r>
            <a:endParaRPr b="0" lang="en-IN" sz="1300" spc="-1" strike="noStrike">
              <a:solidFill>
                <a:srgbClr val="000000"/>
              </a:solidFill>
              <a:latin typeface="Arial"/>
            </a:endParaRPr>
          </a:p>
        </p:txBody>
      </p:sp>
      <p:sp>
        <p:nvSpPr>
          <p:cNvPr id="483" name="Rounded Rectangle 14"/>
          <p:cNvSpPr/>
          <p:nvPr/>
        </p:nvSpPr>
        <p:spPr>
          <a:xfrm>
            <a:off x="8183880" y="914400"/>
            <a:ext cx="34282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84" name="Rectangle 15"/>
          <p:cNvSpPr/>
          <p:nvPr/>
        </p:nvSpPr>
        <p:spPr>
          <a:xfrm>
            <a:off x="8183880" y="914400"/>
            <a:ext cx="72360" cy="173664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85" name="TextBox 16"/>
          <p:cNvSpPr/>
          <p:nvPr/>
        </p:nvSpPr>
        <p:spPr>
          <a:xfrm>
            <a:off x="9030240" y="1060560"/>
            <a:ext cx="17722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Reconciliation</a:t>
            </a:r>
            <a:endParaRPr b="0" lang="en-IN" sz="1600" spc="-1" strike="noStrike">
              <a:solidFill>
                <a:srgbClr val="000000"/>
              </a:solidFill>
              <a:latin typeface="Arial"/>
            </a:endParaRPr>
          </a:p>
        </p:txBody>
      </p:sp>
      <p:sp>
        <p:nvSpPr>
          <p:cNvPr id="486" name="TextBox 17"/>
          <p:cNvSpPr/>
          <p:nvPr/>
        </p:nvSpPr>
        <p:spPr>
          <a:xfrm>
            <a:off x="8385120" y="1481400"/>
            <a:ext cx="304416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When the desired state and live state differ, Argo CD can synchronize the application according to the configured GitOps workflow.</a:t>
            </a:r>
            <a:endParaRPr b="0" lang="en-IN" sz="1300" spc="-1" strike="noStrike">
              <a:solidFill>
                <a:srgbClr val="000000"/>
              </a:solidFill>
              <a:latin typeface="Arial"/>
            </a:endParaRPr>
          </a:p>
        </p:txBody>
      </p:sp>
      <p:sp>
        <p:nvSpPr>
          <p:cNvPr id="487" name="Rounded Rectangle 18"/>
          <p:cNvSpPr/>
          <p:nvPr/>
        </p:nvSpPr>
        <p:spPr>
          <a:xfrm>
            <a:off x="1097280" y="3063240"/>
            <a:ext cx="2385720" cy="74916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88" name="TextBox 19"/>
          <p:cNvSpPr/>
          <p:nvPr/>
        </p:nvSpPr>
        <p:spPr>
          <a:xfrm>
            <a:off x="2046240" y="3154680"/>
            <a:ext cx="487440" cy="3182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500" spc="-1" strike="noStrike">
                <a:solidFill>
                  <a:srgbClr val="ffffff"/>
                </a:solidFill>
                <a:latin typeface="Aptos"/>
              </a:rPr>
              <a:t>Git</a:t>
            </a:r>
            <a:endParaRPr b="0" lang="en-IN" sz="1500" spc="-1" strike="noStrike">
              <a:solidFill>
                <a:srgbClr val="000000"/>
              </a:solidFill>
              <a:latin typeface="Arial"/>
            </a:endParaRPr>
          </a:p>
        </p:txBody>
      </p:sp>
      <p:sp>
        <p:nvSpPr>
          <p:cNvPr id="489" name="Chevron 20"/>
          <p:cNvSpPr/>
          <p:nvPr/>
        </p:nvSpPr>
        <p:spPr>
          <a:xfrm>
            <a:off x="3493080" y="3318120"/>
            <a:ext cx="109080" cy="239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90" name="Rounded Rectangle 21"/>
          <p:cNvSpPr/>
          <p:nvPr/>
        </p:nvSpPr>
        <p:spPr>
          <a:xfrm>
            <a:off x="3593520" y="3063240"/>
            <a:ext cx="2385720" cy="74916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91" name="TextBox 22"/>
          <p:cNvSpPr/>
          <p:nvPr/>
        </p:nvSpPr>
        <p:spPr>
          <a:xfrm>
            <a:off x="4271040" y="3154680"/>
            <a:ext cx="1031400" cy="3182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500" spc="-1" strike="noStrike">
                <a:solidFill>
                  <a:srgbClr val="ffffff"/>
                </a:solidFill>
                <a:latin typeface="Aptos"/>
              </a:rPr>
              <a:t>Argo CD</a:t>
            </a:r>
            <a:endParaRPr b="0" lang="en-IN" sz="1500" spc="-1" strike="noStrike">
              <a:solidFill>
                <a:srgbClr val="000000"/>
              </a:solidFill>
              <a:latin typeface="Arial"/>
            </a:endParaRPr>
          </a:p>
        </p:txBody>
      </p:sp>
      <p:sp>
        <p:nvSpPr>
          <p:cNvPr id="492" name="Chevron 23"/>
          <p:cNvSpPr/>
          <p:nvPr/>
        </p:nvSpPr>
        <p:spPr>
          <a:xfrm>
            <a:off x="5989320" y="3318120"/>
            <a:ext cx="109080" cy="239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93" name="Rounded Rectangle 24"/>
          <p:cNvSpPr/>
          <p:nvPr/>
        </p:nvSpPr>
        <p:spPr>
          <a:xfrm>
            <a:off x="6089760" y="3063240"/>
            <a:ext cx="2385720" cy="749160"/>
          </a:xfrm>
          <a:prstGeom prst="roundRect">
            <a:avLst>
              <a:gd name="adj" fmla="val 16667"/>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94" name="TextBox 25"/>
          <p:cNvSpPr/>
          <p:nvPr/>
        </p:nvSpPr>
        <p:spPr>
          <a:xfrm>
            <a:off x="6970680" y="3154680"/>
            <a:ext cx="624600" cy="3182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500" spc="-1" strike="noStrike">
                <a:solidFill>
                  <a:srgbClr val="ffffff"/>
                </a:solidFill>
                <a:latin typeface="Aptos"/>
              </a:rPr>
              <a:t>AKS</a:t>
            </a:r>
            <a:endParaRPr b="0" lang="en-IN" sz="1500" spc="-1" strike="noStrike">
              <a:solidFill>
                <a:srgbClr val="000000"/>
              </a:solidFill>
              <a:latin typeface="Arial"/>
            </a:endParaRPr>
          </a:p>
        </p:txBody>
      </p:sp>
      <p:sp>
        <p:nvSpPr>
          <p:cNvPr id="495" name="Chevron 26"/>
          <p:cNvSpPr/>
          <p:nvPr/>
        </p:nvSpPr>
        <p:spPr>
          <a:xfrm>
            <a:off x="8485560" y="3318120"/>
            <a:ext cx="109080" cy="239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96" name="Rounded Rectangle 27"/>
          <p:cNvSpPr/>
          <p:nvPr/>
        </p:nvSpPr>
        <p:spPr>
          <a:xfrm>
            <a:off x="8586360" y="3063240"/>
            <a:ext cx="2385720" cy="74916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97" name="TextBox 28"/>
          <p:cNvSpPr/>
          <p:nvPr/>
        </p:nvSpPr>
        <p:spPr>
          <a:xfrm>
            <a:off x="9034200" y="3154680"/>
            <a:ext cx="1490040" cy="3182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500" spc="-1" strike="noStrike">
                <a:solidFill>
                  <a:srgbClr val="ffffff"/>
                </a:solidFill>
                <a:latin typeface="Aptos"/>
              </a:rPr>
              <a:t>Running App</a:t>
            </a:r>
            <a:endParaRPr b="0" lang="en-IN" sz="1500" spc="-1" strike="noStrike">
              <a:solidFill>
                <a:srgbClr val="000000"/>
              </a:solidFill>
              <a:latin typeface="Arial"/>
            </a:endParaRPr>
          </a:p>
        </p:txBody>
      </p:sp>
      <p:sp>
        <p:nvSpPr>
          <p:cNvPr id="498" name="Rounded Rectangle 29"/>
          <p:cNvSpPr/>
          <p:nvPr/>
        </p:nvSpPr>
        <p:spPr>
          <a:xfrm>
            <a:off x="731520" y="4160520"/>
            <a:ext cx="4571280" cy="164520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499" name="TextBox 30"/>
          <p:cNvSpPr/>
          <p:nvPr/>
        </p:nvSpPr>
        <p:spPr>
          <a:xfrm>
            <a:off x="960120" y="4389120"/>
            <a:ext cx="411408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screenshots/argo-cd/4-flavorforge-application-details-tree-argo-cd.png</a:t>
            </a:r>
            <a:endParaRPr b="0" lang="en-IN" sz="900" spc="-1" strike="noStrike">
              <a:solidFill>
                <a:srgbClr val="000000"/>
              </a:solidFill>
              <a:latin typeface="Arial"/>
            </a:endParaRPr>
          </a:p>
        </p:txBody>
      </p:sp>
      <p:sp>
        <p:nvSpPr>
          <p:cNvPr id="500" name="TextBox 31"/>
          <p:cNvSpPr/>
          <p:nvPr/>
        </p:nvSpPr>
        <p:spPr>
          <a:xfrm>
            <a:off x="1680480" y="6428160"/>
            <a:ext cx="26730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FlavorForge Argo CD application tree</a:t>
            </a:r>
            <a:endParaRPr b="0" lang="en-IN" sz="900" spc="-1" strike="noStrike">
              <a:solidFill>
                <a:srgbClr val="000000"/>
              </a:solidFill>
              <a:latin typeface="Arial"/>
            </a:endParaRPr>
          </a:p>
        </p:txBody>
      </p:sp>
      <p:sp>
        <p:nvSpPr>
          <p:cNvPr id="501" name="Rounded Rectangle 32"/>
          <p:cNvSpPr/>
          <p:nvPr/>
        </p:nvSpPr>
        <p:spPr>
          <a:xfrm>
            <a:off x="5623560" y="4069080"/>
            <a:ext cx="5439960" cy="173664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02" name="TextBox 33"/>
          <p:cNvSpPr/>
          <p:nvPr/>
        </p:nvSpPr>
        <p:spPr>
          <a:xfrm>
            <a:off x="5788080" y="4187880"/>
            <a:ext cx="5110920" cy="70020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000" spc="-1" strike="noStrike">
                <a:solidFill>
                  <a:srgbClr val="ffffff"/>
                </a:solidFill>
                <a:latin typeface="Cascadia Mono"/>
              </a:rPr>
              <a:t>kubectl get applications -n argocd</a:t>
            </a:r>
            <a:br>
              <a:rPr sz="1000"/>
            </a:br>
            <a:br>
              <a:rPr sz="1000"/>
            </a:br>
            <a:r>
              <a:rPr b="0" lang="en-US" sz="1000" spc="-1" strike="noStrike">
                <a:solidFill>
                  <a:srgbClr val="ffffff"/>
                </a:solidFill>
                <a:latin typeface="Cascadia Mono"/>
              </a:rPr>
              <a:t>kubectl get application flavorforge -n argocd \</a:t>
            </a:r>
            <a:br>
              <a:rPr sz="1000"/>
            </a:br>
            <a:r>
              <a:rPr b="0" lang="en-US" sz="1000" spc="-1" strike="noStrike">
                <a:solidFill>
                  <a:srgbClr val="ffffff"/>
                </a:solidFill>
                <a:latin typeface="Cascadia Mono"/>
              </a:rPr>
              <a:t>-o jsonpath='{.status.sync.status} | {.status.health.status}'</a:t>
            </a:r>
            <a:endParaRPr b="0" lang="en-IN" sz="1000" spc="-1" strike="noStrike">
              <a:solidFill>
                <a:srgbClr val="000000"/>
              </a:solidFill>
              <a:latin typeface="Arial"/>
            </a:endParaRPr>
          </a:p>
        </p:txBody>
      </p:sp>
      <p:pic>
        <p:nvPicPr>
          <p:cNvPr id="503" name="" descr=""/>
          <p:cNvPicPr/>
          <p:nvPr/>
        </p:nvPicPr>
        <p:blipFill>
          <a:blip r:embed="rId1"/>
        </p:blipFill>
        <p:spPr>
          <a:xfrm>
            <a:off x="720000" y="4068000"/>
            <a:ext cx="4582800" cy="241164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05"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06" name="TextBox 3"/>
          <p:cNvSpPr/>
          <p:nvPr/>
        </p:nvSpPr>
        <p:spPr>
          <a:xfrm>
            <a:off x="2792520" y="255960"/>
            <a:ext cx="630144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15. Azure Monitor / Observability</a:t>
            </a:r>
            <a:endParaRPr b="0" lang="en-IN" sz="2700" spc="-1" strike="noStrike">
              <a:solidFill>
                <a:srgbClr val="000000"/>
              </a:solidFill>
              <a:latin typeface="Arial"/>
            </a:endParaRPr>
          </a:p>
        </p:txBody>
      </p:sp>
      <p:sp>
        <p:nvSpPr>
          <p:cNvPr id="507" name="TextBox 4"/>
          <p:cNvSpPr/>
          <p:nvPr/>
        </p:nvSpPr>
        <p:spPr>
          <a:xfrm>
            <a:off x="10629000" y="311040"/>
            <a:ext cx="100692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OPERATIONS</a:t>
            </a:r>
            <a:endParaRPr b="0" lang="en-IN" sz="900" spc="-1" strike="noStrike">
              <a:solidFill>
                <a:srgbClr val="000000"/>
              </a:solidFill>
              <a:latin typeface="Arial"/>
            </a:endParaRPr>
          </a:p>
        </p:txBody>
      </p:sp>
      <p:sp>
        <p:nvSpPr>
          <p:cNvPr id="508"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16</a:t>
            </a:r>
            <a:endParaRPr b="0" lang="en-IN" sz="800" spc="-1" strike="noStrike">
              <a:solidFill>
                <a:srgbClr val="000000"/>
              </a:solidFill>
              <a:latin typeface="Arial"/>
            </a:endParaRPr>
          </a:p>
        </p:txBody>
      </p:sp>
      <p:sp>
        <p:nvSpPr>
          <p:cNvPr id="509" name="Rounded Rectangle 6"/>
          <p:cNvSpPr/>
          <p:nvPr/>
        </p:nvSpPr>
        <p:spPr>
          <a:xfrm>
            <a:off x="594360" y="960120"/>
            <a:ext cx="34282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10" name="Rectangle 7"/>
          <p:cNvSpPr/>
          <p:nvPr/>
        </p:nvSpPr>
        <p:spPr>
          <a:xfrm>
            <a:off x="594360" y="960120"/>
            <a:ext cx="72360" cy="1736640"/>
          </a:xfrm>
          <a:prstGeom prst="rect">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11" name="TextBox 8"/>
          <p:cNvSpPr/>
          <p:nvPr/>
        </p:nvSpPr>
        <p:spPr>
          <a:xfrm>
            <a:off x="1309680" y="1106280"/>
            <a:ext cx="20343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Why monitoring?</a:t>
            </a:r>
            <a:endParaRPr b="0" lang="en-IN" sz="1600" spc="-1" strike="noStrike">
              <a:solidFill>
                <a:srgbClr val="000000"/>
              </a:solidFill>
              <a:latin typeface="Arial"/>
            </a:endParaRPr>
          </a:p>
        </p:txBody>
      </p:sp>
      <p:sp>
        <p:nvSpPr>
          <p:cNvPr id="512" name="TextBox 9"/>
          <p:cNvSpPr/>
          <p:nvPr/>
        </p:nvSpPr>
        <p:spPr>
          <a:xfrm>
            <a:off x="795600" y="152712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Deployment is not the end. I need visibility into health, logs, events and resource behavior after the application is running.</a:t>
            </a:r>
            <a:endParaRPr b="0" lang="en-IN" sz="1300" spc="-1" strike="noStrike">
              <a:solidFill>
                <a:srgbClr val="000000"/>
              </a:solidFill>
              <a:latin typeface="Arial"/>
            </a:endParaRPr>
          </a:p>
        </p:txBody>
      </p:sp>
      <p:sp>
        <p:nvSpPr>
          <p:cNvPr id="513" name="Rounded Rectangle 10"/>
          <p:cNvSpPr/>
          <p:nvPr/>
        </p:nvSpPr>
        <p:spPr>
          <a:xfrm>
            <a:off x="4389120" y="960120"/>
            <a:ext cx="34282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14" name="Rectangle 11"/>
          <p:cNvSpPr/>
          <p:nvPr/>
        </p:nvSpPr>
        <p:spPr>
          <a:xfrm>
            <a:off x="4389120" y="960120"/>
            <a:ext cx="72360" cy="173664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15" name="TextBox 12"/>
          <p:cNvSpPr/>
          <p:nvPr/>
        </p:nvSpPr>
        <p:spPr>
          <a:xfrm>
            <a:off x="5211720" y="1106280"/>
            <a:ext cx="18194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Signals I verify</a:t>
            </a:r>
            <a:endParaRPr b="0" lang="en-IN" sz="1600" spc="-1" strike="noStrike">
              <a:solidFill>
                <a:srgbClr val="000000"/>
              </a:solidFill>
              <a:latin typeface="Arial"/>
            </a:endParaRPr>
          </a:p>
        </p:txBody>
      </p:sp>
      <p:sp>
        <p:nvSpPr>
          <p:cNvPr id="516" name="TextBox 13"/>
          <p:cNvSpPr/>
          <p:nvPr/>
        </p:nvSpPr>
        <p:spPr>
          <a:xfrm>
            <a:off x="4590360" y="1527120"/>
            <a:ext cx="304416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Health endpoint</a:t>
            </a:r>
            <a:br>
              <a:rPr sz="1300"/>
            </a:br>
            <a:r>
              <a:rPr b="0" lang="en-US" sz="1300" spc="-1" strike="noStrike">
                <a:solidFill>
                  <a:srgbClr val="2a3340"/>
                </a:solidFill>
                <a:latin typeface="Aptos"/>
              </a:rPr>
              <a:t>Pod/service state</a:t>
            </a:r>
            <a:br>
              <a:rPr sz="1300"/>
            </a:br>
            <a:r>
              <a:rPr b="0" lang="en-US" sz="1300" spc="-1" strike="noStrike">
                <a:solidFill>
                  <a:srgbClr val="2a3340"/>
                </a:solidFill>
                <a:latin typeface="Aptos"/>
              </a:rPr>
              <a:t>Application logs</a:t>
            </a:r>
            <a:br>
              <a:rPr sz="1300"/>
            </a:br>
            <a:r>
              <a:rPr b="0" lang="en-US" sz="1300" spc="-1" strike="noStrike">
                <a:solidFill>
                  <a:srgbClr val="2a3340"/>
                </a:solidFill>
                <a:latin typeface="Aptos"/>
              </a:rPr>
              <a:t>Kubernetes events</a:t>
            </a:r>
            <a:br>
              <a:rPr sz="1300"/>
            </a:br>
            <a:r>
              <a:rPr b="0" lang="en-US" sz="1300" spc="-1" strike="noStrike">
                <a:solidFill>
                  <a:srgbClr val="2a3340"/>
                </a:solidFill>
                <a:latin typeface="Aptos"/>
              </a:rPr>
              <a:t>Resource metrics / monitoring</a:t>
            </a:r>
            <a:endParaRPr b="0" lang="en-IN" sz="1300" spc="-1" strike="noStrike">
              <a:solidFill>
                <a:srgbClr val="000000"/>
              </a:solidFill>
              <a:latin typeface="Arial"/>
            </a:endParaRPr>
          </a:p>
        </p:txBody>
      </p:sp>
      <p:sp>
        <p:nvSpPr>
          <p:cNvPr id="517" name="Rounded Rectangle 14"/>
          <p:cNvSpPr/>
          <p:nvPr/>
        </p:nvSpPr>
        <p:spPr>
          <a:xfrm>
            <a:off x="8183880" y="960120"/>
            <a:ext cx="3428280" cy="17366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18" name="Rectangle 15"/>
          <p:cNvSpPr/>
          <p:nvPr/>
        </p:nvSpPr>
        <p:spPr>
          <a:xfrm>
            <a:off x="8183880" y="960120"/>
            <a:ext cx="72360" cy="1736640"/>
          </a:xfrm>
          <a:prstGeom prst="rect">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19" name="TextBox 16"/>
          <p:cNvSpPr/>
          <p:nvPr/>
        </p:nvSpPr>
        <p:spPr>
          <a:xfrm>
            <a:off x="8907480" y="1106280"/>
            <a:ext cx="20174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Operational goal</a:t>
            </a:r>
            <a:endParaRPr b="0" lang="en-IN" sz="1600" spc="-1" strike="noStrike">
              <a:solidFill>
                <a:srgbClr val="000000"/>
              </a:solidFill>
              <a:latin typeface="Arial"/>
            </a:endParaRPr>
          </a:p>
        </p:txBody>
      </p:sp>
      <p:sp>
        <p:nvSpPr>
          <p:cNvPr id="520" name="TextBox 17"/>
          <p:cNvSpPr/>
          <p:nvPr/>
        </p:nvSpPr>
        <p:spPr>
          <a:xfrm>
            <a:off x="8385120" y="152712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Detect problems, understand what happened and verify that the deployed application remains usable.</a:t>
            </a:r>
            <a:endParaRPr b="0" lang="en-IN" sz="1300" spc="-1" strike="noStrike">
              <a:solidFill>
                <a:srgbClr val="000000"/>
              </a:solidFill>
              <a:latin typeface="Arial"/>
            </a:endParaRPr>
          </a:p>
        </p:txBody>
      </p:sp>
      <p:sp>
        <p:nvSpPr>
          <p:cNvPr id="521" name="Rounded Rectangle 18"/>
          <p:cNvSpPr/>
          <p:nvPr/>
        </p:nvSpPr>
        <p:spPr>
          <a:xfrm>
            <a:off x="731520" y="3154680"/>
            <a:ext cx="3839760" cy="205668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22" name="TextBox 19"/>
          <p:cNvSpPr/>
          <p:nvPr/>
        </p:nvSpPr>
        <p:spPr>
          <a:xfrm>
            <a:off x="960120" y="3383280"/>
            <a:ext cx="3382560" cy="425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screenshots/azure/19-backend-live-logs.png</a:t>
            </a:r>
            <a:endParaRPr b="0" lang="en-IN" sz="900" spc="-1" strike="noStrike">
              <a:solidFill>
                <a:srgbClr val="000000"/>
              </a:solidFill>
              <a:latin typeface="Arial"/>
            </a:endParaRPr>
          </a:p>
        </p:txBody>
      </p:sp>
      <p:sp>
        <p:nvSpPr>
          <p:cNvPr id="523" name="TextBox 20"/>
          <p:cNvSpPr/>
          <p:nvPr/>
        </p:nvSpPr>
        <p:spPr>
          <a:xfrm>
            <a:off x="1874880" y="6373800"/>
            <a:ext cx="15526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backend live logs</a:t>
            </a:r>
            <a:endParaRPr b="0" lang="en-IN" sz="900" spc="-1" strike="noStrike">
              <a:solidFill>
                <a:srgbClr val="000000"/>
              </a:solidFill>
              <a:latin typeface="Arial"/>
            </a:endParaRPr>
          </a:p>
        </p:txBody>
      </p:sp>
      <p:sp>
        <p:nvSpPr>
          <p:cNvPr id="524" name="Rounded Rectangle 21"/>
          <p:cNvSpPr/>
          <p:nvPr/>
        </p:nvSpPr>
        <p:spPr>
          <a:xfrm>
            <a:off x="4800600" y="3154680"/>
            <a:ext cx="3839760" cy="205668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25" name="TextBox 22"/>
          <p:cNvSpPr/>
          <p:nvPr/>
        </p:nvSpPr>
        <p:spPr>
          <a:xfrm>
            <a:off x="5029200" y="3383280"/>
            <a:ext cx="3382560" cy="425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screenshots/azure/20-backend-events.png</a:t>
            </a:r>
            <a:endParaRPr b="0" lang="en-IN" sz="900" spc="-1" strike="noStrike">
              <a:solidFill>
                <a:srgbClr val="000000"/>
              </a:solidFill>
              <a:latin typeface="Arial"/>
            </a:endParaRPr>
          </a:p>
        </p:txBody>
      </p:sp>
      <p:sp>
        <p:nvSpPr>
          <p:cNvPr id="526" name="TextBox 23"/>
          <p:cNvSpPr/>
          <p:nvPr/>
        </p:nvSpPr>
        <p:spPr>
          <a:xfrm>
            <a:off x="5988240" y="6373800"/>
            <a:ext cx="146412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backend events</a:t>
            </a:r>
            <a:endParaRPr b="0" lang="en-IN" sz="900" spc="-1" strike="noStrike">
              <a:solidFill>
                <a:srgbClr val="000000"/>
              </a:solidFill>
              <a:latin typeface="Arial"/>
            </a:endParaRPr>
          </a:p>
        </p:txBody>
      </p:sp>
      <p:sp>
        <p:nvSpPr>
          <p:cNvPr id="527" name="Rounded Rectangle 24"/>
          <p:cNvSpPr/>
          <p:nvPr/>
        </p:nvSpPr>
        <p:spPr>
          <a:xfrm>
            <a:off x="8869680" y="3154680"/>
            <a:ext cx="2468160" cy="205668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28" name="TextBox 25"/>
          <p:cNvSpPr/>
          <p:nvPr/>
        </p:nvSpPr>
        <p:spPr>
          <a:xfrm>
            <a:off x="9098280" y="3383280"/>
            <a:ext cx="2010960" cy="761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screenshots/azure/27-aks-cluster-running.png</a:t>
            </a:r>
            <a:endParaRPr b="0" lang="en-IN" sz="900" spc="-1" strike="noStrike">
              <a:solidFill>
                <a:srgbClr val="000000"/>
              </a:solidFill>
              <a:latin typeface="Arial"/>
            </a:endParaRPr>
          </a:p>
        </p:txBody>
      </p:sp>
      <p:sp>
        <p:nvSpPr>
          <p:cNvPr id="529" name="TextBox 26"/>
          <p:cNvSpPr/>
          <p:nvPr/>
        </p:nvSpPr>
        <p:spPr>
          <a:xfrm>
            <a:off x="9470520" y="6373800"/>
            <a:ext cx="126612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AKS running</a:t>
            </a:r>
            <a:endParaRPr b="0" lang="en-IN" sz="900" spc="-1" strike="noStrike">
              <a:solidFill>
                <a:srgbClr val="000000"/>
              </a:solidFill>
              <a:latin typeface="Arial"/>
            </a:endParaRPr>
          </a:p>
        </p:txBody>
      </p:sp>
      <p:pic>
        <p:nvPicPr>
          <p:cNvPr id="530" name="" descr=""/>
          <p:cNvPicPr/>
          <p:nvPr/>
        </p:nvPicPr>
        <p:blipFill>
          <a:blip r:embed="rId1"/>
        </p:blipFill>
        <p:spPr>
          <a:xfrm>
            <a:off x="731520" y="3154680"/>
            <a:ext cx="3839760" cy="3144960"/>
          </a:xfrm>
          <a:prstGeom prst="rect">
            <a:avLst/>
          </a:prstGeom>
          <a:ln cap="rnd" w="0">
            <a:solidFill>
              <a:srgbClr val="000000"/>
            </a:solidFill>
          </a:ln>
        </p:spPr>
      </p:pic>
      <p:pic>
        <p:nvPicPr>
          <p:cNvPr id="531" name="" descr=""/>
          <p:cNvPicPr/>
          <p:nvPr/>
        </p:nvPicPr>
        <p:blipFill>
          <a:blip r:embed="rId2"/>
        </p:blipFill>
        <p:spPr>
          <a:xfrm>
            <a:off x="4800600" y="3154680"/>
            <a:ext cx="3839040" cy="3144960"/>
          </a:xfrm>
          <a:prstGeom prst="rect">
            <a:avLst/>
          </a:prstGeom>
          <a:ln cap="rnd" w="0">
            <a:solidFill>
              <a:srgbClr val="000000"/>
            </a:solidFill>
          </a:ln>
        </p:spPr>
      </p:pic>
      <p:pic>
        <p:nvPicPr>
          <p:cNvPr id="532" name="" descr=""/>
          <p:cNvPicPr/>
          <p:nvPr/>
        </p:nvPicPr>
        <p:blipFill>
          <a:blip r:embed="rId3"/>
        </p:blipFill>
        <p:spPr>
          <a:xfrm>
            <a:off x="8821800" y="3149640"/>
            <a:ext cx="3057840" cy="315000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34"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35" name="TextBox 3"/>
          <p:cNvSpPr/>
          <p:nvPr/>
        </p:nvSpPr>
        <p:spPr>
          <a:xfrm>
            <a:off x="2829600" y="255960"/>
            <a:ext cx="622692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16. End-to-End Deployment Flow</a:t>
            </a:r>
            <a:endParaRPr b="0" lang="en-IN" sz="2700" spc="-1" strike="noStrike">
              <a:solidFill>
                <a:srgbClr val="000000"/>
              </a:solidFill>
              <a:latin typeface="Arial"/>
            </a:endParaRPr>
          </a:p>
        </p:txBody>
      </p:sp>
      <p:sp>
        <p:nvSpPr>
          <p:cNvPr id="536" name="TextBox 4"/>
          <p:cNvSpPr/>
          <p:nvPr/>
        </p:nvSpPr>
        <p:spPr>
          <a:xfrm>
            <a:off x="10592280" y="311040"/>
            <a:ext cx="106344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INTEGRATION</a:t>
            </a:r>
            <a:endParaRPr b="0" lang="en-IN" sz="900" spc="-1" strike="noStrike">
              <a:solidFill>
                <a:srgbClr val="000000"/>
              </a:solidFill>
              <a:latin typeface="Arial"/>
            </a:endParaRPr>
          </a:p>
        </p:txBody>
      </p:sp>
      <p:sp>
        <p:nvSpPr>
          <p:cNvPr id="537"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17</a:t>
            </a:r>
            <a:endParaRPr b="0" lang="en-IN" sz="800" spc="-1" strike="noStrike">
              <a:solidFill>
                <a:srgbClr val="000000"/>
              </a:solidFill>
              <a:latin typeface="Arial"/>
            </a:endParaRPr>
          </a:p>
        </p:txBody>
      </p:sp>
      <p:sp>
        <p:nvSpPr>
          <p:cNvPr id="538" name="Rounded Rectangle 6"/>
          <p:cNvSpPr/>
          <p:nvPr/>
        </p:nvSpPr>
        <p:spPr>
          <a:xfrm>
            <a:off x="502920" y="1005840"/>
            <a:ext cx="1020600" cy="73080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39" name="TextBox 7"/>
          <p:cNvSpPr/>
          <p:nvPr/>
        </p:nvSpPr>
        <p:spPr>
          <a:xfrm>
            <a:off x="707400" y="1097280"/>
            <a:ext cx="61092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GitHub</a:t>
            </a:r>
            <a:endParaRPr b="0" lang="en-IN" sz="900" spc="-1" strike="noStrike">
              <a:solidFill>
                <a:srgbClr val="000000"/>
              </a:solidFill>
              <a:latin typeface="Arial"/>
            </a:endParaRPr>
          </a:p>
        </p:txBody>
      </p:sp>
      <p:sp>
        <p:nvSpPr>
          <p:cNvPr id="540" name="Chevron 8"/>
          <p:cNvSpPr/>
          <p:nvPr/>
        </p:nvSpPr>
        <p:spPr>
          <a:xfrm>
            <a:off x="153360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41" name="Rounded Rectangle 9"/>
          <p:cNvSpPr/>
          <p:nvPr/>
        </p:nvSpPr>
        <p:spPr>
          <a:xfrm>
            <a:off x="1634040" y="1005840"/>
            <a:ext cx="1020600" cy="730800"/>
          </a:xfrm>
          <a:prstGeom prst="roundRect">
            <a:avLst>
              <a:gd name="adj" fmla="val 16667"/>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42" name="TextBox 10"/>
          <p:cNvSpPr/>
          <p:nvPr/>
        </p:nvSpPr>
        <p:spPr>
          <a:xfrm>
            <a:off x="1620720" y="1097280"/>
            <a:ext cx="10468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Azure DevOps</a:t>
            </a:r>
            <a:endParaRPr b="0" lang="en-IN" sz="900" spc="-1" strike="noStrike">
              <a:solidFill>
                <a:srgbClr val="000000"/>
              </a:solidFill>
              <a:latin typeface="Arial"/>
            </a:endParaRPr>
          </a:p>
        </p:txBody>
      </p:sp>
      <p:sp>
        <p:nvSpPr>
          <p:cNvPr id="543" name="Chevron 11"/>
          <p:cNvSpPr/>
          <p:nvPr/>
        </p:nvSpPr>
        <p:spPr>
          <a:xfrm>
            <a:off x="266472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44" name="Rounded Rectangle 12"/>
          <p:cNvSpPr/>
          <p:nvPr/>
        </p:nvSpPr>
        <p:spPr>
          <a:xfrm>
            <a:off x="2765160" y="1005840"/>
            <a:ext cx="1020600" cy="73080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45" name="TextBox 13"/>
          <p:cNvSpPr/>
          <p:nvPr/>
        </p:nvSpPr>
        <p:spPr>
          <a:xfrm>
            <a:off x="2873880" y="1097280"/>
            <a:ext cx="8028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Build/Test</a:t>
            </a:r>
            <a:endParaRPr b="0" lang="en-IN" sz="900" spc="-1" strike="noStrike">
              <a:solidFill>
                <a:srgbClr val="000000"/>
              </a:solidFill>
              <a:latin typeface="Arial"/>
            </a:endParaRPr>
          </a:p>
        </p:txBody>
      </p:sp>
      <p:sp>
        <p:nvSpPr>
          <p:cNvPr id="546" name="Chevron 14"/>
          <p:cNvSpPr/>
          <p:nvPr/>
        </p:nvSpPr>
        <p:spPr>
          <a:xfrm>
            <a:off x="379584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47" name="Rounded Rectangle 15"/>
          <p:cNvSpPr/>
          <p:nvPr/>
        </p:nvSpPr>
        <p:spPr>
          <a:xfrm>
            <a:off x="3896280" y="1005840"/>
            <a:ext cx="1020600" cy="73080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48" name="TextBox 16"/>
          <p:cNvSpPr/>
          <p:nvPr/>
        </p:nvSpPr>
        <p:spPr>
          <a:xfrm>
            <a:off x="3957480" y="1097280"/>
            <a:ext cx="8974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SonarCloud</a:t>
            </a:r>
            <a:endParaRPr b="0" lang="en-IN" sz="900" spc="-1" strike="noStrike">
              <a:solidFill>
                <a:srgbClr val="000000"/>
              </a:solidFill>
              <a:latin typeface="Arial"/>
            </a:endParaRPr>
          </a:p>
        </p:txBody>
      </p:sp>
      <p:sp>
        <p:nvSpPr>
          <p:cNvPr id="549" name="Chevron 17"/>
          <p:cNvSpPr/>
          <p:nvPr/>
        </p:nvSpPr>
        <p:spPr>
          <a:xfrm>
            <a:off x="492696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50" name="Rounded Rectangle 18"/>
          <p:cNvSpPr/>
          <p:nvPr/>
        </p:nvSpPr>
        <p:spPr>
          <a:xfrm>
            <a:off x="5027400" y="1005840"/>
            <a:ext cx="1020600" cy="730800"/>
          </a:xfrm>
          <a:prstGeom prst="roundRect">
            <a:avLst>
              <a:gd name="adj" fmla="val 16667"/>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51" name="TextBox 19"/>
          <p:cNvSpPr/>
          <p:nvPr/>
        </p:nvSpPr>
        <p:spPr>
          <a:xfrm>
            <a:off x="5293800" y="1097280"/>
            <a:ext cx="4874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Trivy</a:t>
            </a:r>
            <a:endParaRPr b="0" lang="en-IN" sz="900" spc="-1" strike="noStrike">
              <a:solidFill>
                <a:srgbClr val="000000"/>
              </a:solidFill>
              <a:latin typeface="Arial"/>
            </a:endParaRPr>
          </a:p>
        </p:txBody>
      </p:sp>
      <p:sp>
        <p:nvSpPr>
          <p:cNvPr id="552" name="Chevron 20"/>
          <p:cNvSpPr/>
          <p:nvPr/>
        </p:nvSpPr>
        <p:spPr>
          <a:xfrm>
            <a:off x="605808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53" name="Rounded Rectangle 21"/>
          <p:cNvSpPr/>
          <p:nvPr/>
        </p:nvSpPr>
        <p:spPr>
          <a:xfrm>
            <a:off x="6158520" y="1005840"/>
            <a:ext cx="1020600" cy="73080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54" name="TextBox 22"/>
          <p:cNvSpPr/>
          <p:nvPr/>
        </p:nvSpPr>
        <p:spPr>
          <a:xfrm>
            <a:off x="6359400" y="1097280"/>
            <a:ext cx="6184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Docker</a:t>
            </a:r>
            <a:endParaRPr b="0" lang="en-IN" sz="900" spc="-1" strike="noStrike">
              <a:solidFill>
                <a:srgbClr val="000000"/>
              </a:solidFill>
              <a:latin typeface="Arial"/>
            </a:endParaRPr>
          </a:p>
        </p:txBody>
      </p:sp>
      <p:sp>
        <p:nvSpPr>
          <p:cNvPr id="555" name="Chevron 23"/>
          <p:cNvSpPr/>
          <p:nvPr/>
        </p:nvSpPr>
        <p:spPr>
          <a:xfrm>
            <a:off x="718884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56" name="Rounded Rectangle 24"/>
          <p:cNvSpPr/>
          <p:nvPr/>
        </p:nvSpPr>
        <p:spPr>
          <a:xfrm>
            <a:off x="7289640" y="1005840"/>
            <a:ext cx="1020600" cy="73080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57" name="TextBox 25"/>
          <p:cNvSpPr/>
          <p:nvPr/>
        </p:nvSpPr>
        <p:spPr>
          <a:xfrm>
            <a:off x="7577280" y="1097280"/>
            <a:ext cx="4446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ACR</a:t>
            </a:r>
            <a:endParaRPr b="0" lang="en-IN" sz="900" spc="-1" strike="noStrike">
              <a:solidFill>
                <a:srgbClr val="000000"/>
              </a:solidFill>
              <a:latin typeface="Arial"/>
            </a:endParaRPr>
          </a:p>
        </p:txBody>
      </p:sp>
      <p:sp>
        <p:nvSpPr>
          <p:cNvPr id="558" name="Chevron 26"/>
          <p:cNvSpPr/>
          <p:nvPr/>
        </p:nvSpPr>
        <p:spPr>
          <a:xfrm>
            <a:off x="831996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59" name="Rounded Rectangle 27"/>
          <p:cNvSpPr/>
          <p:nvPr/>
        </p:nvSpPr>
        <p:spPr>
          <a:xfrm>
            <a:off x="8420760" y="1005840"/>
            <a:ext cx="1020600" cy="730800"/>
          </a:xfrm>
          <a:prstGeom prst="roundRect">
            <a:avLst>
              <a:gd name="adj" fmla="val 16667"/>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60" name="TextBox 28"/>
          <p:cNvSpPr/>
          <p:nvPr/>
        </p:nvSpPr>
        <p:spPr>
          <a:xfrm>
            <a:off x="8707680" y="1097280"/>
            <a:ext cx="44640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AKS</a:t>
            </a:r>
            <a:endParaRPr b="0" lang="en-IN" sz="900" spc="-1" strike="noStrike">
              <a:solidFill>
                <a:srgbClr val="000000"/>
              </a:solidFill>
              <a:latin typeface="Arial"/>
            </a:endParaRPr>
          </a:p>
        </p:txBody>
      </p:sp>
      <p:sp>
        <p:nvSpPr>
          <p:cNvPr id="561" name="Chevron 29"/>
          <p:cNvSpPr/>
          <p:nvPr/>
        </p:nvSpPr>
        <p:spPr>
          <a:xfrm>
            <a:off x="945108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62" name="Rounded Rectangle 30"/>
          <p:cNvSpPr/>
          <p:nvPr/>
        </p:nvSpPr>
        <p:spPr>
          <a:xfrm>
            <a:off x="9551880" y="1005840"/>
            <a:ext cx="1020600" cy="73080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63" name="TextBox 31"/>
          <p:cNvSpPr/>
          <p:nvPr/>
        </p:nvSpPr>
        <p:spPr>
          <a:xfrm>
            <a:off x="9716760" y="1097280"/>
            <a:ext cx="69012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Argo CD</a:t>
            </a:r>
            <a:endParaRPr b="0" lang="en-IN" sz="900" spc="-1" strike="noStrike">
              <a:solidFill>
                <a:srgbClr val="000000"/>
              </a:solidFill>
              <a:latin typeface="Arial"/>
            </a:endParaRPr>
          </a:p>
        </p:txBody>
      </p:sp>
      <p:sp>
        <p:nvSpPr>
          <p:cNvPr id="564" name="Chevron 32"/>
          <p:cNvSpPr/>
          <p:nvPr/>
        </p:nvSpPr>
        <p:spPr>
          <a:xfrm>
            <a:off x="10582200" y="1254600"/>
            <a:ext cx="109080" cy="23328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65" name="Rounded Rectangle 33"/>
          <p:cNvSpPr/>
          <p:nvPr/>
        </p:nvSpPr>
        <p:spPr>
          <a:xfrm>
            <a:off x="10683000" y="1005840"/>
            <a:ext cx="1020600" cy="73080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66" name="TextBox 34"/>
          <p:cNvSpPr/>
          <p:nvPr/>
        </p:nvSpPr>
        <p:spPr>
          <a:xfrm>
            <a:off x="10864800" y="1097280"/>
            <a:ext cx="6566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900" spc="-1" strike="noStrike">
                <a:solidFill>
                  <a:srgbClr val="ffffff"/>
                </a:solidFill>
                <a:latin typeface="Aptos"/>
              </a:rPr>
              <a:t>Monitor</a:t>
            </a:r>
            <a:endParaRPr b="0" lang="en-IN" sz="900" spc="-1" strike="noStrike">
              <a:solidFill>
                <a:srgbClr val="000000"/>
              </a:solidFill>
              <a:latin typeface="Arial"/>
            </a:endParaRPr>
          </a:p>
        </p:txBody>
      </p:sp>
      <p:sp>
        <p:nvSpPr>
          <p:cNvPr id="567" name="Rounded Rectangle 35"/>
          <p:cNvSpPr/>
          <p:nvPr/>
        </p:nvSpPr>
        <p:spPr>
          <a:xfrm>
            <a:off x="685800" y="23317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68" name="Rectangle 36"/>
          <p:cNvSpPr/>
          <p:nvPr/>
        </p:nvSpPr>
        <p:spPr>
          <a:xfrm>
            <a:off x="685800" y="2331720"/>
            <a:ext cx="72360" cy="182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69" name="TextBox 37"/>
          <p:cNvSpPr/>
          <p:nvPr/>
        </p:nvSpPr>
        <p:spPr>
          <a:xfrm>
            <a:off x="1283760" y="2477880"/>
            <a:ext cx="22690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1 — Code to Image</a:t>
            </a:r>
            <a:endParaRPr b="0" lang="en-IN" sz="1600" spc="-1" strike="noStrike">
              <a:solidFill>
                <a:srgbClr val="000000"/>
              </a:solidFill>
              <a:latin typeface="Arial"/>
            </a:endParaRPr>
          </a:p>
        </p:txBody>
      </p:sp>
      <p:sp>
        <p:nvSpPr>
          <p:cNvPr id="570" name="TextBox 38"/>
          <p:cNvSpPr/>
          <p:nvPr/>
        </p:nvSpPr>
        <p:spPr>
          <a:xfrm>
            <a:off x="887040" y="289872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Developer pushes code → pipeline validates it → Docker builds the frontend/backend images → images are published to ACR.</a:t>
            </a:r>
            <a:endParaRPr b="0" lang="en-IN" sz="1300" spc="-1" strike="noStrike">
              <a:solidFill>
                <a:srgbClr val="000000"/>
              </a:solidFill>
              <a:latin typeface="Arial"/>
            </a:endParaRPr>
          </a:p>
        </p:txBody>
      </p:sp>
      <p:sp>
        <p:nvSpPr>
          <p:cNvPr id="571" name="Rounded Rectangle 39"/>
          <p:cNvSpPr/>
          <p:nvPr/>
        </p:nvSpPr>
        <p:spPr>
          <a:xfrm>
            <a:off x="4389120" y="23317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72" name="Rectangle 40"/>
          <p:cNvSpPr/>
          <p:nvPr/>
        </p:nvSpPr>
        <p:spPr>
          <a:xfrm>
            <a:off x="4389120" y="2331720"/>
            <a:ext cx="72360" cy="182808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73" name="TextBox 41"/>
          <p:cNvSpPr/>
          <p:nvPr/>
        </p:nvSpPr>
        <p:spPr>
          <a:xfrm>
            <a:off x="4869720" y="2477880"/>
            <a:ext cx="250380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2 — Image to Cluster</a:t>
            </a:r>
            <a:endParaRPr b="0" lang="en-IN" sz="1600" spc="-1" strike="noStrike">
              <a:solidFill>
                <a:srgbClr val="000000"/>
              </a:solidFill>
              <a:latin typeface="Arial"/>
            </a:endParaRPr>
          </a:p>
        </p:txBody>
      </p:sp>
      <p:sp>
        <p:nvSpPr>
          <p:cNvPr id="574" name="TextBox 42"/>
          <p:cNvSpPr/>
          <p:nvPr/>
        </p:nvSpPr>
        <p:spPr>
          <a:xfrm>
            <a:off x="4590360" y="289872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Kubernetes manifests describe the desired application → AKS runs Deployments and Pods → Services and Ingress expose the app.</a:t>
            </a:r>
            <a:endParaRPr b="0" lang="en-IN" sz="1300" spc="-1" strike="noStrike">
              <a:solidFill>
                <a:srgbClr val="000000"/>
              </a:solidFill>
              <a:latin typeface="Arial"/>
            </a:endParaRPr>
          </a:p>
        </p:txBody>
      </p:sp>
      <p:sp>
        <p:nvSpPr>
          <p:cNvPr id="575" name="Rounded Rectangle 43"/>
          <p:cNvSpPr/>
          <p:nvPr/>
        </p:nvSpPr>
        <p:spPr>
          <a:xfrm>
            <a:off x="8092440" y="23317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76" name="Rectangle 44"/>
          <p:cNvSpPr/>
          <p:nvPr/>
        </p:nvSpPr>
        <p:spPr>
          <a:xfrm>
            <a:off x="8092440" y="2331720"/>
            <a:ext cx="72360" cy="182808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77" name="TextBox 45"/>
          <p:cNvSpPr/>
          <p:nvPr/>
        </p:nvSpPr>
        <p:spPr>
          <a:xfrm>
            <a:off x="8332920" y="2477880"/>
            <a:ext cx="29836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3 — GitOps to Operations</a:t>
            </a:r>
            <a:endParaRPr b="0" lang="en-IN" sz="1600" spc="-1" strike="noStrike">
              <a:solidFill>
                <a:srgbClr val="000000"/>
              </a:solidFill>
              <a:latin typeface="Arial"/>
            </a:endParaRPr>
          </a:p>
        </p:txBody>
      </p:sp>
      <p:sp>
        <p:nvSpPr>
          <p:cNvPr id="578" name="TextBox 46"/>
          <p:cNvSpPr/>
          <p:nvPr/>
        </p:nvSpPr>
        <p:spPr>
          <a:xfrm>
            <a:off x="8293680" y="2898720"/>
            <a:ext cx="304416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Argo CD reconciles desired state → application becomes Synced/Healthy → logs, health and monitoring provide operational evidence.</a:t>
            </a:r>
            <a:endParaRPr b="0" lang="en-IN" sz="1300" spc="-1" strike="noStrike">
              <a:solidFill>
                <a:srgbClr val="000000"/>
              </a:solidFill>
              <a:latin typeface="Arial"/>
            </a:endParaRPr>
          </a:p>
        </p:txBody>
      </p:sp>
      <p:sp>
        <p:nvSpPr>
          <p:cNvPr id="579" name="Rounded Rectangle 47"/>
          <p:cNvSpPr/>
          <p:nvPr/>
        </p:nvSpPr>
        <p:spPr>
          <a:xfrm>
            <a:off x="914400" y="4617720"/>
            <a:ext cx="5028480" cy="1233720"/>
          </a:xfrm>
          <a:prstGeom prst="roundRect">
            <a:avLst>
              <a:gd name="adj" fmla="val 16667"/>
            </a:avLst>
          </a:prstGeom>
          <a:solidFill>
            <a:srgbClr val="1f263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80" name="TextBox 48"/>
          <p:cNvSpPr/>
          <p:nvPr/>
        </p:nvSpPr>
        <p:spPr>
          <a:xfrm>
            <a:off x="1078920" y="4736520"/>
            <a:ext cx="4699440" cy="928440"/>
          </a:xfrm>
          <a:prstGeom prst="rect">
            <a:avLst/>
          </a:prstGeom>
          <a:noFill/>
          <a:ln w="0">
            <a:noFill/>
          </a:ln>
        </p:spPr>
        <p:style>
          <a:lnRef idx="0"/>
          <a:fillRef idx="0"/>
          <a:effectRef idx="0"/>
          <a:fontRef idx="minor"/>
        </p:style>
        <p:txBody>
          <a:bodyPr lIns="0" rIns="0" tIns="45000" bIns="45000" anchor="t">
            <a:spAutoFit/>
          </a:bodyPr>
          <a:p>
            <a:pPr defTabSz="457200">
              <a:lnSpc>
                <a:spcPct val="100000"/>
              </a:lnSpc>
            </a:pPr>
            <a:r>
              <a:rPr b="0" lang="en-US" sz="1100" spc="-1" strike="noStrike">
                <a:solidFill>
                  <a:srgbClr val="ffffff"/>
                </a:solidFill>
                <a:latin typeface="Cascadia Mono"/>
              </a:rPr>
              <a:t>Final verification examples:</a:t>
            </a:r>
            <a:br>
              <a:rPr sz="1100"/>
            </a:br>
            <a:br>
              <a:rPr sz="1100"/>
            </a:br>
            <a:r>
              <a:rPr b="0" lang="en-US" sz="1100" spc="-1" strike="noStrike">
                <a:solidFill>
                  <a:srgbClr val="ffffff"/>
                </a:solidFill>
                <a:latin typeface="Cascadia Mono"/>
              </a:rPr>
              <a:t>kubectl get all -n flavorforge</a:t>
            </a:r>
            <a:br>
              <a:rPr sz="1100"/>
            </a:br>
            <a:r>
              <a:rPr b="0" lang="en-US" sz="1100" spc="-1" strike="noStrike">
                <a:solidFill>
                  <a:srgbClr val="ffffff"/>
                </a:solidFill>
                <a:latin typeface="Cascadia Mono"/>
              </a:rPr>
              <a:t>kubectl get svc -n flavorforge</a:t>
            </a:r>
            <a:br>
              <a:rPr sz="1100"/>
            </a:br>
            <a:r>
              <a:rPr b="0" lang="en-US" sz="1100" spc="-1" strike="noStrike">
                <a:solidFill>
                  <a:srgbClr val="ffffff"/>
                </a:solidFill>
                <a:latin typeface="Cascadia Mono"/>
              </a:rPr>
              <a:t>kubectl get applications -n argocd</a:t>
            </a:r>
            <a:endParaRPr b="0" lang="en-IN"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82"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83" name="TextBox 3"/>
          <p:cNvSpPr/>
          <p:nvPr/>
        </p:nvSpPr>
        <p:spPr>
          <a:xfrm>
            <a:off x="2256840" y="255960"/>
            <a:ext cx="737280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17. Verification — Application Running</a:t>
            </a:r>
            <a:endParaRPr b="0" lang="en-IN" sz="2700" spc="-1" strike="noStrike">
              <a:solidFill>
                <a:srgbClr val="000000"/>
              </a:solidFill>
              <a:latin typeface="Arial"/>
            </a:endParaRPr>
          </a:p>
        </p:txBody>
      </p:sp>
      <p:sp>
        <p:nvSpPr>
          <p:cNvPr id="584" name="TextBox 4"/>
          <p:cNvSpPr/>
          <p:nvPr/>
        </p:nvSpPr>
        <p:spPr>
          <a:xfrm>
            <a:off x="10588680" y="311040"/>
            <a:ext cx="108792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VERIFICATION</a:t>
            </a:r>
            <a:endParaRPr b="0" lang="en-IN" sz="900" spc="-1" strike="noStrike">
              <a:solidFill>
                <a:srgbClr val="000000"/>
              </a:solidFill>
              <a:latin typeface="Arial"/>
            </a:endParaRPr>
          </a:p>
        </p:txBody>
      </p:sp>
      <p:sp>
        <p:nvSpPr>
          <p:cNvPr id="585"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18</a:t>
            </a:r>
            <a:endParaRPr b="0" lang="en-IN" sz="800" spc="-1" strike="noStrike">
              <a:solidFill>
                <a:srgbClr val="000000"/>
              </a:solidFill>
              <a:latin typeface="Arial"/>
            </a:endParaRPr>
          </a:p>
        </p:txBody>
      </p:sp>
      <p:sp>
        <p:nvSpPr>
          <p:cNvPr id="586" name="Rounded Rectangle 6"/>
          <p:cNvSpPr/>
          <p:nvPr/>
        </p:nvSpPr>
        <p:spPr>
          <a:xfrm>
            <a:off x="594360" y="960120"/>
            <a:ext cx="3382560" cy="15994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87" name="Rectangle 7"/>
          <p:cNvSpPr/>
          <p:nvPr/>
        </p:nvSpPr>
        <p:spPr>
          <a:xfrm>
            <a:off x="594360" y="960120"/>
            <a:ext cx="72360" cy="159948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88" name="TextBox 8"/>
          <p:cNvSpPr/>
          <p:nvPr/>
        </p:nvSpPr>
        <p:spPr>
          <a:xfrm>
            <a:off x="1582560" y="1106280"/>
            <a:ext cx="14428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Application</a:t>
            </a:r>
            <a:endParaRPr b="0" lang="en-IN" sz="1600" spc="-1" strike="noStrike">
              <a:solidFill>
                <a:srgbClr val="000000"/>
              </a:solidFill>
              <a:latin typeface="Arial"/>
            </a:endParaRPr>
          </a:p>
        </p:txBody>
      </p:sp>
      <p:sp>
        <p:nvSpPr>
          <p:cNvPr id="589" name="TextBox 9"/>
          <p:cNvSpPr/>
          <p:nvPr/>
        </p:nvSpPr>
        <p:spPr>
          <a:xfrm>
            <a:off x="795600" y="1527120"/>
            <a:ext cx="2998440" cy="48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Frontend accessible and recipes functionality working.</a:t>
            </a:r>
            <a:endParaRPr b="0" lang="en-IN" sz="1300" spc="-1" strike="noStrike">
              <a:solidFill>
                <a:srgbClr val="000000"/>
              </a:solidFill>
              <a:latin typeface="Arial"/>
            </a:endParaRPr>
          </a:p>
        </p:txBody>
      </p:sp>
      <p:sp>
        <p:nvSpPr>
          <p:cNvPr id="590" name="Rounded Rectangle 10"/>
          <p:cNvSpPr/>
          <p:nvPr/>
        </p:nvSpPr>
        <p:spPr>
          <a:xfrm>
            <a:off x="4343400" y="960120"/>
            <a:ext cx="3382560" cy="15994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91" name="Rectangle 11"/>
          <p:cNvSpPr/>
          <p:nvPr/>
        </p:nvSpPr>
        <p:spPr>
          <a:xfrm>
            <a:off x="4343400" y="960120"/>
            <a:ext cx="72360" cy="15994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92" name="TextBox 12"/>
          <p:cNvSpPr/>
          <p:nvPr/>
        </p:nvSpPr>
        <p:spPr>
          <a:xfrm>
            <a:off x="5483160" y="1106280"/>
            <a:ext cx="11397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Backend</a:t>
            </a:r>
            <a:endParaRPr b="0" lang="en-IN" sz="1600" spc="-1" strike="noStrike">
              <a:solidFill>
                <a:srgbClr val="000000"/>
              </a:solidFill>
              <a:latin typeface="Arial"/>
            </a:endParaRPr>
          </a:p>
        </p:txBody>
      </p:sp>
      <p:sp>
        <p:nvSpPr>
          <p:cNvPr id="593" name="TextBox 13"/>
          <p:cNvSpPr/>
          <p:nvPr/>
        </p:nvSpPr>
        <p:spPr>
          <a:xfrm>
            <a:off x="4544640" y="1527120"/>
            <a:ext cx="2998440" cy="48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Health endpoint and recipe API responding.</a:t>
            </a:r>
            <a:endParaRPr b="0" lang="en-IN" sz="1300" spc="-1" strike="noStrike">
              <a:solidFill>
                <a:srgbClr val="000000"/>
              </a:solidFill>
              <a:latin typeface="Arial"/>
            </a:endParaRPr>
          </a:p>
        </p:txBody>
      </p:sp>
      <p:sp>
        <p:nvSpPr>
          <p:cNvPr id="594" name="Rounded Rectangle 14"/>
          <p:cNvSpPr/>
          <p:nvPr/>
        </p:nvSpPr>
        <p:spPr>
          <a:xfrm>
            <a:off x="8092440" y="960120"/>
            <a:ext cx="3382560" cy="15994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95" name="Rectangle 15"/>
          <p:cNvSpPr/>
          <p:nvPr/>
        </p:nvSpPr>
        <p:spPr>
          <a:xfrm>
            <a:off x="8092440" y="960120"/>
            <a:ext cx="72360" cy="159948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96" name="TextBox 16"/>
          <p:cNvSpPr/>
          <p:nvPr/>
        </p:nvSpPr>
        <p:spPr>
          <a:xfrm>
            <a:off x="9237600" y="1106280"/>
            <a:ext cx="11289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Platform</a:t>
            </a:r>
            <a:endParaRPr b="0" lang="en-IN" sz="1600" spc="-1" strike="noStrike">
              <a:solidFill>
                <a:srgbClr val="000000"/>
              </a:solidFill>
              <a:latin typeface="Arial"/>
            </a:endParaRPr>
          </a:p>
        </p:txBody>
      </p:sp>
      <p:sp>
        <p:nvSpPr>
          <p:cNvPr id="597" name="TextBox 17"/>
          <p:cNvSpPr/>
          <p:nvPr/>
        </p:nvSpPr>
        <p:spPr>
          <a:xfrm>
            <a:off x="8293680" y="1527120"/>
            <a:ext cx="2998440" cy="486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AKS workloads, services, ingress and GitOps state verified.</a:t>
            </a:r>
            <a:endParaRPr b="0" lang="en-IN" sz="1300" spc="-1" strike="noStrike">
              <a:solidFill>
                <a:srgbClr val="000000"/>
              </a:solidFill>
              <a:latin typeface="Arial"/>
            </a:endParaRPr>
          </a:p>
        </p:txBody>
      </p:sp>
      <p:sp>
        <p:nvSpPr>
          <p:cNvPr id="598" name="Rounded Rectangle 18"/>
          <p:cNvSpPr/>
          <p:nvPr/>
        </p:nvSpPr>
        <p:spPr>
          <a:xfrm>
            <a:off x="640080" y="3063240"/>
            <a:ext cx="3656880" cy="201096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599" name="TextBox 19"/>
          <p:cNvSpPr/>
          <p:nvPr/>
        </p:nvSpPr>
        <p:spPr>
          <a:xfrm>
            <a:off x="868680" y="3291840"/>
            <a:ext cx="319968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screenshots/kubernetes/frontend-in-the-browser-http-104-45-175-93.png</a:t>
            </a:r>
            <a:endParaRPr b="0" lang="en-IN" sz="900" spc="-1" strike="noStrike">
              <a:solidFill>
                <a:srgbClr val="000000"/>
              </a:solidFill>
              <a:latin typeface="Arial"/>
            </a:endParaRPr>
          </a:p>
        </p:txBody>
      </p:sp>
      <p:sp>
        <p:nvSpPr>
          <p:cNvPr id="600" name="TextBox 20"/>
          <p:cNvSpPr/>
          <p:nvPr/>
        </p:nvSpPr>
        <p:spPr>
          <a:xfrm>
            <a:off x="1662480" y="6308640"/>
            <a:ext cx="161208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deployed frontend</a:t>
            </a:r>
            <a:endParaRPr b="0" lang="en-IN" sz="900" spc="-1" strike="noStrike">
              <a:solidFill>
                <a:srgbClr val="000000"/>
              </a:solidFill>
              <a:latin typeface="Arial"/>
            </a:endParaRPr>
          </a:p>
        </p:txBody>
      </p:sp>
      <p:sp>
        <p:nvSpPr>
          <p:cNvPr id="601" name="Rounded Rectangle 21"/>
          <p:cNvSpPr/>
          <p:nvPr/>
        </p:nvSpPr>
        <p:spPr>
          <a:xfrm>
            <a:off x="4526280" y="3063240"/>
            <a:ext cx="3336840" cy="201096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02" name="TextBox 22"/>
          <p:cNvSpPr/>
          <p:nvPr/>
        </p:nvSpPr>
        <p:spPr>
          <a:xfrm>
            <a:off x="4754880" y="3291840"/>
            <a:ext cx="2879640" cy="700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screenshots/kubernetes/backend-in-the-browser-http-104-45-175-93-api-health.png</a:t>
            </a:r>
            <a:endParaRPr b="0" lang="en-IN" sz="900" spc="-1" strike="noStrike">
              <a:solidFill>
                <a:srgbClr val="000000"/>
              </a:solidFill>
              <a:latin typeface="Arial"/>
            </a:endParaRPr>
          </a:p>
        </p:txBody>
      </p:sp>
      <p:sp>
        <p:nvSpPr>
          <p:cNvPr id="603" name="TextBox 23"/>
          <p:cNvSpPr/>
          <p:nvPr/>
        </p:nvSpPr>
        <p:spPr>
          <a:xfrm>
            <a:off x="5190480" y="6344640"/>
            <a:ext cx="20084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deployed backend health</a:t>
            </a:r>
            <a:endParaRPr b="0" lang="en-IN" sz="900" spc="-1" strike="noStrike">
              <a:solidFill>
                <a:srgbClr val="000000"/>
              </a:solidFill>
              <a:latin typeface="Arial"/>
            </a:endParaRPr>
          </a:p>
        </p:txBody>
      </p:sp>
      <p:sp>
        <p:nvSpPr>
          <p:cNvPr id="604" name="Rounded Rectangle 24"/>
          <p:cNvSpPr/>
          <p:nvPr/>
        </p:nvSpPr>
        <p:spPr>
          <a:xfrm>
            <a:off x="8092440" y="3063240"/>
            <a:ext cx="3336840" cy="1076400"/>
          </a:xfrm>
          <a:prstGeom prst="roundRect">
            <a:avLst>
              <a:gd name="adj" fmla="val 16667"/>
            </a:avLst>
          </a:prstGeom>
          <a:solidFill>
            <a:srgbClr val="f9fafc"/>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05" name="TextBox 25"/>
          <p:cNvSpPr/>
          <p:nvPr/>
        </p:nvSpPr>
        <p:spPr>
          <a:xfrm>
            <a:off x="8321040" y="3291840"/>
            <a:ext cx="2879640" cy="5630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1300" spc="-1" strike="noStrike">
                <a:solidFill>
                  <a:srgbClr val="2c63b0"/>
                </a:solidFill>
                <a:latin typeface="Aptos"/>
              </a:rPr>
              <a:t>SCREENSHOT TO SHOW</a:t>
            </a:r>
            <a:endParaRPr b="0" lang="en-IN" sz="1300" spc="-1" strike="noStrike">
              <a:solidFill>
                <a:srgbClr val="000000"/>
              </a:solidFill>
              <a:latin typeface="Arial"/>
            </a:endParaRPr>
          </a:p>
          <a:p>
            <a:pPr algn="ctr" defTabSz="457200">
              <a:lnSpc>
                <a:spcPct val="100000"/>
              </a:lnSpc>
            </a:pPr>
            <a:r>
              <a:rPr b="0" lang="en-US" sz="900" spc="-1" strike="noStrike">
                <a:solidFill>
                  <a:srgbClr val="2a3340"/>
                </a:solidFill>
                <a:latin typeface="Cascadia Mono"/>
              </a:rPr>
              <a:t>screenshots/argo-cd/argocd-applications.png</a:t>
            </a:r>
            <a:endParaRPr b="0" lang="en-IN" sz="900" spc="-1" strike="noStrike">
              <a:solidFill>
                <a:srgbClr val="000000"/>
              </a:solidFill>
              <a:latin typeface="Arial"/>
            </a:endParaRPr>
          </a:p>
        </p:txBody>
      </p:sp>
      <p:sp>
        <p:nvSpPr>
          <p:cNvPr id="606" name="TextBox 26"/>
          <p:cNvSpPr/>
          <p:nvPr/>
        </p:nvSpPr>
        <p:spPr>
          <a:xfrm>
            <a:off x="8911440" y="4256640"/>
            <a:ext cx="1698840" cy="227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900" spc="-1" strike="noStrike">
                <a:solidFill>
                  <a:srgbClr val="677180"/>
                </a:solidFill>
                <a:latin typeface="Aptos"/>
              </a:rPr>
              <a:t>Show: Argo CD application</a:t>
            </a:r>
            <a:endParaRPr b="0" lang="en-IN" sz="900" spc="-1" strike="noStrike">
              <a:solidFill>
                <a:srgbClr val="000000"/>
              </a:solidFill>
              <a:latin typeface="Arial"/>
            </a:endParaRPr>
          </a:p>
        </p:txBody>
      </p:sp>
      <p:pic>
        <p:nvPicPr>
          <p:cNvPr id="607" name="" descr=""/>
          <p:cNvPicPr/>
          <p:nvPr/>
        </p:nvPicPr>
        <p:blipFill>
          <a:blip r:embed="rId1"/>
        </p:blipFill>
        <p:spPr>
          <a:xfrm>
            <a:off x="8092440" y="3063240"/>
            <a:ext cx="3336840" cy="1076400"/>
          </a:xfrm>
          <a:prstGeom prst="rect">
            <a:avLst/>
          </a:prstGeom>
          <a:ln cap="rnd" w="0">
            <a:solidFill>
              <a:srgbClr val="000000"/>
            </a:solidFill>
          </a:ln>
        </p:spPr>
      </p:pic>
      <p:pic>
        <p:nvPicPr>
          <p:cNvPr id="608" name="" descr=""/>
          <p:cNvPicPr/>
          <p:nvPr/>
        </p:nvPicPr>
        <p:blipFill>
          <a:blip r:embed="rId2"/>
        </p:blipFill>
        <p:spPr>
          <a:xfrm>
            <a:off x="640080" y="3042000"/>
            <a:ext cx="3679560" cy="3266280"/>
          </a:xfrm>
          <a:prstGeom prst="rect">
            <a:avLst/>
          </a:prstGeom>
          <a:ln cap="rnd" w="0">
            <a:solidFill>
              <a:srgbClr val="000000"/>
            </a:solidFill>
          </a:ln>
        </p:spPr>
      </p:pic>
      <p:pic>
        <p:nvPicPr>
          <p:cNvPr id="609" name="" descr=""/>
          <p:cNvPicPr/>
          <p:nvPr/>
        </p:nvPicPr>
        <p:blipFill>
          <a:blip r:embed="rId3"/>
        </p:blipFill>
        <p:spPr>
          <a:xfrm>
            <a:off x="4500000" y="3024000"/>
            <a:ext cx="3455640" cy="3320280"/>
          </a:xfrm>
          <a:prstGeom prst="rect">
            <a:avLst/>
          </a:prstGeom>
          <a:ln cap="rnd" w="0">
            <a:solidFill>
              <a:srgbClr val="000000"/>
            </a:solid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11"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12" name="TextBox 3"/>
          <p:cNvSpPr/>
          <p:nvPr/>
        </p:nvSpPr>
        <p:spPr>
          <a:xfrm>
            <a:off x="2686320" y="255960"/>
            <a:ext cx="651348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18. Challenges &amp; Troubleshooting</a:t>
            </a:r>
            <a:endParaRPr b="0" lang="en-IN" sz="2700" spc="-1" strike="noStrike">
              <a:solidFill>
                <a:srgbClr val="000000"/>
              </a:solidFill>
              <a:latin typeface="Arial"/>
            </a:endParaRPr>
          </a:p>
        </p:txBody>
      </p:sp>
      <p:sp>
        <p:nvSpPr>
          <p:cNvPr id="613" name="TextBox 4"/>
          <p:cNvSpPr/>
          <p:nvPr/>
        </p:nvSpPr>
        <p:spPr>
          <a:xfrm>
            <a:off x="10744560" y="311040"/>
            <a:ext cx="77544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LESSONS</a:t>
            </a:r>
            <a:endParaRPr b="0" lang="en-IN" sz="900" spc="-1" strike="noStrike">
              <a:solidFill>
                <a:srgbClr val="000000"/>
              </a:solidFill>
              <a:latin typeface="Arial"/>
            </a:endParaRPr>
          </a:p>
        </p:txBody>
      </p:sp>
      <p:sp>
        <p:nvSpPr>
          <p:cNvPr id="614"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19</a:t>
            </a:r>
            <a:endParaRPr b="0" lang="en-IN" sz="800" spc="-1" strike="noStrike">
              <a:solidFill>
                <a:srgbClr val="000000"/>
              </a:solidFill>
              <a:latin typeface="Arial"/>
            </a:endParaRPr>
          </a:p>
        </p:txBody>
      </p:sp>
      <p:sp>
        <p:nvSpPr>
          <p:cNvPr id="615" name="Rounded Rectangle 6"/>
          <p:cNvSpPr/>
          <p:nvPr/>
        </p:nvSpPr>
        <p:spPr>
          <a:xfrm>
            <a:off x="594360" y="9601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16" name="Rectangle 7"/>
          <p:cNvSpPr/>
          <p:nvPr/>
        </p:nvSpPr>
        <p:spPr>
          <a:xfrm>
            <a:off x="594360" y="960120"/>
            <a:ext cx="72360" cy="182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17" name="TextBox 8"/>
          <p:cNvSpPr/>
          <p:nvPr/>
        </p:nvSpPr>
        <p:spPr>
          <a:xfrm>
            <a:off x="1101600" y="1106280"/>
            <a:ext cx="24501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Git / synchronization</a:t>
            </a:r>
            <a:endParaRPr b="0" lang="en-IN" sz="1600" spc="-1" strike="noStrike">
              <a:solidFill>
                <a:srgbClr val="000000"/>
              </a:solidFill>
              <a:latin typeface="Arial"/>
            </a:endParaRPr>
          </a:p>
        </p:txBody>
      </p:sp>
      <p:sp>
        <p:nvSpPr>
          <p:cNvPr id="618" name="TextBox 9"/>
          <p:cNvSpPr/>
          <p:nvPr/>
        </p:nvSpPr>
        <p:spPr>
          <a:xfrm>
            <a:off x="795600" y="152712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I had to keep GitHub, Azure DevOps and the GitOps state aligned and verify which commit each system was actually using.</a:t>
            </a:r>
            <a:endParaRPr b="0" lang="en-IN" sz="1300" spc="-1" strike="noStrike">
              <a:solidFill>
                <a:srgbClr val="000000"/>
              </a:solidFill>
              <a:latin typeface="Arial"/>
            </a:endParaRPr>
          </a:p>
        </p:txBody>
      </p:sp>
      <p:sp>
        <p:nvSpPr>
          <p:cNvPr id="619" name="Rounded Rectangle 10"/>
          <p:cNvSpPr/>
          <p:nvPr/>
        </p:nvSpPr>
        <p:spPr>
          <a:xfrm>
            <a:off x="4389120" y="9601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20" name="Rectangle 11"/>
          <p:cNvSpPr/>
          <p:nvPr/>
        </p:nvSpPr>
        <p:spPr>
          <a:xfrm>
            <a:off x="4389120" y="960120"/>
            <a:ext cx="72360" cy="1828080"/>
          </a:xfrm>
          <a:prstGeom prst="rect">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21" name="TextBox 12"/>
          <p:cNvSpPr/>
          <p:nvPr/>
        </p:nvSpPr>
        <p:spPr>
          <a:xfrm>
            <a:off x="4901040" y="1106280"/>
            <a:ext cx="244116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Docker / deployment</a:t>
            </a:r>
            <a:endParaRPr b="0" lang="en-IN" sz="1600" spc="-1" strike="noStrike">
              <a:solidFill>
                <a:srgbClr val="000000"/>
              </a:solidFill>
              <a:latin typeface="Arial"/>
            </a:endParaRPr>
          </a:p>
        </p:txBody>
      </p:sp>
      <p:sp>
        <p:nvSpPr>
          <p:cNvPr id="622" name="TextBox 13"/>
          <p:cNvSpPr/>
          <p:nvPr/>
        </p:nvSpPr>
        <p:spPr>
          <a:xfrm>
            <a:off x="4590360" y="1527120"/>
            <a:ext cx="3044160" cy="1279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Container image tags, registry paths and Kubernetes image references must match. A mismatch can make a deployment look correct while running an older image.</a:t>
            </a:r>
            <a:endParaRPr b="0" lang="en-IN" sz="1300" spc="-1" strike="noStrike">
              <a:solidFill>
                <a:srgbClr val="000000"/>
              </a:solidFill>
              <a:latin typeface="Arial"/>
            </a:endParaRPr>
          </a:p>
        </p:txBody>
      </p:sp>
      <p:sp>
        <p:nvSpPr>
          <p:cNvPr id="623" name="Rounded Rectangle 14"/>
          <p:cNvSpPr/>
          <p:nvPr/>
        </p:nvSpPr>
        <p:spPr>
          <a:xfrm>
            <a:off x="8183880" y="960120"/>
            <a:ext cx="3428280" cy="182808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24" name="Rectangle 15"/>
          <p:cNvSpPr/>
          <p:nvPr/>
        </p:nvSpPr>
        <p:spPr>
          <a:xfrm>
            <a:off x="8183880" y="960120"/>
            <a:ext cx="72360" cy="182808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25" name="TextBox 16"/>
          <p:cNvSpPr/>
          <p:nvPr/>
        </p:nvSpPr>
        <p:spPr>
          <a:xfrm>
            <a:off x="8708040" y="1106280"/>
            <a:ext cx="24166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Kubernetes / GitOps</a:t>
            </a:r>
            <a:endParaRPr b="0" lang="en-IN" sz="1600" spc="-1" strike="noStrike">
              <a:solidFill>
                <a:srgbClr val="000000"/>
              </a:solidFill>
              <a:latin typeface="Arial"/>
            </a:endParaRPr>
          </a:p>
        </p:txBody>
      </p:sp>
      <p:sp>
        <p:nvSpPr>
          <p:cNvPr id="626" name="TextBox 17"/>
          <p:cNvSpPr/>
          <p:nvPr/>
        </p:nvSpPr>
        <p:spPr>
          <a:xfrm>
            <a:off x="8385120" y="152712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Troubleshooting requires checking Pods, Services, events, logs and Argo CD state rather than guessing.</a:t>
            </a:r>
            <a:endParaRPr b="0" lang="en-IN" sz="1300" spc="-1" strike="noStrike">
              <a:solidFill>
                <a:srgbClr val="000000"/>
              </a:solidFill>
              <a:latin typeface="Arial"/>
            </a:endParaRPr>
          </a:p>
        </p:txBody>
      </p:sp>
      <p:sp>
        <p:nvSpPr>
          <p:cNvPr id="627" name="TextBox 18"/>
          <p:cNvSpPr/>
          <p:nvPr/>
        </p:nvSpPr>
        <p:spPr>
          <a:xfrm>
            <a:off x="822960" y="3337560"/>
            <a:ext cx="10423440" cy="90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00"/>
              </a:spcAft>
            </a:pPr>
            <a:r>
              <a:rPr b="0" lang="en-US" sz="1600" spc="-1" strike="noStrike">
                <a:solidFill>
                  <a:srgbClr val="2a3340"/>
                </a:solidFill>
                <a:latin typeface="Aptos"/>
              </a:rPr>
              <a:t>• </a:t>
            </a:r>
            <a:r>
              <a:rPr b="0" lang="en-US" sz="1600" spc="-1" strike="noStrike">
                <a:solidFill>
                  <a:srgbClr val="2a3340"/>
                </a:solidFill>
                <a:latin typeface="Aptos"/>
              </a:rPr>
              <a:t>My project contains dedicated troubleshooting documentation for application, Docker, pipeline, security/quality, Kubernetes, Argo CD and Azure issues.</a:t>
            </a:r>
            <a:endParaRPr b="0" lang="en-IN" sz="1600" spc="-1" strike="noStrike">
              <a:solidFill>
                <a:srgbClr val="000000"/>
              </a:solidFill>
              <a:latin typeface="Arial"/>
            </a:endParaRPr>
          </a:p>
          <a:p>
            <a:pPr defTabSz="457200">
              <a:lnSpc>
                <a:spcPct val="100000"/>
              </a:lnSpc>
              <a:spcAft>
                <a:spcPts val="700"/>
              </a:spcAft>
            </a:pPr>
            <a:r>
              <a:rPr b="0" lang="en-US" sz="1600" spc="-1" strike="noStrike">
                <a:solidFill>
                  <a:srgbClr val="2a3340"/>
                </a:solidFill>
                <a:latin typeface="Aptos"/>
              </a:rPr>
              <a:t>• </a:t>
            </a:r>
            <a:r>
              <a:rPr b="0" lang="en-US" sz="1600" spc="-1" strike="noStrike">
                <a:solidFill>
                  <a:srgbClr val="2a3340"/>
                </a:solidFill>
                <a:latin typeface="Aptos"/>
              </a:rPr>
              <a:t>The lesson: verify each layer independently before moving to the next layer.</a:t>
            </a:r>
            <a:endParaRPr b="0" lang="en-IN"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Rectangle 1"/>
          <p:cNvSpPr/>
          <p:nvPr/>
        </p:nvSpPr>
        <p:spPr>
          <a:xfrm>
            <a:off x="0" y="0"/>
            <a:ext cx="12191040" cy="685728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29" name="Rectangle 2"/>
          <p:cNvSpPr/>
          <p:nvPr/>
        </p:nvSpPr>
        <p:spPr>
          <a:xfrm>
            <a:off x="0" y="0"/>
            <a:ext cx="12191040" cy="11808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30" name="TextBox 3"/>
          <p:cNvSpPr/>
          <p:nvPr/>
        </p:nvSpPr>
        <p:spPr>
          <a:xfrm>
            <a:off x="2555280" y="255960"/>
            <a:ext cx="6775560" cy="50148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700" spc="-1" strike="noStrike">
                <a:solidFill>
                  <a:srgbClr val="14223c"/>
                </a:solidFill>
                <a:latin typeface="Aptos Display"/>
              </a:rPr>
              <a:t>19. Final Outcome / What I Learned</a:t>
            </a:r>
            <a:endParaRPr b="0" lang="en-IN" sz="2700" spc="-1" strike="noStrike">
              <a:solidFill>
                <a:srgbClr val="000000"/>
              </a:solidFill>
              <a:latin typeface="Arial"/>
            </a:endParaRPr>
          </a:p>
        </p:txBody>
      </p:sp>
      <p:sp>
        <p:nvSpPr>
          <p:cNvPr id="631" name="TextBox 4"/>
          <p:cNvSpPr/>
          <p:nvPr/>
        </p:nvSpPr>
        <p:spPr>
          <a:xfrm>
            <a:off x="10617480" y="311040"/>
            <a:ext cx="1029960" cy="22716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1" lang="en-US" sz="900" spc="-1" strike="noStrike">
                <a:solidFill>
                  <a:srgbClr val="2c63b0"/>
                </a:solidFill>
                <a:latin typeface="Aptos"/>
              </a:rPr>
              <a:t>CONCLUSION</a:t>
            </a:r>
            <a:endParaRPr b="0" lang="en-IN" sz="900" spc="-1" strike="noStrike">
              <a:solidFill>
                <a:srgbClr val="000000"/>
              </a:solidFill>
              <a:latin typeface="Arial"/>
            </a:endParaRPr>
          </a:p>
        </p:txBody>
      </p:sp>
      <p:sp>
        <p:nvSpPr>
          <p:cNvPr id="632" name="TextBox 5"/>
          <p:cNvSpPr/>
          <p:nvPr/>
        </p:nvSpPr>
        <p:spPr>
          <a:xfrm>
            <a:off x="4801680" y="6510600"/>
            <a:ext cx="2557080" cy="211320"/>
          </a:xfrm>
          <a:prstGeom prst="rect">
            <a:avLst/>
          </a:prstGeom>
          <a:noFill/>
          <a:ln w="0">
            <a:noFill/>
          </a:ln>
        </p:spPr>
        <p:style>
          <a:lnRef idx="0"/>
          <a:fillRef idx="0"/>
          <a:effectRef idx="0"/>
          <a:fontRef idx="minor"/>
        </p:style>
        <p:txBody>
          <a:bodyPr wrap="none" lIns="90000" rIns="90000" tIns="45000" bIns="45000" anchor="t" anchorCtr="1">
            <a:spAutoFit/>
          </a:bodyPr>
          <a:p>
            <a:pPr algn="r" defTabSz="457200">
              <a:lnSpc>
                <a:spcPct val="100000"/>
              </a:lnSpc>
            </a:pPr>
            <a:r>
              <a:rPr b="0" lang="en-US" sz="800" spc="-1" strike="noStrike">
                <a:solidFill>
                  <a:srgbClr val="677180"/>
                </a:solidFill>
                <a:latin typeface="Aptos"/>
              </a:rPr>
              <a:t>FlavorForge Azure DevSecOps Capstone  •  20</a:t>
            </a:r>
            <a:endParaRPr b="0" lang="en-IN" sz="800" spc="-1" strike="noStrike">
              <a:solidFill>
                <a:srgbClr val="000000"/>
              </a:solidFill>
              <a:latin typeface="Arial"/>
            </a:endParaRPr>
          </a:p>
        </p:txBody>
      </p:sp>
      <p:sp>
        <p:nvSpPr>
          <p:cNvPr id="633" name="Rounded Rectangle 6"/>
          <p:cNvSpPr/>
          <p:nvPr/>
        </p:nvSpPr>
        <p:spPr>
          <a:xfrm>
            <a:off x="640080" y="1051560"/>
            <a:ext cx="1263600" cy="776520"/>
          </a:xfrm>
          <a:prstGeom prst="roundRect">
            <a:avLst>
              <a:gd name="adj" fmla="val 16667"/>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34" name="TextBox 7"/>
          <p:cNvSpPr/>
          <p:nvPr/>
        </p:nvSpPr>
        <p:spPr>
          <a:xfrm>
            <a:off x="887040" y="1143000"/>
            <a:ext cx="76932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Source</a:t>
            </a:r>
            <a:endParaRPr b="0" lang="en-IN" sz="1200" spc="-1" strike="noStrike">
              <a:solidFill>
                <a:srgbClr val="000000"/>
              </a:solidFill>
              <a:latin typeface="Arial"/>
            </a:endParaRPr>
          </a:p>
        </p:txBody>
      </p:sp>
      <p:sp>
        <p:nvSpPr>
          <p:cNvPr id="635" name="Chevron 8"/>
          <p:cNvSpPr/>
          <p:nvPr/>
        </p:nvSpPr>
        <p:spPr>
          <a:xfrm>
            <a:off x="1913400" y="131580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36" name="Rounded Rectangle 9"/>
          <p:cNvSpPr/>
          <p:nvPr/>
        </p:nvSpPr>
        <p:spPr>
          <a:xfrm>
            <a:off x="2013840" y="1051560"/>
            <a:ext cx="1263600" cy="776520"/>
          </a:xfrm>
          <a:prstGeom prst="roundRect">
            <a:avLst>
              <a:gd name="adj" fmla="val 16667"/>
            </a:avLst>
          </a:prstGeom>
          <a:solidFill>
            <a:srgbClr val="1f9bb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37" name="TextBox 10"/>
          <p:cNvSpPr/>
          <p:nvPr/>
        </p:nvSpPr>
        <p:spPr>
          <a:xfrm>
            <a:off x="1986120" y="1143000"/>
            <a:ext cx="131976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Automated CI</a:t>
            </a:r>
            <a:endParaRPr b="0" lang="en-IN" sz="1200" spc="-1" strike="noStrike">
              <a:solidFill>
                <a:srgbClr val="000000"/>
              </a:solidFill>
              <a:latin typeface="Arial"/>
            </a:endParaRPr>
          </a:p>
        </p:txBody>
      </p:sp>
      <p:sp>
        <p:nvSpPr>
          <p:cNvPr id="638" name="Chevron 11"/>
          <p:cNvSpPr/>
          <p:nvPr/>
        </p:nvSpPr>
        <p:spPr>
          <a:xfrm>
            <a:off x="3287160" y="131580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39" name="Rounded Rectangle 12"/>
          <p:cNvSpPr/>
          <p:nvPr/>
        </p:nvSpPr>
        <p:spPr>
          <a:xfrm>
            <a:off x="3387960" y="1051560"/>
            <a:ext cx="1263600" cy="776520"/>
          </a:xfrm>
          <a:prstGeom prst="roundRect">
            <a:avLst>
              <a:gd name="adj" fmla="val 16667"/>
            </a:avLst>
          </a:prstGeom>
          <a:solidFill>
            <a:srgbClr val="c1464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40" name="TextBox 13"/>
          <p:cNvSpPr/>
          <p:nvPr/>
        </p:nvSpPr>
        <p:spPr>
          <a:xfrm>
            <a:off x="3582360" y="1143000"/>
            <a:ext cx="8744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Security</a:t>
            </a:r>
            <a:endParaRPr b="0" lang="en-IN" sz="1200" spc="-1" strike="noStrike">
              <a:solidFill>
                <a:srgbClr val="000000"/>
              </a:solidFill>
              <a:latin typeface="Arial"/>
            </a:endParaRPr>
          </a:p>
        </p:txBody>
      </p:sp>
      <p:sp>
        <p:nvSpPr>
          <p:cNvPr id="641" name="Chevron 14"/>
          <p:cNvSpPr/>
          <p:nvPr/>
        </p:nvSpPr>
        <p:spPr>
          <a:xfrm>
            <a:off x="4661280" y="131580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42" name="Rounded Rectangle 15"/>
          <p:cNvSpPr/>
          <p:nvPr/>
        </p:nvSpPr>
        <p:spPr>
          <a:xfrm>
            <a:off x="4761720" y="1051560"/>
            <a:ext cx="1263600" cy="776520"/>
          </a:xfrm>
          <a:prstGeom prst="roundRect">
            <a:avLst>
              <a:gd name="adj" fmla="val 16667"/>
            </a:avLst>
          </a:prstGeom>
          <a:solidFill>
            <a:srgbClr val="de84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43" name="TextBox 16"/>
          <p:cNvSpPr/>
          <p:nvPr/>
        </p:nvSpPr>
        <p:spPr>
          <a:xfrm>
            <a:off x="4847040" y="1143000"/>
            <a:ext cx="109260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Containers</a:t>
            </a:r>
            <a:endParaRPr b="0" lang="en-IN" sz="1200" spc="-1" strike="noStrike">
              <a:solidFill>
                <a:srgbClr val="000000"/>
              </a:solidFill>
              <a:latin typeface="Arial"/>
            </a:endParaRPr>
          </a:p>
        </p:txBody>
      </p:sp>
      <p:sp>
        <p:nvSpPr>
          <p:cNvPr id="644" name="Chevron 17"/>
          <p:cNvSpPr/>
          <p:nvPr/>
        </p:nvSpPr>
        <p:spPr>
          <a:xfrm>
            <a:off x="6035040" y="131580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45" name="Rounded Rectangle 18"/>
          <p:cNvSpPr/>
          <p:nvPr/>
        </p:nvSpPr>
        <p:spPr>
          <a:xfrm>
            <a:off x="6135480" y="1051560"/>
            <a:ext cx="1263600" cy="77652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46" name="TextBox 19"/>
          <p:cNvSpPr/>
          <p:nvPr/>
        </p:nvSpPr>
        <p:spPr>
          <a:xfrm>
            <a:off x="6438960" y="1143000"/>
            <a:ext cx="6566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Cloud</a:t>
            </a:r>
            <a:endParaRPr b="0" lang="en-IN" sz="1200" spc="-1" strike="noStrike">
              <a:solidFill>
                <a:srgbClr val="000000"/>
              </a:solidFill>
              <a:latin typeface="Arial"/>
            </a:endParaRPr>
          </a:p>
        </p:txBody>
      </p:sp>
      <p:sp>
        <p:nvSpPr>
          <p:cNvPr id="647" name="Chevron 20"/>
          <p:cNvSpPr/>
          <p:nvPr/>
        </p:nvSpPr>
        <p:spPr>
          <a:xfrm>
            <a:off x="7408800" y="131580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48" name="Rounded Rectangle 21"/>
          <p:cNvSpPr/>
          <p:nvPr/>
        </p:nvSpPr>
        <p:spPr>
          <a:xfrm>
            <a:off x="7509600" y="1051560"/>
            <a:ext cx="1263600" cy="776520"/>
          </a:xfrm>
          <a:prstGeom prst="roundRect">
            <a:avLst>
              <a:gd name="adj" fmla="val 16667"/>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49" name="TextBox 22"/>
          <p:cNvSpPr/>
          <p:nvPr/>
        </p:nvSpPr>
        <p:spPr>
          <a:xfrm>
            <a:off x="7565040" y="1143000"/>
            <a:ext cx="115200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Kubernetes</a:t>
            </a:r>
            <a:endParaRPr b="0" lang="en-IN" sz="1200" spc="-1" strike="noStrike">
              <a:solidFill>
                <a:srgbClr val="000000"/>
              </a:solidFill>
              <a:latin typeface="Arial"/>
            </a:endParaRPr>
          </a:p>
        </p:txBody>
      </p:sp>
      <p:sp>
        <p:nvSpPr>
          <p:cNvPr id="650" name="Chevron 23"/>
          <p:cNvSpPr/>
          <p:nvPr/>
        </p:nvSpPr>
        <p:spPr>
          <a:xfrm>
            <a:off x="8782920" y="131580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51" name="Rounded Rectangle 24"/>
          <p:cNvSpPr/>
          <p:nvPr/>
        </p:nvSpPr>
        <p:spPr>
          <a:xfrm>
            <a:off x="8883360" y="1051560"/>
            <a:ext cx="1263600" cy="776520"/>
          </a:xfrm>
          <a:prstGeom prst="roundRect">
            <a:avLst>
              <a:gd name="adj" fmla="val 16667"/>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52" name="TextBox 25"/>
          <p:cNvSpPr/>
          <p:nvPr/>
        </p:nvSpPr>
        <p:spPr>
          <a:xfrm>
            <a:off x="9141840" y="1143000"/>
            <a:ext cx="74664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GitOps</a:t>
            </a:r>
            <a:endParaRPr b="0" lang="en-IN" sz="1200" spc="-1" strike="noStrike">
              <a:solidFill>
                <a:srgbClr val="000000"/>
              </a:solidFill>
              <a:latin typeface="Arial"/>
            </a:endParaRPr>
          </a:p>
        </p:txBody>
      </p:sp>
      <p:sp>
        <p:nvSpPr>
          <p:cNvPr id="653" name="Chevron 26"/>
          <p:cNvSpPr/>
          <p:nvPr/>
        </p:nvSpPr>
        <p:spPr>
          <a:xfrm>
            <a:off x="10156680" y="1315800"/>
            <a:ext cx="109080" cy="248040"/>
          </a:xfrm>
          <a:prstGeom prst="chevron">
            <a:avLst>
              <a:gd name="adj" fmla="val 50000"/>
            </a:avLst>
          </a:prstGeom>
          <a:solidFill>
            <a:srgbClr val="dae1e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54" name="Rounded Rectangle 27"/>
          <p:cNvSpPr/>
          <p:nvPr/>
        </p:nvSpPr>
        <p:spPr>
          <a:xfrm>
            <a:off x="10257120" y="1051560"/>
            <a:ext cx="1263600" cy="776520"/>
          </a:xfrm>
          <a:prstGeom prst="roundRect">
            <a:avLst>
              <a:gd name="adj" fmla="val 16667"/>
            </a:avLst>
          </a:prstGeom>
          <a:solidFill>
            <a:srgbClr val="1422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55" name="TextBox 28"/>
          <p:cNvSpPr/>
          <p:nvPr/>
        </p:nvSpPr>
        <p:spPr>
          <a:xfrm>
            <a:off x="10341360" y="1143000"/>
            <a:ext cx="1095480" cy="2725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200" spc="-1" strike="noStrike">
                <a:solidFill>
                  <a:srgbClr val="ffffff"/>
                </a:solidFill>
                <a:latin typeface="Aptos"/>
              </a:rPr>
              <a:t>Operations</a:t>
            </a:r>
            <a:endParaRPr b="0" lang="en-IN" sz="1200" spc="-1" strike="noStrike">
              <a:solidFill>
                <a:srgbClr val="000000"/>
              </a:solidFill>
              <a:latin typeface="Arial"/>
            </a:endParaRPr>
          </a:p>
        </p:txBody>
      </p:sp>
      <p:sp>
        <p:nvSpPr>
          <p:cNvPr id="656" name="Rounded Rectangle 29"/>
          <p:cNvSpPr/>
          <p:nvPr/>
        </p:nvSpPr>
        <p:spPr>
          <a:xfrm>
            <a:off x="640080" y="2514600"/>
            <a:ext cx="3428280" cy="19652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57" name="Rectangle 30"/>
          <p:cNvSpPr/>
          <p:nvPr/>
        </p:nvSpPr>
        <p:spPr>
          <a:xfrm>
            <a:off x="640080" y="2514600"/>
            <a:ext cx="72360" cy="1965240"/>
          </a:xfrm>
          <a:prstGeom prst="rect">
            <a:avLst/>
          </a:prstGeom>
          <a:solidFill>
            <a:srgbClr val="2c915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58" name="TextBox 31"/>
          <p:cNvSpPr/>
          <p:nvPr/>
        </p:nvSpPr>
        <p:spPr>
          <a:xfrm>
            <a:off x="1224360" y="2660760"/>
            <a:ext cx="22964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Technical outcome</a:t>
            </a:r>
            <a:endParaRPr b="0" lang="en-IN" sz="1600" spc="-1" strike="noStrike">
              <a:solidFill>
                <a:srgbClr val="000000"/>
              </a:solidFill>
              <a:latin typeface="Arial"/>
            </a:endParaRPr>
          </a:p>
        </p:txBody>
      </p:sp>
      <p:sp>
        <p:nvSpPr>
          <p:cNvPr id="659" name="TextBox 32"/>
          <p:cNvSpPr/>
          <p:nvPr/>
        </p:nvSpPr>
        <p:spPr>
          <a:xfrm>
            <a:off x="841320" y="3081600"/>
            <a:ext cx="3044160" cy="883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A full-stack application was transformed into a containerized, cloud-native deployment on Azure using AKS and Kubernetes.</a:t>
            </a:r>
            <a:endParaRPr b="0" lang="en-IN" sz="1300" spc="-1" strike="noStrike">
              <a:solidFill>
                <a:srgbClr val="000000"/>
              </a:solidFill>
              <a:latin typeface="Arial"/>
            </a:endParaRPr>
          </a:p>
        </p:txBody>
      </p:sp>
      <p:sp>
        <p:nvSpPr>
          <p:cNvPr id="660" name="Rounded Rectangle 33"/>
          <p:cNvSpPr/>
          <p:nvPr/>
        </p:nvSpPr>
        <p:spPr>
          <a:xfrm>
            <a:off x="4389120" y="2514600"/>
            <a:ext cx="3428280" cy="19652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61" name="Rectangle 34"/>
          <p:cNvSpPr/>
          <p:nvPr/>
        </p:nvSpPr>
        <p:spPr>
          <a:xfrm>
            <a:off x="4389120" y="2514600"/>
            <a:ext cx="72360" cy="1965240"/>
          </a:xfrm>
          <a:prstGeom prst="rect">
            <a:avLst/>
          </a:prstGeom>
          <a:solidFill>
            <a:srgbClr val="7052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62" name="TextBox 35"/>
          <p:cNvSpPr/>
          <p:nvPr/>
        </p:nvSpPr>
        <p:spPr>
          <a:xfrm>
            <a:off x="4884120" y="2660760"/>
            <a:ext cx="247464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DevSecOps outcome</a:t>
            </a:r>
            <a:endParaRPr b="0" lang="en-IN" sz="1600" spc="-1" strike="noStrike">
              <a:solidFill>
                <a:srgbClr val="000000"/>
              </a:solidFill>
              <a:latin typeface="Arial"/>
            </a:endParaRPr>
          </a:p>
        </p:txBody>
      </p:sp>
      <p:sp>
        <p:nvSpPr>
          <p:cNvPr id="663" name="TextBox 36"/>
          <p:cNvSpPr/>
          <p:nvPr/>
        </p:nvSpPr>
        <p:spPr>
          <a:xfrm>
            <a:off x="4590360" y="3081600"/>
            <a:ext cx="304416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Build, test, code-quality and security controls were integrated into the delivery workflow rather than treated as separate manual activities.</a:t>
            </a:r>
            <a:endParaRPr b="0" lang="en-IN" sz="1300" spc="-1" strike="noStrike">
              <a:solidFill>
                <a:srgbClr val="000000"/>
              </a:solidFill>
              <a:latin typeface="Arial"/>
            </a:endParaRPr>
          </a:p>
        </p:txBody>
      </p:sp>
      <p:sp>
        <p:nvSpPr>
          <p:cNvPr id="664" name="Rounded Rectangle 37"/>
          <p:cNvSpPr/>
          <p:nvPr/>
        </p:nvSpPr>
        <p:spPr>
          <a:xfrm>
            <a:off x="8138160" y="2514600"/>
            <a:ext cx="3428280" cy="1965240"/>
          </a:xfrm>
          <a:prstGeom prst="roundRect">
            <a:avLst>
              <a:gd name="adj" fmla="val 16667"/>
            </a:avLst>
          </a:prstGeom>
          <a:solidFill>
            <a:srgbClr val="f4f7fb"/>
          </a:solidFill>
          <a:ln>
            <a:solidFill>
              <a:srgbClr val="dae1e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65" name="Rectangle 38"/>
          <p:cNvSpPr/>
          <p:nvPr/>
        </p:nvSpPr>
        <p:spPr>
          <a:xfrm>
            <a:off x="8138160" y="2514600"/>
            <a:ext cx="72360" cy="1965240"/>
          </a:xfrm>
          <a:prstGeom prst="rect">
            <a:avLst/>
          </a:prstGeom>
          <a:solidFill>
            <a:srgbClr val="2c63b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66" name="TextBox 39"/>
          <p:cNvSpPr/>
          <p:nvPr/>
        </p:nvSpPr>
        <p:spPr>
          <a:xfrm>
            <a:off x="8905320" y="2660760"/>
            <a:ext cx="1930680" cy="3333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600" spc="-1" strike="noStrike">
                <a:solidFill>
                  <a:srgbClr val="14223c"/>
                </a:solidFill>
                <a:latin typeface="Aptos"/>
              </a:rPr>
              <a:t>My key learning</a:t>
            </a:r>
            <a:endParaRPr b="0" lang="en-IN" sz="1600" spc="-1" strike="noStrike">
              <a:solidFill>
                <a:srgbClr val="000000"/>
              </a:solidFill>
              <a:latin typeface="Arial"/>
            </a:endParaRPr>
          </a:p>
        </p:txBody>
      </p:sp>
      <p:sp>
        <p:nvSpPr>
          <p:cNvPr id="667" name="TextBox 40"/>
          <p:cNvSpPr/>
          <p:nvPr/>
        </p:nvSpPr>
        <p:spPr>
          <a:xfrm>
            <a:off x="8339400" y="3081600"/>
            <a:ext cx="3044160" cy="1081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300" spc="-1" strike="noStrike">
                <a:solidFill>
                  <a:srgbClr val="2a3340"/>
                </a:solidFill>
                <a:latin typeface="Aptos"/>
              </a:rPr>
              <a:t>The biggest learning was understanding how the technologies work together and how to verify each layer when something fails.</a:t>
            </a:r>
            <a:endParaRPr b="0" lang="en-IN" sz="1300" spc="-1" strike="noStrike">
              <a:solidFill>
                <a:srgbClr val="000000"/>
              </a:solidFill>
              <a:latin typeface="Arial"/>
            </a:endParaRPr>
          </a:p>
        </p:txBody>
      </p:sp>
      <p:sp>
        <p:nvSpPr>
          <p:cNvPr id="668" name="TextBox 41"/>
          <p:cNvSpPr/>
          <p:nvPr/>
        </p:nvSpPr>
        <p:spPr>
          <a:xfrm>
            <a:off x="5152320" y="4983480"/>
            <a:ext cx="1764360" cy="4248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2200" spc="-1" strike="noStrike">
                <a:solidFill>
                  <a:srgbClr val="14223c"/>
                </a:solidFill>
                <a:latin typeface="Aptos Display"/>
              </a:rPr>
              <a:t>Thank you</a:t>
            </a:r>
            <a:endParaRPr b="0" lang="en-IN"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146</TotalTime>
  <Application>PPT_Plus/1.0.0.0$Windows_X86_64 LibreOffice_project/</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2026-08-14T22:55:34Z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