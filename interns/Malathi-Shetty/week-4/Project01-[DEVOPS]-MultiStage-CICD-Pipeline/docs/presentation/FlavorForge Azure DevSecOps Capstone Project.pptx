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jpeg" ContentType="image/jpeg"/>
  <Override PartName="/ppt/media/image8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9.png" ContentType="image/png"/>
  <Override PartName="/ppt/media/image1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sldRg st="1" end="10"/>
  </p:showPr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C2912D4-193B-4002-8F16-CBAED94098CD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6E046AF-A879-43AE-ACAD-FD5306F07981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9743E4-408C-4D14-A1AB-59583070BF1F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262CA52-D566-48C7-9AF4-332132A2A022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14261B5-4882-4252-8FB4-0BB3A1EA564A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11760" y="1389600"/>
            <a:ext cx="1369800" cy="31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1750320" y="1389600"/>
            <a:ext cx="1369800" cy="31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BAA09A-35B0-4FAB-B093-ABCFADC95168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C8EA9BF-7F25-4A1D-82E2-F8EE233F76F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C9B709D-0C3F-44A7-8568-4C6892065CC2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26676C0-810B-4E10-AE86-EBC0F6B44B93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E7DB2E3-F0F6-46DD-8470-AB7BACA6DA03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8A4C226-10A1-4542-B6DF-B1CA5658CA9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IN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FD7F14C-A96C-405A-8C00-32FFEDF4774C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IN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IN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5B3FFA-1BC4-4FA4-A56E-60BB933E62EF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A4DC9E-0351-48A0-A2C7-7F05C9A0ED3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IN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EFE0D5-CA6A-4768-BEC1-B43D5D5189E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92A7CC-807A-46E2-8730-65A157338534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A5B0FA-B447-405E-BF6C-C476BA0401E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988A06-17EB-4530-AA44-4ADEE0809CD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FB3116-0472-4382-B135-16F8BD83DEC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IN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1E1138-27D6-4495-ABE5-AA8F2E25E76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IN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B16AE3-6CFA-4BC9-AA7D-DB5B73E17E5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11F79D-5F96-4822-BCE8-F3E6D603AA2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00440" y="122040"/>
            <a:ext cx="8920440" cy="490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endParaRPr b="0" lang="en-IN" sz="52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pic>
        <p:nvPicPr>
          <p:cNvPr id="38" name="Google Shape;55;p13" descr=""/>
          <p:cNvPicPr/>
          <p:nvPr/>
        </p:nvPicPr>
        <p:blipFill>
          <a:blip r:embed="rId1"/>
          <a:stretch/>
        </p:blipFill>
        <p:spPr>
          <a:xfrm>
            <a:off x="100440" y="122040"/>
            <a:ext cx="8920440" cy="4908240"/>
          </a:xfrm>
          <a:prstGeom prst="rect">
            <a:avLst/>
          </a:prstGeom>
          <a:ln w="0">
            <a:noFill/>
          </a:ln>
        </p:spPr>
      </p:pic>
      <p:sp>
        <p:nvSpPr>
          <p:cNvPr id="39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2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08D771-3431-4DB1-965A-DD205700D655}" type="slidenum">
              <a:rPr b="0" lang="en" sz="2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280" spc="-1" strike="noStrike">
                <a:solidFill>
                  <a:schemeClr val="dk1"/>
                </a:solidFill>
                <a:latin typeface="Arial"/>
                <a:ea typeface="Arial"/>
              </a:rPr>
              <a:t>About Me </a:t>
            </a:r>
            <a:endParaRPr b="0" lang="en-IN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4572000" y="1152360"/>
            <a:ext cx="4411800" cy="379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" sz="1600" spc="-1" strike="noStrike">
                <a:solidFill>
                  <a:schemeClr val="dk1"/>
                </a:solidFill>
                <a:latin typeface="Arial"/>
                <a:ea typeface="Arial"/>
              </a:rPr>
              <a:t>Professional Background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13+ years of Software Testing experience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Manual, Automation (Selenium) &amp; API Testing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Experience working in Agile development environments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" sz="1600" spc="-1" strike="noStrike">
                <a:solidFill>
                  <a:schemeClr val="dk1"/>
                </a:solidFill>
                <a:latin typeface="Arial"/>
                <a:ea typeface="Arial"/>
              </a:rPr>
              <a:t>DevOps Journey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Transitioning into Cloud &amp; DevOps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Hands-on experience with Azure DevOps, Docker, Kubernetes, Terraform, GitHub Actions &amp; Argo CD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Built the </a:t>
            </a:r>
            <a:r>
              <a:rPr b="1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FlavorForge</a:t>
            </a: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 Azure DevSecOps Capstone Project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IN" sz="176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Google Shape;64;p14" descr=""/>
          <p:cNvPicPr/>
          <p:nvPr/>
        </p:nvPicPr>
        <p:blipFill>
          <a:blip r:embed="rId1"/>
          <a:srcRect l="0" t="7294" r="0" b="7294"/>
          <a:stretch/>
        </p:blipFill>
        <p:spPr>
          <a:xfrm>
            <a:off x="160920" y="1152360"/>
            <a:ext cx="4150440" cy="379800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4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2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FA464D-2D62-4FEE-AFC0-AFDD1F476F39}" type="slidenum">
              <a:rPr b="0" lang="en" sz="2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280" spc="-1" strike="noStrike">
                <a:solidFill>
                  <a:schemeClr val="dk1"/>
                </a:solidFill>
                <a:latin typeface="Arial"/>
                <a:ea typeface="Arial"/>
              </a:rPr>
              <a:t>Project Objective </a:t>
            </a:r>
            <a:endParaRPr b="0" lang="en-IN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5238360" y="154800"/>
            <a:ext cx="3745080" cy="479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Project Objective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• </a:t>
            </a:r>
            <a:r>
              <a:rPr b="0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Design an end-to-end Azure DevSecOps pipeline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• </a:t>
            </a:r>
            <a:r>
              <a:rPr b="0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Automate Build → Test → Push → Deploy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• </a:t>
            </a:r>
            <a:r>
              <a:rPr b="0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Deploy a containerized application to AKS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• </a:t>
            </a:r>
            <a:r>
              <a:rPr b="0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Integrate DevSecOps and GitOps practices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Google Shape;73;p15" descr=""/>
          <p:cNvPicPr/>
          <p:nvPr/>
        </p:nvPicPr>
        <p:blipFill>
          <a:blip r:embed="rId1"/>
          <a:srcRect l="3080" t="0" r="3069" b="0"/>
          <a:stretch/>
        </p:blipFill>
        <p:spPr>
          <a:xfrm>
            <a:off x="187200" y="154800"/>
            <a:ext cx="4945320" cy="4826880"/>
          </a:xfrm>
          <a:prstGeom prst="rect">
            <a:avLst/>
          </a:prstGeom>
          <a:ln w="0">
            <a:noFill/>
          </a:ln>
        </p:spPr>
      </p:pic>
      <p:sp>
        <p:nvSpPr>
          <p:cNvPr id="49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2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35C0C8-7884-44B2-9210-9E2605B4AD0D}" type="slidenum">
              <a:rPr b="0" lang="en" sz="2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280" spc="-1" strike="noStrike">
                <a:solidFill>
                  <a:schemeClr val="dk1"/>
                </a:solidFill>
                <a:latin typeface="Arial"/>
                <a:ea typeface="Arial"/>
              </a:rPr>
              <a:t>Project Objective </a:t>
            </a:r>
            <a:endParaRPr b="0" lang="en-IN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238360" y="154800"/>
            <a:ext cx="3745080" cy="479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Problem Statement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• </a:t>
            </a:r>
            <a:r>
              <a:rPr b="0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Manual deployments are time-consuming and error-prone.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• </a:t>
            </a:r>
            <a:r>
              <a:rPr b="0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Quality and security checks are often inconsistent.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• </a:t>
            </a:r>
            <a:r>
              <a:rPr b="0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Deployments lack repeatability and scalability.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• </a:t>
            </a:r>
            <a:r>
              <a:rPr b="0" lang="en" sz="2000" spc="-1" strike="noStrike">
                <a:solidFill>
                  <a:schemeClr val="dk1"/>
                </a:solidFill>
                <a:latin typeface="Arial"/>
                <a:ea typeface="Arial"/>
              </a:rPr>
              <a:t>Modern applications require automated, secure, and reliable delivery.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Google Shape;82;p16" descr=""/>
          <p:cNvPicPr/>
          <p:nvPr/>
        </p:nvPicPr>
        <p:blipFill>
          <a:blip r:embed="rId1"/>
          <a:srcRect l="3183" t="0" r="3183" b="0"/>
          <a:stretch/>
        </p:blipFill>
        <p:spPr>
          <a:xfrm>
            <a:off x="187200" y="154800"/>
            <a:ext cx="4945320" cy="482688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4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2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38B4AD-42E8-4255-95CC-88161AAACACF}" type="slidenum">
              <a:rPr b="0" lang="en" sz="2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" sz="2900" spc="-1" strike="noStrike">
                <a:solidFill>
                  <a:schemeClr val="dk1"/>
                </a:solidFill>
                <a:latin typeface="Arial"/>
                <a:ea typeface="Arial"/>
              </a:rPr>
              <a:t>Solution Architecture</a:t>
            </a:r>
            <a:endParaRPr b="0" lang="en-IN" sz="29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IN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ubTitle"/>
          </p:nvPr>
        </p:nvSpPr>
        <p:spPr>
          <a:xfrm>
            <a:off x="265680" y="2367720"/>
            <a:ext cx="4044960" cy="123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380880" indent="0" algn="ctr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End-to-End Azure DevSecOps Pipeline for Automated Application Delivery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Google Shape;91;p17" descr=""/>
          <p:cNvPicPr/>
          <p:nvPr/>
        </p:nvPicPr>
        <p:blipFill>
          <a:blip r:embed="rId1"/>
          <a:stretch/>
        </p:blipFill>
        <p:spPr>
          <a:xfrm>
            <a:off x="4384800" y="-15840"/>
            <a:ext cx="4740840" cy="5142960"/>
          </a:xfrm>
          <a:prstGeom prst="rect">
            <a:avLst/>
          </a:prstGeom>
          <a:ln w="0">
            <a:noFill/>
          </a:ln>
        </p:spPr>
      </p:pic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2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E53CE7-E72D-4BFB-9C77-DC23E3C58C43}" type="slidenum">
              <a:rPr b="0" lang="en" sz="2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11760" y="10224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900" spc="-1" strike="noStrike">
                <a:solidFill>
                  <a:schemeClr val="dk1"/>
                </a:solidFill>
                <a:latin typeface="Arial"/>
                <a:ea typeface="Arial"/>
              </a:rPr>
              <a:t>Enterprise Multi-Stage Azure DevOps Pipeline </a:t>
            </a:r>
            <a:endParaRPr b="0" lang="en-IN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640" y="624960"/>
            <a:ext cx="8804880" cy="158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214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Single Git push triggers the complete pipeline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3214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Automated Build, Test, Security Scan &amp; Containerization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3214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Multi-environment deployment: </a:t>
            </a: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Dev → QA → Production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3214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Controlled releases with environment approvals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3214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Docker images published to Azure Container Registry (ACR)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3214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Automated deployment to Azure Kubernetes Service (AKS)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Google Shape;99;p18" descr=""/>
          <p:cNvPicPr/>
          <p:nvPr/>
        </p:nvPicPr>
        <p:blipFill>
          <a:blip r:embed="rId1"/>
          <a:stretch/>
        </p:blipFill>
        <p:spPr>
          <a:xfrm>
            <a:off x="152280" y="2260440"/>
            <a:ext cx="8804880" cy="2808720"/>
          </a:xfrm>
          <a:prstGeom prst="rect">
            <a:avLst/>
          </a:prstGeom>
          <a:ln w="0">
            <a:noFill/>
          </a:ln>
        </p:spPr>
      </p:pic>
      <p:sp>
        <p:nvSpPr>
          <p:cNvPr id="63" name="PlaceHolder 3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2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7B0791-561F-4ADA-AA12-15DD99159007}" type="slidenum">
              <a:rPr b="0" lang="en" sz="2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5040" y="102240"/>
            <a:ext cx="8888760" cy="14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900" spc="-1" strike="noStrike">
                <a:solidFill>
                  <a:schemeClr val="dk1"/>
                </a:solidFill>
                <a:latin typeface="Arial"/>
                <a:ea typeface="Arial"/>
              </a:rPr>
              <a:t>Azure Kubernetes Service (AKS) Deployment </a:t>
            </a:r>
            <a:endParaRPr b="0" lang="en-IN" sz="29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Containerized application deployed to AKS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Frontend and Backend deployed as separate workloads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Services exposed through Ingress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Scalable and highly available deployment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IN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95040" y="1672560"/>
            <a:ext cx="8980920" cy="334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IN" sz="1400" spc="-1" strike="noStrike">
              <a:solidFill>
                <a:schemeClr val="dk2"/>
              </a:solidFill>
              <a:latin typeface="Arial"/>
              <a:ea typeface="Arial"/>
            </a:endParaRPr>
          </a:p>
        </p:txBody>
      </p:sp>
      <p:pic>
        <p:nvPicPr>
          <p:cNvPr id="66" name="Google Shape;107;p19" descr=""/>
          <p:cNvPicPr/>
          <p:nvPr/>
        </p:nvPicPr>
        <p:blipFill>
          <a:blip r:embed="rId1"/>
          <a:stretch/>
        </p:blipFill>
        <p:spPr>
          <a:xfrm>
            <a:off x="45720" y="1682640"/>
            <a:ext cx="9075600" cy="342216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3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2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81EDC0-0457-4D57-94C9-BF69BB630A61}" type="slidenum">
              <a:rPr b="0" lang="en" sz="2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5040" y="102240"/>
            <a:ext cx="88887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900" spc="-1" strike="noStrike">
                <a:solidFill>
                  <a:schemeClr val="dk1"/>
                </a:solidFill>
                <a:latin typeface="Arial"/>
                <a:ea typeface="Arial"/>
              </a:rPr>
              <a:t>Security &amp; GitOps </a:t>
            </a:r>
            <a:endParaRPr b="0" lang="en-IN" sz="29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Code quality validated using SonarCloud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Container images scanned with Trivy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Continuous deployment managed using Argo CD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marL="457200" indent="-3049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Git repository acts as the single source of truth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IN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Google Shape;114;p20" descr=""/>
          <p:cNvPicPr/>
          <p:nvPr/>
        </p:nvPicPr>
        <p:blipFill>
          <a:blip r:embed="rId1"/>
          <a:stretch/>
        </p:blipFill>
        <p:spPr>
          <a:xfrm>
            <a:off x="45720" y="1682640"/>
            <a:ext cx="9079560" cy="3419640"/>
          </a:xfrm>
          <a:prstGeom prst="rect">
            <a:avLst/>
          </a:prstGeom>
          <a:ln w="0">
            <a:noFill/>
          </a:ln>
        </p:spPr>
      </p:pic>
      <p:sp>
        <p:nvSpPr>
          <p:cNvPr id="70" name="PlaceHolder 2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2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F27F77-8588-4D7C-9321-18C93C67F58B}" type="slidenum">
              <a:rPr b="0" lang="en" sz="2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305352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9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IN" sz="2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" sz="2900" spc="-1" strike="noStrike">
                <a:solidFill>
                  <a:schemeClr val="dk1"/>
                </a:solidFill>
                <a:latin typeface="Arial"/>
                <a:ea typeface="Arial"/>
              </a:rPr>
              <a:t>Project Results</a:t>
            </a:r>
            <a:endParaRPr b="0" lang="en-IN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Google Shape;121;p21" descr=""/>
          <p:cNvPicPr/>
          <p:nvPr/>
        </p:nvPicPr>
        <p:blipFill>
          <a:blip r:embed="rId1"/>
          <a:stretch/>
        </p:blipFill>
        <p:spPr>
          <a:xfrm>
            <a:off x="4025160" y="0"/>
            <a:ext cx="5064120" cy="5143320"/>
          </a:xfrm>
          <a:prstGeom prst="rect">
            <a:avLst/>
          </a:prstGeom>
          <a:ln w="0">
            <a:noFill/>
          </a:ln>
        </p:spPr>
      </p:pic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11760" y="1389600"/>
            <a:ext cx="351540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b="0" lang="en" sz="1600" spc="-1" strike="noStrike">
                <a:solidFill>
                  <a:schemeClr val="dk1"/>
                </a:solidFill>
                <a:latin typeface="Arial"/>
                <a:ea typeface="Arial"/>
              </a:rPr>
              <a:t>Successfully deployed on Azure Kubernetes Service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600" spc="-1" strike="noStrike">
                <a:solidFill>
                  <a:schemeClr val="dk1"/>
                </a:solidFill>
                <a:latin typeface="Arial"/>
                <a:ea typeface="Arial"/>
              </a:rPr>
              <a:t>End-to-end Azure DevSecOps pipeline implemented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600" spc="-1" strike="noStrike">
                <a:solidFill>
                  <a:schemeClr val="dk1"/>
                </a:solidFill>
                <a:latin typeface="Arial"/>
                <a:ea typeface="Arial"/>
              </a:rPr>
              <a:t>Enterprise-style Dev → QA → Production release workflow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600" spc="-1" strike="noStrike">
                <a:solidFill>
                  <a:schemeClr val="dk1"/>
                </a:solidFill>
                <a:latin typeface="Arial"/>
                <a:ea typeface="Arial"/>
              </a:rPr>
              <a:t>Integrated DevSecOps, GitOps, and automated security checks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600" spc="-1" strike="noStrike">
                <a:solidFill>
                  <a:schemeClr val="dk1"/>
                </a:solidFill>
                <a:latin typeface="Arial"/>
                <a:ea typeface="Arial"/>
              </a:rPr>
              <a:t>Production-ready cloud-native deployment demonstrated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2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DBBBC4-0439-43AD-8815-150DCB9D5631}" type="slidenum">
              <a:rPr b="0" lang="en" sz="2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128;p22" descr=""/>
          <p:cNvPicPr/>
          <p:nvPr/>
        </p:nvPicPr>
        <p:blipFill>
          <a:blip r:embed="rId1"/>
          <a:stretch/>
        </p:blipFill>
        <p:spPr>
          <a:xfrm>
            <a:off x="3240" y="-23400"/>
            <a:ext cx="9111240" cy="5143320"/>
          </a:xfrm>
          <a:prstGeom prst="rect">
            <a:avLst/>
          </a:prstGeom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2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F9C461-D813-43DB-9B79-8F27A93F7B68}" type="slidenum">
              <a:rPr b="0" lang="en" sz="2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PPT_Plus/1.0.0.0$Windows_X86_64 LibreOffice_project/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2026-08-08T00:33:36Z</dcterms:modified>
  <cp:revision>1</cp:revision>
  <dc:subject/>
  <dc:title/>
</cp:coreProperties>
</file>